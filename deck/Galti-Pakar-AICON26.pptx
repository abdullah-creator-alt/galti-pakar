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Only 2.77 percent of CSS candidates passed the written exam in 2025, and FPSC officials told the Senate that most fail English Essay because their arguments lack logical structure. Feedback today means a tutor or an academy: slow, expensive, mostly in big cities. Galti Pakar reads a photo of a handwritten essay and shows exactly where each mark is lost. On the right is the idea in one picture: every passage is marked, and every mark has a reason. This is a labelled sample, not a real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in the structure the rulebook asks for: problem, input, AI component, output, impact. The input is just phone photos. The AI step is the heart, which the next slide opens up. And the output is what you see here: every highlight opens its reason and how it was found, seven rubric scores, and a before-and-after for every weak paragraph. These are real screenshots of the running app, using the example report, which is labelled as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Six AI steps, and under each one, the code that checks it. One: Gemini vision reads the handwriting and flags the words it is unsure of. Two: embeddings turn the topic, paragraphs and sentences into meaning vectors. Three, in parallel: Gemini labels each sentence's role, our own trained classifier scores how generic each sentence is, and the vectors measure topic drift. Four: two separate examiner runs score seven rubric dimensions, and every quote must exist in the essay or it is dropped. Five is plain code, not a model: it blends measurement and examiner, and lists every disagreement. Six: the coach explains the three most important fixes and rewrites up to three weak paragraphs, but code decides which ones. If any step fails the report says which check was unavailable. It never guesses.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is meaningful AI, not a chatbot on an app. On the left is one highlight traced end to end: the passage, how it was read, labelled, linked to evidence by meaning, which rule turned it amber, and the verification that both passages exist. Teal steps are AI, outlined steps are code. On the right, proof that the AI is checked: two independent examiner runs with disagreements shown; in one test run one of eleven quotes was invented and caught; and a genericness classifier we trained ourselves, on synthetic data, which we say plainly. The AI never sets the band, never picks what to fix, and never invents a figure. Remove the AI and the product is gone: no handwriting reading, no measuring of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This serves SDG 4, quality education, and SDG 10, reduced inequalities, because it works from a phone photo with no academy and no fee. SDG 16 for a fairer path into a merit-based civil service. Every run logs its Gemini calls and tokens, so the cost per essay is measured, not guessed. What we built during AICON'26: the whole pipeline, the interface, and 263 unit tests plus 93 browser tests, none of which call the AI. Pre-existing and disclosed: the design system from an earlier product. And the honest limits: scores are not calibrated against real FPSC marks, our test data is synthetic, there is no separately trained structure model, and the free tier allows few full runs a day. Next step: calibrate against teacher-marked essays. Measure first, judge second, verify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6"/>
        </a:solidFill>
      </p:bgPr>
    </p:bg>
    <p:spTree>
      <p:nvGrpSpPr>
        <p:cNvPr id="1" name=""/>
        <p:cNvGrpSpPr/>
        <p:nvPr/>
      </p:nvGrpSpPr>
      <p:grpSpPr>
        <a:xfrm>
          <a:off x="0" y="0"/>
          <a:ext cx="0" cy="0"/>
          <a:chOff x="0" y="0"/>
          <a:chExt cx="0" cy="0"/>
        </a:xfrm>
      </p:grpSpPr>
      <p:sp>
        <p:nvSpPr>
          <p:cNvPr id="2" name="kicker"/>
          <p:cNvSpPr/>
          <p:nvPr/>
        </p:nvSpPr>
        <p:spPr>
          <a:xfrm>
            <a:off x="640080" y="457200"/>
            <a:ext cx="8229600" cy="274320"/>
          </a:xfrm>
          <a:prstGeom prst="rect">
            <a:avLst/>
          </a:prstGeom>
          <a:noFill/>
          <a:ln/>
        </p:spPr>
        <p:txBody>
          <a:bodyPr wrap="square" lIns="0" tIns="0" rIns="0" bIns="0" rtlCol="0" anchor="t"/>
          <a:lstStyle/>
          <a:p>
            <a:pPr algn="l" indent="0" marL="0">
              <a:buNone/>
            </a:pPr>
            <a:r>
              <a:rPr lang="en-US" sz="1050" b="1" spc="150" kern="0" dirty="0">
                <a:solidFill>
                  <a:srgbClr val="0F766E"/>
                </a:solidFill>
                <a:latin typeface="Consolas" pitchFamily="34" charset="0"/>
                <a:ea typeface="Consolas" pitchFamily="34" charset="-122"/>
                <a:cs typeface="Consolas" pitchFamily="34" charset="-120"/>
              </a:rPr>
              <a:t>AICON'26  ·  BUILD WITH AI  ·  EDTECH &amp; WORKFORCE</a:t>
            </a:r>
            <a:endParaRPr lang="en-US" sz="1050" dirty="0"/>
          </a:p>
        </p:txBody>
      </p:sp>
      <p:sp>
        <p:nvSpPr>
          <p:cNvPr id="3" name="h1a"/>
          <p:cNvSpPr/>
          <p:nvPr/>
        </p:nvSpPr>
        <p:spPr>
          <a:xfrm>
            <a:off x="640080" y="868680"/>
            <a:ext cx="6583680" cy="640080"/>
          </a:xfrm>
          <a:prstGeom prst="rect">
            <a:avLst/>
          </a:prstGeom>
          <a:noFill/>
          <a:ln/>
        </p:spPr>
        <p:txBody>
          <a:bodyPr wrap="square" lIns="0" tIns="0" rIns="0" bIns="0" rtlCol="0" anchor="t"/>
          <a:lstStyle/>
          <a:p>
            <a:pPr algn="l" indent="0" marL="0">
              <a:buNone/>
            </a:pPr>
            <a:r>
              <a:rPr lang="en-US" sz="4200" dirty="0">
                <a:solidFill>
                  <a:srgbClr val="0C1F1C"/>
                </a:solidFill>
                <a:latin typeface="Segoe UI Semibold" pitchFamily="34" charset="0"/>
                <a:ea typeface="Segoe UI Semibold" pitchFamily="34" charset="-122"/>
                <a:cs typeface="Segoe UI Semibold" pitchFamily="34" charset="-120"/>
              </a:rPr>
              <a:t>Find where your essay</a:t>
            </a:r>
            <a:endParaRPr lang="en-US" sz="4200" dirty="0"/>
          </a:p>
        </p:txBody>
      </p:sp>
      <p:sp>
        <p:nvSpPr>
          <p:cNvPr id="4" name="h1b"/>
          <p:cNvSpPr/>
          <p:nvPr/>
        </p:nvSpPr>
        <p:spPr>
          <a:xfrm>
            <a:off x="640080" y="1508760"/>
            <a:ext cx="6583680" cy="640080"/>
          </a:xfrm>
          <a:prstGeom prst="rect">
            <a:avLst/>
          </a:prstGeom>
          <a:noFill/>
          <a:ln/>
        </p:spPr>
        <p:txBody>
          <a:bodyPr wrap="square" lIns="0" tIns="0" rIns="0" bIns="0" rtlCol="0" anchor="t"/>
          <a:lstStyle/>
          <a:p>
            <a:pPr algn="l" indent="0" marL="0">
              <a:buNone/>
            </a:pPr>
            <a:r>
              <a:rPr lang="en-US" sz="4200" dirty="0">
                <a:solidFill>
                  <a:srgbClr val="0C1F1C"/>
                </a:solidFill>
                <a:latin typeface="Segoe UI Semibold" pitchFamily="34" charset="0"/>
                <a:ea typeface="Segoe UI Semibold" pitchFamily="34" charset="-122"/>
                <a:cs typeface="Segoe UI Semibold" pitchFamily="34" charset="-120"/>
              </a:rPr>
              <a:t>loses marks.</a:t>
            </a:r>
            <a:endParaRPr lang="en-US" sz="4200" dirty="0"/>
          </a:p>
        </p:txBody>
      </p:sp>
      <p:sp>
        <p:nvSpPr>
          <p:cNvPr id="5" name="h1c"/>
          <p:cNvSpPr/>
          <p:nvPr/>
        </p:nvSpPr>
        <p:spPr>
          <a:xfrm>
            <a:off x="640080" y="2148840"/>
            <a:ext cx="6583680" cy="640080"/>
          </a:xfrm>
          <a:prstGeom prst="rect">
            <a:avLst/>
          </a:prstGeom>
          <a:noFill/>
          <a:ln/>
        </p:spPr>
        <p:txBody>
          <a:bodyPr wrap="square" lIns="0" tIns="0" rIns="0" bIns="0" rtlCol="0" anchor="t"/>
          <a:lstStyle/>
          <a:p>
            <a:pPr algn="l" indent="0" marL="0">
              <a:buNone/>
            </a:pPr>
            <a:r>
              <a:rPr lang="en-US" sz="4200" dirty="0">
                <a:solidFill>
                  <a:srgbClr val="0F766E"/>
                </a:solidFill>
                <a:latin typeface="Segoe UI Semibold" pitchFamily="34" charset="0"/>
                <a:ea typeface="Segoe UI Semibold" pitchFamily="34" charset="-122"/>
                <a:cs typeface="Segoe UI Semibold" pitchFamily="34" charset="-120"/>
              </a:rPr>
              <a:t>Before the examiner does.</a:t>
            </a:r>
            <a:endParaRPr lang="en-US" sz="4200" dirty="0"/>
          </a:p>
        </p:txBody>
      </p:sp>
      <p:sp>
        <p:nvSpPr>
          <p:cNvPr id="6" name="stat"/>
          <p:cNvSpPr/>
          <p:nvPr/>
        </p:nvSpPr>
        <p:spPr>
          <a:xfrm>
            <a:off x="640080" y="3200400"/>
            <a:ext cx="3017520" cy="1371600"/>
          </a:xfrm>
          <a:prstGeom prst="rect">
            <a:avLst/>
          </a:prstGeom>
          <a:noFill/>
          <a:ln/>
        </p:spPr>
        <p:txBody>
          <a:bodyPr wrap="square" lIns="0" tIns="0" rIns="0" bIns="0" rtlCol="0" anchor="t"/>
          <a:lstStyle/>
          <a:p>
            <a:pPr algn="l" indent="0" marL="0">
              <a:buNone/>
            </a:pPr>
            <a:r>
              <a:rPr lang="en-US" sz="8000" dirty="0">
                <a:solidFill>
                  <a:srgbClr val="0C1F1C"/>
                </a:solidFill>
                <a:latin typeface="Segoe UI Semibold" pitchFamily="34" charset="0"/>
                <a:ea typeface="Segoe UI Semibold" pitchFamily="34" charset="-122"/>
                <a:cs typeface="Segoe UI Semibold" pitchFamily="34" charset="-120"/>
              </a:rPr>
              <a:t>2.77%</a:t>
            </a:r>
            <a:endParaRPr lang="en-US" sz="8000" dirty="0"/>
          </a:p>
        </p:txBody>
      </p:sp>
      <p:sp>
        <p:nvSpPr>
          <p:cNvPr id="7" name="stat-a"/>
          <p:cNvSpPr/>
          <p:nvPr/>
        </p:nvSpPr>
        <p:spPr>
          <a:xfrm>
            <a:off x="3794760" y="3401568"/>
            <a:ext cx="3383280" cy="731520"/>
          </a:xfrm>
          <a:prstGeom prst="rect">
            <a:avLst/>
          </a:prstGeom>
          <a:noFill/>
          <a:ln/>
        </p:spPr>
        <p:txBody>
          <a:bodyPr wrap="square" lIns="0" tIns="0" rIns="0" bIns="0" rtlCol="0" anchor="t"/>
          <a:lstStyle/>
          <a:p>
            <a:pPr algn="l" indent="0" marL="0">
              <a:buNone/>
            </a:pPr>
            <a:r>
              <a:rPr lang="en-US" sz="1600" dirty="0">
                <a:solidFill>
                  <a:srgbClr val="0C1F1C"/>
                </a:solidFill>
                <a:latin typeface="Segoe UI" pitchFamily="34" charset="0"/>
                <a:ea typeface="Segoe UI" pitchFamily="34" charset="-122"/>
                <a:cs typeface="Segoe UI" pitchFamily="34" charset="-120"/>
              </a:rPr>
              <a:t>of 12,792 candidates passed the CSS 2025 written exam.</a:t>
            </a:r>
            <a:endParaRPr lang="en-US" sz="1600" dirty="0"/>
          </a:p>
        </p:txBody>
      </p:sp>
      <p:sp>
        <p:nvSpPr>
          <p:cNvPr id="8" name="stat-b"/>
          <p:cNvSpPr/>
          <p:nvPr/>
        </p:nvSpPr>
        <p:spPr>
          <a:xfrm>
            <a:off x="3794760" y="4114800"/>
            <a:ext cx="3383280" cy="868680"/>
          </a:xfrm>
          <a:prstGeom prst="rect">
            <a:avLst/>
          </a:prstGeom>
          <a:noFill/>
          <a:ln/>
        </p:spPr>
        <p:txBody>
          <a:bodyPr wrap="square" lIns="0" tIns="0" rIns="0" bIns="0" rtlCol="0" anchor="t"/>
          <a:lstStyle/>
          <a:p>
            <a:pPr algn="l" indent="0" marL="0">
              <a:buNone/>
            </a:pPr>
            <a:r>
              <a:rPr lang="en-US" sz="1250" dirty="0">
                <a:solidFill>
                  <a:srgbClr val="586C68"/>
                </a:solidFill>
                <a:latin typeface="Segoe UI" pitchFamily="34" charset="0"/>
                <a:ea typeface="Segoe UI" pitchFamily="34" charset="-122"/>
                <a:cs typeface="Segoe UI" pitchFamily="34" charset="-120"/>
              </a:rPr>
              <a:t>FPSC to the Senate: most fail English Essay. Arguments lack logical structure.</a:t>
            </a:r>
            <a:endParaRPr lang="en-US" sz="1250" dirty="0"/>
          </a:p>
        </p:txBody>
      </p:sp>
      <p:sp>
        <p:nvSpPr>
          <p:cNvPr id="9" name="stat-src"/>
          <p:cNvSpPr/>
          <p:nvPr/>
        </p:nvSpPr>
        <p:spPr>
          <a:xfrm>
            <a:off x="640080" y="5074920"/>
            <a:ext cx="6583680" cy="274320"/>
          </a:xfrm>
          <a:prstGeom prst="rect">
            <a:avLst/>
          </a:prstGeom>
          <a:noFill/>
          <a:ln/>
        </p:spPr>
        <p:txBody>
          <a:bodyPr wrap="square" lIns="0" tIns="0" rIns="0" bIns="0" rtlCol="0" anchor="t"/>
          <a:lstStyle/>
          <a:p>
            <a:pPr algn="l" indent="0" marL="0">
              <a:buNone/>
            </a:pPr>
            <a:r>
              <a:rPr lang="en-US" sz="900" dirty="0">
                <a:solidFill>
                  <a:srgbClr val="8DA09C"/>
                </a:solidFill>
                <a:latin typeface="Segoe UI" pitchFamily="34" charset="0"/>
                <a:ea typeface="Segoe UI" pitchFamily="34" charset="-122"/>
                <a:cs typeface="Segoe UI" pitchFamily="34" charset="-120"/>
              </a:rPr>
              <a:t>Sources: Daily Pakistan, 22 Aug 2025 (results). ProPakistani, 5 Jun 2025 (FPSC to the Senate).</a:t>
            </a:r>
            <a:endParaRPr lang="en-US" sz="900" dirty="0"/>
          </a:p>
        </p:txBody>
      </p:sp>
      <p:sp>
        <p:nvSpPr>
          <p:cNvPr id="10" name="pitch"/>
          <p:cNvSpPr/>
          <p:nvPr/>
        </p:nvSpPr>
        <p:spPr>
          <a:xfrm>
            <a:off x="640080" y="5532120"/>
            <a:ext cx="6629400" cy="566928"/>
          </a:xfrm>
          <a:prstGeom prst="roundRect">
            <a:avLst>
              <a:gd name="adj" fmla="val 50000"/>
            </a:avLst>
          </a:prstGeom>
          <a:solidFill>
            <a:srgbClr val="0F766E"/>
          </a:solidFill>
          <a:ln/>
        </p:spPr>
        <p:txBody>
          <a:bodyPr wrap="square" lIns="228600" tIns="228600" rIns="228600" bIns="228600" rtlCol="0" anchor="ctr"/>
          <a:lstStyle/>
          <a:p>
            <a:pPr indent="0" marL="0">
              <a:buNone/>
            </a:pPr>
            <a:r>
              <a:rPr lang="en-US" sz="1500" dirty="0">
                <a:solidFill>
                  <a:srgbClr val="FFFFFF"/>
                </a:solidFill>
                <a:latin typeface="Segoe UI Semibold" pitchFamily="34" charset="0"/>
                <a:ea typeface="Segoe UI Semibold" pitchFamily="34" charset="-122"/>
                <a:cs typeface="Segoe UI Semibold" pitchFamily="34" charset="-120"/>
              </a:rPr>
              <a:t>Photograph a handwritten essay. Get every mark explained.</a:t>
            </a:r>
            <a:endParaRPr lang="en-US" sz="1500" dirty="0"/>
          </a:p>
        </p:txBody>
      </p:sp>
      <p:sp>
        <p:nvSpPr>
          <p:cNvPr id="11" name="paper"/>
          <p:cNvSpPr/>
          <p:nvPr/>
        </p:nvSpPr>
        <p:spPr>
          <a:xfrm>
            <a:off x="7543800" y="777240"/>
            <a:ext cx="4069080" cy="3520440"/>
          </a:xfrm>
          <a:prstGeom prst="roundRect">
            <a:avLst>
              <a:gd name="adj" fmla="val 3636"/>
            </a:avLst>
          </a:prstGeom>
          <a:solidFill>
            <a:srgbClr val="FFFFFF"/>
          </a:solidFill>
          <a:ln w="12700">
            <a:solidFill>
              <a:srgbClr val="D3E0DC"/>
            </a:solidFill>
          </a:ln>
          <a:effectLst>
            <a:outerShdw sx="100000" sy="100000" kx="0" ky="0" algn="bl" rotWithShape="0" blurRad="152400" dist="38100" dir="5400000">
              <a:srgbClr val="0C1F1C">
                <a:alpha val="12000"/>
              </a:srgbClr>
            </a:outerShdw>
          </a:effectLst>
        </p:spPr>
        <p:txBody>
          <a:bodyPr wrap="square" lIns="0" tIns="0" rIns="0" bIns="0" rtlCol="0" anchor="ctr"/>
          <a:lstStyle/>
          <a:p>
            <a:pPr indent="0" marL="0">
              <a:buNone/>
            </a:pPr>
            <a:endParaRPr lang="en-US" sz="1200" dirty="0"/>
          </a:p>
        </p:txBody>
      </p:sp>
      <p:sp>
        <p:nvSpPr>
          <p:cNvPr id="12" name="paper-label"/>
          <p:cNvSpPr/>
          <p:nvPr/>
        </p:nvSpPr>
        <p:spPr>
          <a:xfrm>
            <a:off x="7818120" y="960120"/>
            <a:ext cx="3657600" cy="274320"/>
          </a:xfrm>
          <a:prstGeom prst="rect">
            <a:avLst/>
          </a:prstGeom>
          <a:noFill/>
          <a:ln/>
        </p:spPr>
        <p:txBody>
          <a:bodyPr wrap="square" lIns="0" tIns="0" rIns="0" bIns="0" rtlCol="0" anchor="t"/>
          <a:lstStyle/>
          <a:p>
            <a:pPr algn="l" indent="0" marL="0">
              <a:buNone/>
            </a:pPr>
            <a:r>
              <a:rPr lang="en-US" sz="1050" b="1" spc="150" kern="0" dirty="0">
                <a:solidFill>
                  <a:srgbClr val="8DA09C"/>
                </a:solidFill>
                <a:latin typeface="Consolas" pitchFamily="34" charset="0"/>
                <a:ea typeface="Consolas" pitchFamily="34" charset="-122"/>
                <a:cs typeface="Consolas" pitchFamily="34" charset="-120"/>
              </a:rPr>
              <a:t>SAMPLE PASSAGE  ·  NOT A REAL ANALYSIS</a:t>
            </a:r>
            <a:endParaRPr lang="en-US" sz="1050" dirty="0"/>
          </a:p>
        </p:txBody>
      </p:sp>
      <p:sp>
        <p:nvSpPr>
          <p:cNvPr id="13" name="p-s1"/>
          <p:cNvSpPr/>
          <p:nvPr/>
        </p:nvSpPr>
        <p:spPr>
          <a:xfrm>
            <a:off x="7818120" y="1371600"/>
            <a:ext cx="3520440" cy="640080"/>
          </a:xfrm>
          <a:prstGeom prst="rect">
            <a:avLst/>
          </a:prstGeom>
          <a:noFill/>
          <a:ln/>
        </p:spPr>
        <p:txBody>
          <a:bodyPr wrap="square" lIns="0" tIns="0" rIns="0" bIns="0" rtlCol="0" anchor="t"/>
          <a:lstStyle/>
          <a:p>
            <a:pPr algn="l" indent="0" marL="0">
              <a:buNone/>
            </a:pPr>
            <a:r>
              <a:rPr lang="en-US" sz="1500" u="dash" dirty="0">
                <a:solidFill>
                  <a:srgbClr val="0C1F1C"/>
                </a:solidFill>
                <a:highlight>
                  <a:srgbClr val="FBEFC9"/>
                </a:highlight>
                <a:uFill>
                  <a:solidFill>
                    <a:srgbClr val="D9930A"/>
                  </a:solidFill>
                </a:uFill>
                <a:latin typeface="Segoe UI" pitchFamily="34" charset="0"/>
                <a:ea typeface="Segoe UI" pitchFamily="34" charset="-122"/>
                <a:cs typeface="Segoe UI" pitchFamily="34" charset="-120"/>
              </a:rPr>
              <a:t>Pakistan faces many problems, and water is one of them.</a:t>
            </a:r>
            <a:endParaRPr lang="en-US" sz="1500" dirty="0"/>
          </a:p>
        </p:txBody>
      </p:sp>
      <p:sp>
        <p:nvSpPr>
          <p:cNvPr id="14" name="p-s2"/>
          <p:cNvSpPr/>
          <p:nvPr/>
        </p:nvSpPr>
        <p:spPr>
          <a:xfrm>
            <a:off x="7818120" y="2103120"/>
            <a:ext cx="3520440" cy="1005840"/>
          </a:xfrm>
          <a:prstGeom prst="rect">
            <a:avLst/>
          </a:prstGeom>
          <a:noFill/>
          <a:ln/>
        </p:spPr>
        <p:txBody>
          <a:bodyPr wrap="square" lIns="0" tIns="0" rIns="0" bIns="0" rtlCol="0" anchor="t"/>
          <a:lstStyle/>
          <a:p>
            <a:pPr algn="l" indent="0" marL="0">
              <a:buNone/>
            </a:pPr>
            <a:r>
              <a:rPr lang="en-US" sz="1500" u="sng" dirty="0">
                <a:solidFill>
                  <a:srgbClr val="0C1F1C"/>
                </a:solidFill>
                <a:highlight>
                  <a:srgbClr val="DDF3E6"/>
                </a:highlight>
                <a:uFill>
                  <a:solidFill>
                    <a:srgbClr val="1F8A55"/>
                  </a:solidFill>
                </a:uFill>
                <a:latin typeface="Segoe UI" pitchFamily="34" charset="0"/>
                <a:ea typeface="Segoe UI" pitchFamily="34" charset="-122"/>
                <a:cs typeface="Segoe UI" pitchFamily="34" charset="-120"/>
              </a:rPr>
              <a:t>The Indus Basin Irrigation System loses roughly a third of its water before it reaches a field.</a:t>
            </a:r>
            <a:endParaRPr lang="en-US" sz="1500" dirty="0"/>
          </a:p>
        </p:txBody>
      </p:sp>
      <p:sp>
        <p:nvSpPr>
          <p:cNvPr id="15" name="p-s3"/>
          <p:cNvSpPr/>
          <p:nvPr/>
        </p:nvSpPr>
        <p:spPr>
          <a:xfrm>
            <a:off x="7818120" y="3246120"/>
            <a:ext cx="3520440" cy="640080"/>
          </a:xfrm>
          <a:prstGeom prst="rect">
            <a:avLst/>
          </a:prstGeom>
          <a:noFill/>
          <a:ln/>
        </p:spPr>
        <p:txBody>
          <a:bodyPr wrap="square" lIns="0" tIns="0" rIns="0" bIns="0" rtlCol="0" anchor="t"/>
          <a:lstStyle/>
          <a:p>
            <a:pPr algn="l" indent="0" marL="0">
              <a:buNone/>
            </a:pPr>
            <a:r>
              <a:rPr lang="en-US" sz="1500" u="wavy" dirty="0">
                <a:solidFill>
                  <a:srgbClr val="0C1F1C"/>
                </a:solidFill>
                <a:highlight>
                  <a:srgbClr val="FADDDD"/>
                </a:highlight>
                <a:uFill>
                  <a:solidFill>
                    <a:srgbClr val="D14343"/>
                  </a:solidFill>
                </a:uFill>
                <a:latin typeface="Segoe UI" pitchFamily="34" charset="0"/>
                <a:ea typeface="Segoe UI" pitchFamily="34" charset="-122"/>
                <a:cs typeface="Segoe UI" pitchFamily="34" charset="-120"/>
              </a:rPr>
              <a:t>Everybody knows something must be done.</a:t>
            </a:r>
            <a:endParaRPr lang="en-US" sz="1500" dirty="0"/>
          </a:p>
        </p:txBody>
      </p:sp>
      <p:sp>
        <p:nvSpPr>
          <p:cNvPr id="16" name="callout"/>
          <p:cNvSpPr/>
          <p:nvPr/>
        </p:nvSpPr>
        <p:spPr>
          <a:xfrm>
            <a:off x="7818120" y="4526280"/>
            <a:ext cx="3794760" cy="868680"/>
          </a:xfrm>
          <a:prstGeom prst="roundRect">
            <a:avLst>
              <a:gd name="adj" fmla="val 10526"/>
            </a:avLst>
          </a:prstGeom>
          <a:solidFill>
            <a:srgbClr val="FFFFFF"/>
          </a:solidFill>
          <a:ln w="15875">
            <a:solidFill>
              <a:srgbClr val="D14343"/>
            </a:solidFill>
          </a:ln>
          <a:effectLst>
            <a:outerShdw sx="100000" sy="100000" kx="0" ky="0" algn="bl" rotWithShape="0" blurRad="152400" dist="38100" dir="5400000">
              <a:srgbClr val="0C1F1C">
                <a:alpha val="12000"/>
              </a:srgbClr>
            </a:outerShdw>
          </a:effectLst>
        </p:spPr>
        <p:txBody>
          <a:bodyPr wrap="square" lIns="139700" tIns="139700" rIns="139700" bIns="139700" rtlCol="0" anchor="ctr"/>
          <a:lstStyle/>
          <a:p>
            <a:pPr indent="0" marL="0">
              <a:buNone/>
            </a:pPr>
            <a:r>
              <a:rPr lang="en-US" sz="950" b="1" spc="120" kern="0" dirty="0">
                <a:solidFill>
                  <a:srgbClr val="8F1F1F"/>
                </a:solidFill>
                <a:latin typeface="Consolas" pitchFamily="34" charset="0"/>
                <a:ea typeface="Consolas" pitchFamily="34" charset="-122"/>
                <a:cs typeface="Consolas" pitchFamily="34" charset="-120"/>
              </a:rPr>
              <a:t>OFF-TOPIC OR UNSUPPORTED</a:t>
            </a:r>
            <a:endParaRPr lang="en-US" sz="950" dirty="0"/>
          </a:p>
          <a:p>
            <a:pPr indent="0" marL="0">
              <a:buNone/>
            </a:pPr>
            <a:r>
              <a:rPr lang="en-US" sz="1150" dirty="0">
                <a:solidFill>
                  <a:srgbClr val="586C68"/>
                </a:solidFill>
                <a:latin typeface="Segoe UI" pitchFamily="34" charset="0"/>
                <a:ea typeface="Segoe UI" pitchFamily="34" charset="-122"/>
                <a:cs typeface="Segoe UI" pitchFamily="34" charset="-120"/>
              </a:rPr>
              <a:t>A claim with no sentence that backs it up. Tap any mark to see why.</a:t>
            </a:r>
            <a:endParaRPr lang="en-US" sz="950" dirty="0"/>
          </a:p>
        </p:txBody>
      </p:sp>
      <p:sp>
        <p:nvSpPr>
          <p:cNvPr id="17" name="leg1"/>
          <p:cNvSpPr/>
          <p:nvPr/>
        </p:nvSpPr>
        <p:spPr>
          <a:xfrm>
            <a:off x="7543800" y="5577840"/>
            <a:ext cx="914400" cy="274320"/>
          </a:xfrm>
          <a:prstGeom prst="rect">
            <a:avLst/>
          </a:prstGeom>
          <a:noFill/>
          <a:ln/>
        </p:spPr>
        <p:txBody>
          <a:bodyPr wrap="square" lIns="0" tIns="0" rIns="0" bIns="0" rtlCol="0" anchor="t"/>
          <a:lstStyle/>
          <a:p>
            <a:pPr algn="l" indent="0" marL="0">
              <a:buNone/>
            </a:pPr>
            <a:r>
              <a:rPr lang="en-US" sz="1100" u="sng" dirty="0">
                <a:solidFill>
                  <a:srgbClr val="0C1F1C"/>
                </a:solidFill>
                <a:highlight>
                  <a:srgbClr val="DDF3E6"/>
                </a:highlight>
                <a:uFill>
                  <a:solidFill>
                    <a:srgbClr val="1F8A55"/>
                  </a:solidFill>
                </a:uFill>
                <a:latin typeface="Segoe UI" pitchFamily="34" charset="0"/>
                <a:ea typeface="Segoe UI" pitchFamily="34" charset="-122"/>
                <a:cs typeface="Segoe UI" pitchFamily="34" charset="-120"/>
              </a:rPr>
              <a:t>Strong</a:t>
            </a:r>
            <a:endParaRPr lang="en-US" sz="1100" dirty="0"/>
          </a:p>
        </p:txBody>
      </p:sp>
      <p:sp>
        <p:nvSpPr>
          <p:cNvPr id="18" name="leg2"/>
          <p:cNvSpPr/>
          <p:nvPr/>
        </p:nvSpPr>
        <p:spPr>
          <a:xfrm>
            <a:off x="8503920" y="5577840"/>
            <a:ext cx="1463040" cy="274320"/>
          </a:xfrm>
          <a:prstGeom prst="rect">
            <a:avLst/>
          </a:prstGeom>
          <a:noFill/>
          <a:ln/>
        </p:spPr>
        <p:txBody>
          <a:bodyPr wrap="square" lIns="0" tIns="0" rIns="0" bIns="0" rtlCol="0" anchor="t"/>
          <a:lstStyle/>
          <a:p>
            <a:pPr algn="l" indent="0" marL="0">
              <a:buNone/>
            </a:pPr>
            <a:r>
              <a:rPr lang="en-US" sz="1100" u="dash" dirty="0">
                <a:solidFill>
                  <a:srgbClr val="0C1F1C"/>
                </a:solidFill>
                <a:highlight>
                  <a:srgbClr val="FBEFC9"/>
                </a:highlight>
                <a:uFill>
                  <a:solidFill>
                    <a:srgbClr val="D9930A"/>
                  </a:solidFill>
                </a:uFill>
                <a:latin typeface="Segoe UI" pitchFamily="34" charset="0"/>
                <a:ea typeface="Segoe UI" pitchFamily="34" charset="-122"/>
                <a:cs typeface="Segoe UI" pitchFamily="34" charset="-120"/>
              </a:rPr>
              <a:t>Weak or generic</a:t>
            </a:r>
            <a:endParaRPr lang="en-US" sz="1100" dirty="0"/>
          </a:p>
        </p:txBody>
      </p:sp>
      <p:sp>
        <p:nvSpPr>
          <p:cNvPr id="19" name="leg3"/>
          <p:cNvSpPr/>
          <p:nvPr/>
        </p:nvSpPr>
        <p:spPr>
          <a:xfrm>
            <a:off x="10058400" y="5577840"/>
            <a:ext cx="1737360" cy="274320"/>
          </a:xfrm>
          <a:prstGeom prst="rect">
            <a:avLst/>
          </a:prstGeom>
          <a:noFill/>
          <a:ln/>
        </p:spPr>
        <p:txBody>
          <a:bodyPr wrap="square" lIns="0" tIns="0" rIns="0" bIns="0" rtlCol="0" anchor="t"/>
          <a:lstStyle/>
          <a:p>
            <a:pPr algn="l" indent="0" marL="0">
              <a:buNone/>
            </a:pPr>
            <a:r>
              <a:rPr lang="en-US" sz="1100" u="wavy" dirty="0">
                <a:solidFill>
                  <a:srgbClr val="0C1F1C"/>
                </a:solidFill>
                <a:highlight>
                  <a:srgbClr val="FADDDD"/>
                </a:highlight>
                <a:uFill>
                  <a:solidFill>
                    <a:srgbClr val="D14343"/>
                  </a:solidFill>
                </a:uFill>
                <a:latin typeface="Segoe UI" pitchFamily="34" charset="0"/>
                <a:ea typeface="Segoe UI" pitchFamily="34" charset="-122"/>
                <a:cs typeface="Segoe UI" pitchFamily="34" charset="-120"/>
              </a:rPr>
              <a:t>Off-topic</a:t>
            </a:r>
            <a:endParaRPr lang="en-US" sz="1100" dirty="0"/>
          </a:p>
        </p:txBody>
      </p:sp>
      <p:sp>
        <p:nvSpPr>
          <p:cNvPr id="20" name="foot-rule"/>
          <p:cNvSpPr/>
          <p:nvPr/>
        </p:nvSpPr>
        <p:spPr>
          <a:xfrm>
            <a:off x="640080" y="6400800"/>
            <a:ext cx="10911535" cy="0"/>
          </a:xfrm>
          <a:prstGeom prst="line">
            <a:avLst/>
          </a:prstGeom>
          <a:noFill/>
          <a:ln w="9525">
            <a:solidFill>
              <a:srgbClr val="D3E0DC"/>
            </a:solidFill>
            <a:prstDash val="solid"/>
          </a:ln>
        </p:spPr>
      </p:sp>
      <p:sp>
        <p:nvSpPr>
          <p:cNvPr id="21" name="foot-l"/>
          <p:cNvSpPr/>
          <p:nvPr/>
        </p:nvSpPr>
        <p:spPr>
          <a:xfrm>
            <a:off x="640080" y="6473952"/>
            <a:ext cx="7315200" cy="228600"/>
          </a:xfrm>
          <a:prstGeom prst="rect">
            <a:avLst/>
          </a:prstGeom>
          <a:noFill/>
          <a:ln/>
        </p:spPr>
        <p:txBody>
          <a:bodyPr wrap="square" lIns="0" tIns="0" rIns="0" bIns="0" rtlCol="0" anchor="t"/>
          <a:lstStyle/>
          <a:p>
            <a:pPr algn="l" indent="0" marL="0">
              <a:buNone/>
            </a:pPr>
            <a:r>
              <a:rPr lang="en-US" sz="850" spc="100" kern="0" dirty="0">
                <a:solidFill>
                  <a:srgbClr val="8DA09C"/>
                </a:solidFill>
                <a:latin typeface="Consolas" pitchFamily="34" charset="0"/>
                <a:ea typeface="Consolas" pitchFamily="34" charset="-122"/>
                <a:cs typeface="Consolas" pitchFamily="34" charset="-120"/>
              </a:rPr>
              <a:t>GALTI PAKAR  ·  github.com/Abdullah-creator-alt/galti-pakar</a:t>
            </a:r>
            <a:endParaRPr lang="en-US" sz="850" dirty="0"/>
          </a:p>
        </p:txBody>
      </p:sp>
      <p:sp>
        <p:nvSpPr>
          <p:cNvPr id="22" name="foot-r"/>
          <p:cNvSpPr/>
          <p:nvPr/>
        </p:nvSpPr>
        <p:spPr>
          <a:xfrm>
            <a:off x="9722815" y="6473952"/>
            <a:ext cx="1828800" cy="228600"/>
          </a:xfrm>
          <a:prstGeom prst="rect">
            <a:avLst/>
          </a:prstGeom>
          <a:noFill/>
          <a:ln/>
        </p:spPr>
        <p:txBody>
          <a:bodyPr wrap="square" lIns="0" tIns="0" rIns="0" bIns="0" rtlCol="0" anchor="t"/>
          <a:lstStyle/>
          <a:p>
            <a:pPr algn="r" indent="0" marL="0">
              <a:buNone/>
            </a:pPr>
            <a:r>
              <a:rPr lang="en-US" sz="850" spc="100" kern="0" dirty="0">
                <a:solidFill>
                  <a:srgbClr val="8DA09C"/>
                </a:solidFill>
                <a:latin typeface="Consolas" pitchFamily="34" charset="0"/>
                <a:ea typeface="Consolas" pitchFamily="34" charset="-122"/>
                <a:cs typeface="Consolas" pitchFamily="34" charset="-120"/>
              </a:rPr>
              <a:t>1 / 5</a:t>
            </a:r>
            <a:endParaRPr lang="en-US" sz="85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nodeType="withEffect">
                                  <p:stCondLst>
                                    <p:cond delay="200"/>
                                  </p:stCondLst>
                                  <p:childTnLst>
                                    <p:set>
                                      <p:cBhvr>
                                        <p:cTn id="9" dur="1" fill="hold">
                                          <p:stCondLst>
                                            <p:cond delay="0"/>
                                          </p:stCondLst>
                                        </p:cTn>
                                        <p:tgtEl>
                                          <p:spTgt spid="3"/>
                                        </p:tgtEl>
                                        <p:attrNameLst>
                                          <p:attrName>style.visibility</p:attrName>
                                        </p:attrNameLst>
                                      </p:cBhvr>
                                      <p:to>
                                        <p:strVal val="visible"/>
                                      </p:to>
                                    </p:set>
                                    <p:anim calcmode="lin" valueType="num">
                                      <p:cBhvr>
                                        <p:cTn id="10" dur="600" fill="hold"/>
                                        <p:tgtEl>
                                          <p:spTgt spid="3"/>
                                        </p:tgtEl>
                                        <p:attrNameLst>
                                          <p:attrName>ppt_y</p:attrName>
                                        </p:attrNameLst>
                                      </p:cBhvr>
                                      <p:tavLst>
                                        <p:tav tm="0">
                                          <p:val>
                                            <p:strVal val="#ppt_y+.06"/>
                                          </p:val>
                                        </p:tav>
                                        <p:tav tm="100000">
                                          <p:val>
                                            <p:strVal val="#ppt_y"/>
                                          </p:val>
                                        </p:tav>
                                      </p:tavLst>
                                    </p:anim>
                                    <p:animEffect transition="in" filter="fade">
                                      <p:cBhvr>
                                        <p:cTn id="11" dur="600"/>
                                        <p:tgtEl>
                                          <p:spTgt spid="3"/>
                                        </p:tgtEl>
                                      </p:cBhvr>
                                    </p:animEffect>
                                  </p:childTnLst>
                                </p:cTn>
                              </p:par>
                              <p:par>
                                <p:cTn id="12" presetID="42" presetClass="entr" presetSubtype="0" fill="hold" nodeType="withEffect">
                                  <p:stCondLst>
                                    <p:cond delay="380"/>
                                  </p:stCondLst>
                                  <p:childTnLst>
                                    <p:set>
                                      <p:cBhvr>
                                        <p:cTn id="13" dur="1" fill="hold">
                                          <p:stCondLst>
                                            <p:cond delay="0"/>
                                          </p:stCondLst>
                                        </p:cTn>
                                        <p:tgtEl>
                                          <p:spTgt spid="4"/>
                                        </p:tgtEl>
                                        <p:attrNameLst>
                                          <p:attrName>style.visibility</p:attrName>
                                        </p:attrNameLst>
                                      </p:cBhvr>
                                      <p:to>
                                        <p:strVal val="visible"/>
                                      </p:to>
                                    </p:set>
                                    <p:anim calcmode="lin" valueType="num">
                                      <p:cBhvr>
                                        <p:cTn id="14" dur="600" fill="hold"/>
                                        <p:tgtEl>
                                          <p:spTgt spid="4"/>
                                        </p:tgtEl>
                                        <p:attrNameLst>
                                          <p:attrName>ppt_y</p:attrName>
                                        </p:attrNameLst>
                                      </p:cBhvr>
                                      <p:tavLst>
                                        <p:tav tm="0">
                                          <p:val>
                                            <p:strVal val="#ppt_y+.06"/>
                                          </p:val>
                                        </p:tav>
                                        <p:tav tm="100000">
                                          <p:val>
                                            <p:strVal val="#ppt_y"/>
                                          </p:val>
                                        </p:tav>
                                      </p:tavLst>
                                    </p:anim>
                                    <p:animEffect transition="in" filter="fade">
                                      <p:cBhvr>
                                        <p:cTn id="15" dur="600"/>
                                        <p:tgtEl>
                                          <p:spTgt spid="4"/>
                                        </p:tgtEl>
                                      </p:cBhvr>
                                    </p:animEffect>
                                  </p:childTnLst>
                                </p:cTn>
                              </p:par>
                              <p:par>
                                <p:cTn id="16" presetID="10" presetClass="entr" presetSubtype="0" fill="hold" nodeType="withEffect">
                                  <p:stCondLst>
                                    <p:cond delay="50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600"/>
                                        <p:tgtEl>
                                          <p:spTgt spid="11"/>
                                        </p:tgtEl>
                                      </p:cBhvr>
                                    </p:animEffect>
                                  </p:childTnLst>
                                </p:cTn>
                              </p:par>
                              <p:par>
                                <p:cTn id="19" presetID="42" presetClass="entr" presetSubtype="0" fill="hold" nodeType="withEffect">
                                  <p:stCondLst>
                                    <p:cond delay="560"/>
                                  </p:stCondLst>
                                  <p:childTnLst>
                                    <p:set>
                                      <p:cBhvr>
                                        <p:cTn id="20" dur="1" fill="hold">
                                          <p:stCondLst>
                                            <p:cond delay="0"/>
                                          </p:stCondLst>
                                        </p:cTn>
                                        <p:tgtEl>
                                          <p:spTgt spid="5"/>
                                        </p:tgtEl>
                                        <p:attrNameLst>
                                          <p:attrName>style.visibility</p:attrName>
                                        </p:attrNameLst>
                                      </p:cBhvr>
                                      <p:to>
                                        <p:strVal val="visible"/>
                                      </p:to>
                                    </p:set>
                                    <p:anim calcmode="lin" valueType="num">
                                      <p:cBhvr>
                                        <p:cTn id="21" dur="600" fill="hold"/>
                                        <p:tgtEl>
                                          <p:spTgt spid="5"/>
                                        </p:tgtEl>
                                        <p:attrNameLst>
                                          <p:attrName>ppt_y</p:attrName>
                                        </p:attrNameLst>
                                      </p:cBhvr>
                                      <p:tavLst>
                                        <p:tav tm="0">
                                          <p:val>
                                            <p:strVal val="#ppt_y+.06"/>
                                          </p:val>
                                        </p:tav>
                                        <p:tav tm="100000">
                                          <p:val>
                                            <p:strVal val="#ppt_y"/>
                                          </p:val>
                                        </p:tav>
                                      </p:tavLst>
                                    </p:anim>
                                    <p:animEffect transition="in" filter="fade">
                                      <p:cBhvr>
                                        <p:cTn id="22" dur="600"/>
                                        <p:tgtEl>
                                          <p:spTgt spid="5"/>
                                        </p:tgtEl>
                                      </p:cBhvr>
                                    </p:animEffect>
                                  </p:childTnLst>
                                </p:cTn>
                              </p:par>
                              <p:par>
                                <p:cTn id="23" presetID="10" presetClass="entr" presetSubtype="0" fill="hold" nodeType="withEffect">
                                  <p:stCondLst>
                                    <p:cond delay="70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53" presetClass="entr" presetSubtype="16" fill="hold" nodeType="withEffect">
                                  <p:stCondLst>
                                    <p:cond delay="1100"/>
                                  </p:stCondLst>
                                  <p:childTnLst>
                                    <p:set>
                                      <p:cBhvr>
                                        <p:cTn id="27" dur="1" fill="hold">
                                          <p:stCondLst>
                                            <p:cond delay="0"/>
                                          </p:stCondLst>
                                        </p:cTn>
                                        <p:tgtEl>
                                          <p:spTgt spid="6"/>
                                        </p:tgtEl>
                                        <p:attrNameLst>
                                          <p:attrName>style.visibility</p:attrName>
                                        </p:attrNameLst>
                                      </p:cBhvr>
                                      <p:to>
                                        <p:strVal val="visible"/>
                                      </p:to>
                                    </p:set>
                                    <p:anim calcmode="lin" valueType="num">
                                      <p:cBhvr>
                                        <p:cTn id="28" dur="700" fill="hold"/>
                                        <p:tgtEl>
                                          <p:spTgt spid="6"/>
                                        </p:tgtEl>
                                        <p:attrNameLst>
                                          <p:attrName>ppt_w</p:attrName>
                                        </p:attrNameLst>
                                      </p:cBhvr>
                                      <p:tavLst>
                                        <p:tav tm="0">
                                          <p:val>
                                            <p:fltVal val="0"/>
                                          </p:val>
                                        </p:tav>
                                        <p:tav tm="100000">
                                          <p:val>
                                            <p:strVal val="#ppt_w"/>
                                          </p:val>
                                        </p:tav>
                                      </p:tavLst>
                                    </p:anim>
                                    <p:anim calcmode="lin" valueType="num">
                                      <p:cBhvr>
                                        <p:cTn id="29" dur="700" fill="hold"/>
                                        <p:tgtEl>
                                          <p:spTgt spid="6"/>
                                        </p:tgtEl>
                                        <p:attrNameLst>
                                          <p:attrName>ppt_h</p:attrName>
                                        </p:attrNameLst>
                                      </p:cBhvr>
                                      <p:tavLst>
                                        <p:tav tm="0">
                                          <p:val>
                                            <p:fltVal val="0"/>
                                          </p:val>
                                        </p:tav>
                                        <p:tav tm="100000">
                                          <p:val>
                                            <p:strVal val="#ppt_h"/>
                                          </p:val>
                                        </p:tav>
                                      </p:tavLst>
                                    </p:anim>
                                    <p:animEffect transition="in" filter="fade">
                                      <p:cBhvr>
                                        <p:cTn id="30" dur="700"/>
                                        <p:tgtEl>
                                          <p:spTgt spid="6"/>
                                        </p:tgtEl>
                                      </p:cBhvr>
                                    </p:animEffect>
                                  </p:childTnLst>
                                </p:cTn>
                              </p:par>
                              <p:par>
                                <p:cTn id="31" presetID="22" presetClass="entr" presetSubtype="8" fill="hold" nodeType="withEffect">
                                  <p:stCondLst>
                                    <p:cond delay="1400"/>
                                  </p:stCondLst>
                                  <p:childTnLst>
                                    <p:set>
                                      <p:cBhvr>
                                        <p:cTn id="32" dur="1" fill="hold">
                                          <p:stCondLst>
                                            <p:cond delay="0"/>
                                          </p:stCondLst>
                                        </p:cTn>
                                        <p:tgtEl>
                                          <p:spTgt spid="13"/>
                                        </p:tgtEl>
                                        <p:attrNameLst>
                                          <p:attrName>style.visibility</p:attrName>
                                        </p:attrNameLst>
                                      </p:cBhvr>
                                      <p:to>
                                        <p:strVal val="visible"/>
                                      </p:to>
                                    </p:set>
                                    <p:animEffect transition="in" filter="wipe(left)">
                                      <p:cBhvr>
                                        <p:cTn id="33" dur="700"/>
                                        <p:tgtEl>
                                          <p:spTgt spid="13"/>
                                        </p:tgtEl>
                                      </p:cBhvr>
                                    </p:animEffect>
                                  </p:childTnLst>
                                </p:cTn>
                              </p:par>
                              <p:par>
                                <p:cTn id="34" presetID="10" presetClass="entr" presetSubtype="0" fill="hold" nodeType="withEffect">
                                  <p:stCondLst>
                                    <p:cond delay="160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600"/>
                                        <p:tgtEl>
                                          <p:spTgt spid="7"/>
                                        </p:tgtEl>
                                      </p:cBhvr>
                                    </p:animEffect>
                                  </p:childTnLst>
                                </p:cTn>
                              </p:par>
                              <p:par>
                                <p:cTn id="37" presetID="10" presetClass="entr" presetSubtype="0" fill="hold" nodeType="withEffect">
                                  <p:stCondLst>
                                    <p:cond delay="200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600"/>
                                        <p:tgtEl>
                                          <p:spTgt spid="8"/>
                                        </p:tgtEl>
                                      </p:cBhvr>
                                    </p:animEffect>
                                  </p:childTnLst>
                                </p:cTn>
                              </p:par>
                              <p:par>
                                <p:cTn id="40" presetID="10" presetClass="entr" presetSubtype="0" fill="hold" nodeType="withEffect">
                                  <p:stCondLst>
                                    <p:cond delay="230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childTnLst>
                                </p:cTn>
                              </p:par>
                              <p:par>
                                <p:cTn id="43" presetID="22" presetClass="entr" presetSubtype="8" fill="hold" nodeType="withEffect">
                                  <p:stCondLst>
                                    <p:cond delay="2300"/>
                                  </p:stCondLst>
                                  <p:childTnLst>
                                    <p:set>
                                      <p:cBhvr>
                                        <p:cTn id="44" dur="1" fill="hold">
                                          <p:stCondLst>
                                            <p:cond delay="0"/>
                                          </p:stCondLst>
                                        </p:cTn>
                                        <p:tgtEl>
                                          <p:spTgt spid="14"/>
                                        </p:tgtEl>
                                        <p:attrNameLst>
                                          <p:attrName>style.visibility</p:attrName>
                                        </p:attrNameLst>
                                      </p:cBhvr>
                                      <p:to>
                                        <p:strVal val="visible"/>
                                      </p:to>
                                    </p:set>
                                    <p:animEffect transition="in" filter="wipe(left)">
                                      <p:cBhvr>
                                        <p:cTn id="45" dur="800"/>
                                        <p:tgtEl>
                                          <p:spTgt spid="14"/>
                                        </p:tgtEl>
                                      </p:cBhvr>
                                    </p:animEffect>
                                  </p:childTnLst>
                                </p:cTn>
                              </p:par>
                              <p:par>
                                <p:cTn id="46" presetID="42" presetClass="entr" presetSubtype="0" fill="hold" nodeType="withEffect">
                                  <p:stCondLst>
                                    <p:cond delay="2700"/>
                                  </p:stCondLst>
                                  <p:childTnLst>
                                    <p:set>
                                      <p:cBhvr>
                                        <p:cTn id="47" dur="1" fill="hold">
                                          <p:stCondLst>
                                            <p:cond delay="0"/>
                                          </p:stCondLst>
                                        </p:cTn>
                                        <p:tgtEl>
                                          <p:spTgt spid="10"/>
                                        </p:tgtEl>
                                        <p:attrNameLst>
                                          <p:attrName>style.visibility</p:attrName>
                                        </p:attrNameLst>
                                      </p:cBhvr>
                                      <p:to>
                                        <p:strVal val="visible"/>
                                      </p:to>
                                    </p:set>
                                    <p:anim calcmode="lin" valueType="num">
                                      <p:cBhvr>
                                        <p:cTn id="48" dur="600" fill="hold"/>
                                        <p:tgtEl>
                                          <p:spTgt spid="10"/>
                                        </p:tgtEl>
                                        <p:attrNameLst>
                                          <p:attrName>ppt_y</p:attrName>
                                        </p:attrNameLst>
                                      </p:cBhvr>
                                      <p:tavLst>
                                        <p:tav tm="0">
                                          <p:val>
                                            <p:strVal val="#ppt_y+.06"/>
                                          </p:val>
                                        </p:tav>
                                        <p:tav tm="100000">
                                          <p:val>
                                            <p:strVal val="#ppt_y"/>
                                          </p:val>
                                        </p:tav>
                                      </p:tavLst>
                                    </p:anim>
                                    <p:animEffect transition="in" filter="fade">
                                      <p:cBhvr>
                                        <p:cTn id="49" dur="600"/>
                                        <p:tgtEl>
                                          <p:spTgt spid="10"/>
                                        </p:tgtEl>
                                      </p:cBhvr>
                                    </p:animEffect>
                                  </p:childTnLst>
                                </p:cTn>
                              </p:par>
                              <p:par>
                                <p:cTn id="50" presetID="22" presetClass="entr" presetSubtype="8" fill="hold" nodeType="withEffect">
                                  <p:stCondLst>
                                    <p:cond delay="330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700"/>
                                        <p:tgtEl>
                                          <p:spTgt spid="15"/>
                                        </p:tgtEl>
                                      </p:cBhvr>
                                    </p:animEffect>
                                  </p:childTnLst>
                                </p:cTn>
                              </p:par>
                              <p:par>
                                <p:cTn id="53" presetID="42" presetClass="entr" presetSubtype="0" fill="hold" nodeType="withEffect">
                                  <p:stCondLst>
                                    <p:cond delay="4100"/>
                                  </p:stCondLst>
                                  <p:childTnLst>
                                    <p:set>
                                      <p:cBhvr>
                                        <p:cTn id="54" dur="1" fill="hold">
                                          <p:stCondLst>
                                            <p:cond delay="0"/>
                                          </p:stCondLst>
                                        </p:cTn>
                                        <p:tgtEl>
                                          <p:spTgt spid="16"/>
                                        </p:tgtEl>
                                        <p:attrNameLst>
                                          <p:attrName>style.visibility</p:attrName>
                                        </p:attrNameLst>
                                      </p:cBhvr>
                                      <p:to>
                                        <p:strVal val="visible"/>
                                      </p:to>
                                    </p:set>
                                    <p:anim calcmode="lin" valueType="num">
                                      <p:cBhvr>
                                        <p:cTn id="55" dur="600" fill="hold"/>
                                        <p:tgtEl>
                                          <p:spTgt spid="16"/>
                                        </p:tgtEl>
                                        <p:attrNameLst>
                                          <p:attrName>ppt_y</p:attrName>
                                        </p:attrNameLst>
                                      </p:cBhvr>
                                      <p:tavLst>
                                        <p:tav tm="0">
                                          <p:val>
                                            <p:strVal val="#ppt_y+.06"/>
                                          </p:val>
                                        </p:tav>
                                        <p:tav tm="100000">
                                          <p:val>
                                            <p:strVal val="#ppt_y"/>
                                          </p:val>
                                        </p:tav>
                                      </p:tavLst>
                                    </p:anim>
                                    <p:animEffect transition="in" filter="fade">
                                      <p:cBhvr>
                                        <p:cTn id="56" dur="600"/>
                                        <p:tgtEl>
                                          <p:spTgt spid="16"/>
                                        </p:tgtEl>
                                      </p:cBhvr>
                                    </p:animEffect>
                                  </p:childTnLst>
                                </p:cTn>
                              </p:par>
                              <p:par>
                                <p:cTn id="57" presetID="10" presetClass="entr" presetSubtype="0" fill="hold" nodeType="withEffect">
                                  <p:stCondLst>
                                    <p:cond delay="460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400"/>
                                        <p:tgtEl>
                                          <p:spTgt spid="17"/>
                                        </p:tgtEl>
                                      </p:cBhvr>
                                    </p:animEffect>
                                  </p:childTnLst>
                                </p:cTn>
                              </p:par>
                              <p:par>
                                <p:cTn id="60" presetID="10" presetClass="entr" presetSubtype="0" fill="hold" nodeType="withEffect">
                                  <p:stCondLst>
                                    <p:cond delay="475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400"/>
                                        <p:tgtEl>
                                          <p:spTgt spid="18"/>
                                        </p:tgtEl>
                                      </p:cBhvr>
                                    </p:animEffect>
                                  </p:childTnLst>
                                </p:cTn>
                              </p:par>
                              <p:par>
                                <p:cTn id="63" presetID="10" presetClass="entr" presetSubtype="0" fill="hold" nodeType="withEffect">
                                  <p:stCondLst>
                                    <p:cond delay="4900"/>
                                  </p:stCondLst>
                                  <p:childTnLst>
                                    <p:set>
                                      <p:cBhvr>
                                        <p:cTn id="64" dur="1" fill="hold">
                                          <p:stCondLst>
                                            <p:cond delay="0"/>
                                          </p:stCondLst>
                                        </p:cTn>
                                        <p:tgtEl>
                                          <p:spTgt spid="19"/>
                                        </p:tgtEl>
                                        <p:attrNameLst>
                                          <p:attrName>style.visibility</p:attrName>
                                        </p:attrNameLst>
                                      </p:cBhvr>
                                      <p:to>
                                        <p:strVal val="visible"/>
                                      </p:to>
                                    </p:set>
                                    <p:animEffect transition="in" filter="fade">
                                      <p:cBhvr>
                                        <p:cTn id="65" dur="400"/>
                                        <p:tgtEl>
                                          <p:spTgt spid="19"/>
                                        </p:tgtEl>
                                      </p:cBhvr>
                                    </p:animEffect>
                                  </p:childTnLst>
                                </p:cTn>
                              </p:par>
                              <p:par>
                                <p:cTn id="66" presetID="26" presetClass="emph" presetSubtype="0" fill="hold" nodeType="withEffect">
                                  <p:stCondLst>
                                    <p:cond delay="5200"/>
                                  </p:stCondLst>
                                  <p:childTnLst>
                                    <p:animScale>
                                      <p:cBhvr>
                                        <p:cTn id="67" dur="450" autoRev="1" fill="hold"/>
                                        <p:tgtEl>
                                          <p:spTgt spid="16"/>
                                        </p:tgtEl>
                                      </p:cBhvr>
                                      <p:by x="106000" y="106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6"/>
        </a:solidFill>
      </p:bgPr>
    </p:bg>
    <p:spTree>
      <p:nvGrpSpPr>
        <p:cNvPr id="1" name=""/>
        <p:cNvGrpSpPr/>
        <p:nvPr/>
      </p:nvGrpSpPr>
      <p:grpSpPr>
        <a:xfrm>
          <a:off x="0" y="0"/>
          <a:ext cx="0" cy="0"/>
          <a:chOff x="0" y="0"/>
          <a:chExt cx="0" cy="0"/>
        </a:xfrm>
      </p:grpSpPr>
      <p:sp>
        <p:nvSpPr>
          <p:cNvPr id="2" name="kicker"/>
          <p:cNvSpPr/>
          <p:nvPr/>
        </p:nvSpPr>
        <p:spPr>
          <a:xfrm>
            <a:off x="640080" y="457200"/>
            <a:ext cx="8229600" cy="274320"/>
          </a:xfrm>
          <a:prstGeom prst="rect">
            <a:avLst/>
          </a:prstGeom>
          <a:noFill/>
          <a:ln/>
        </p:spPr>
        <p:txBody>
          <a:bodyPr wrap="square" lIns="0" tIns="0" rIns="0" bIns="0" rtlCol="0" anchor="t"/>
          <a:lstStyle/>
          <a:p>
            <a:pPr algn="l" indent="0" marL="0">
              <a:buNone/>
            </a:pPr>
            <a:r>
              <a:rPr lang="en-US" sz="1050" b="1" spc="150" kern="0" dirty="0">
                <a:solidFill>
                  <a:srgbClr val="0F766E"/>
                </a:solidFill>
                <a:latin typeface="Consolas" pitchFamily="34" charset="0"/>
                <a:ea typeface="Consolas" pitchFamily="34" charset="-122"/>
                <a:cs typeface="Consolas" pitchFamily="34" charset="-120"/>
              </a:rPr>
              <a:t>THE SOLUTION  ·  PROBLEM → INPUT → AI → OUTPUT → IMPACT</a:t>
            </a:r>
            <a:endParaRPr lang="en-US" sz="1050" dirty="0"/>
          </a:p>
        </p:txBody>
      </p:sp>
      <p:sp>
        <p:nvSpPr>
          <p:cNvPr id="3" name="title"/>
          <p:cNvSpPr/>
          <p:nvPr/>
        </p:nvSpPr>
        <p:spPr>
          <a:xfrm>
            <a:off x="640080" y="749808"/>
            <a:ext cx="10881360" cy="822960"/>
          </a:xfrm>
          <a:prstGeom prst="rect">
            <a:avLst/>
          </a:prstGeom>
          <a:noFill/>
          <a:ln/>
        </p:spPr>
        <p:txBody>
          <a:bodyPr wrap="square" lIns="0" tIns="0" rIns="0" bIns="0" rtlCol="0" anchor="t"/>
          <a:lstStyle/>
          <a:p>
            <a:pPr algn="l" indent="0" marL="0">
              <a:buNone/>
            </a:pPr>
            <a:r>
              <a:rPr lang="en-US" sz="3400" dirty="0">
                <a:solidFill>
                  <a:srgbClr val="0C1F1C"/>
                </a:solidFill>
                <a:latin typeface="Segoe UI Semibold" pitchFamily="34" charset="0"/>
                <a:ea typeface="Segoe UI Semibold" pitchFamily="34" charset="-122"/>
                <a:cs typeface="Segoe UI Semibold" pitchFamily="34" charset="-120"/>
              </a:rPr>
              <a:t>A photo in. </a:t>
            </a:r>
            <a:pPr algn="l" indent="0" marL="0">
              <a:buNone/>
            </a:pPr>
            <a:r>
              <a:rPr lang="en-US" sz="3400" dirty="0">
                <a:solidFill>
                  <a:srgbClr val="0F766E"/>
                </a:solidFill>
                <a:latin typeface="Segoe UI Semibold" pitchFamily="34" charset="0"/>
                <a:ea typeface="Segoe UI Semibold" pitchFamily="34" charset="-122"/>
                <a:cs typeface="Segoe UI Semibold" pitchFamily="34" charset="-120"/>
              </a:rPr>
              <a:t>Explained marks out.</a:t>
            </a:r>
            <a:endParaRPr lang="en-US" sz="3400" dirty="0"/>
          </a:p>
        </p:txBody>
      </p:sp>
      <p:sp>
        <p:nvSpPr>
          <p:cNvPr id="4" name="foot-rule"/>
          <p:cNvSpPr/>
          <p:nvPr/>
        </p:nvSpPr>
        <p:spPr>
          <a:xfrm>
            <a:off x="640080" y="6400800"/>
            <a:ext cx="10911535" cy="0"/>
          </a:xfrm>
          <a:prstGeom prst="line">
            <a:avLst/>
          </a:prstGeom>
          <a:noFill/>
          <a:ln w="9525">
            <a:solidFill>
              <a:srgbClr val="D3E0DC"/>
            </a:solidFill>
            <a:prstDash val="solid"/>
          </a:ln>
        </p:spPr>
      </p:sp>
      <p:sp>
        <p:nvSpPr>
          <p:cNvPr id="5" name="foot-l"/>
          <p:cNvSpPr/>
          <p:nvPr/>
        </p:nvSpPr>
        <p:spPr>
          <a:xfrm>
            <a:off x="640080" y="6473952"/>
            <a:ext cx="7315200" cy="228600"/>
          </a:xfrm>
          <a:prstGeom prst="rect">
            <a:avLst/>
          </a:prstGeom>
          <a:noFill/>
          <a:ln/>
        </p:spPr>
        <p:txBody>
          <a:bodyPr wrap="square" lIns="0" tIns="0" rIns="0" bIns="0" rtlCol="0" anchor="t"/>
          <a:lstStyle/>
          <a:p>
            <a:pPr algn="l" indent="0" marL="0">
              <a:buNone/>
            </a:pPr>
            <a:r>
              <a:rPr lang="en-US" sz="850" spc="100" kern="0" dirty="0">
                <a:solidFill>
                  <a:srgbClr val="8DA09C"/>
                </a:solidFill>
                <a:latin typeface="Consolas" pitchFamily="34" charset="0"/>
                <a:ea typeface="Consolas" pitchFamily="34" charset="-122"/>
                <a:cs typeface="Consolas" pitchFamily="34" charset="-120"/>
              </a:rPr>
              <a:t>GALTI PAKAR  ·  AICON'26 BUILD WITH AI  ·  EDTECH &amp; WORKFORCE</a:t>
            </a:r>
            <a:endParaRPr lang="en-US" sz="850" dirty="0"/>
          </a:p>
        </p:txBody>
      </p:sp>
      <p:sp>
        <p:nvSpPr>
          <p:cNvPr id="6" name="foot-r"/>
          <p:cNvSpPr/>
          <p:nvPr/>
        </p:nvSpPr>
        <p:spPr>
          <a:xfrm>
            <a:off x="9722815" y="6473952"/>
            <a:ext cx="1828800" cy="228600"/>
          </a:xfrm>
          <a:prstGeom prst="rect">
            <a:avLst/>
          </a:prstGeom>
          <a:noFill/>
          <a:ln/>
        </p:spPr>
        <p:txBody>
          <a:bodyPr wrap="square" lIns="0" tIns="0" rIns="0" bIns="0" rtlCol="0" anchor="t"/>
          <a:lstStyle/>
          <a:p>
            <a:pPr algn="r" indent="0" marL="0">
              <a:buNone/>
            </a:pPr>
            <a:r>
              <a:rPr lang="en-US" sz="850" spc="100" kern="0" dirty="0">
                <a:solidFill>
                  <a:srgbClr val="8DA09C"/>
                </a:solidFill>
                <a:latin typeface="Consolas" pitchFamily="34" charset="0"/>
                <a:ea typeface="Consolas" pitchFamily="34" charset="-122"/>
                <a:cs typeface="Consolas" pitchFamily="34" charset="-120"/>
              </a:rPr>
              <a:t>2 / 5</a:t>
            </a:r>
            <a:endParaRPr lang="en-US" sz="850" dirty="0"/>
          </a:p>
        </p:txBody>
      </p:sp>
      <p:sp>
        <p:nvSpPr>
          <p:cNvPr id="7" name="chip0"/>
          <p:cNvSpPr/>
          <p:nvPr/>
        </p:nvSpPr>
        <p:spPr>
          <a:xfrm>
            <a:off x="640080" y="1600200"/>
            <a:ext cx="1920240" cy="749808"/>
          </a:xfrm>
          <a:prstGeom prst="roundRect">
            <a:avLst>
              <a:gd name="adj" fmla="val 12195"/>
            </a:avLst>
          </a:prstGeom>
          <a:solidFill>
            <a:srgbClr val="FFFFFF"/>
          </a:solidFill>
          <a:ln w="12700">
            <a:solidFill>
              <a:srgbClr val="D3E0DC"/>
            </a:solidFill>
          </a:ln>
        </p:spPr>
        <p:txBody>
          <a:bodyPr wrap="square" lIns="127000" tIns="127000" rIns="127000" bIns="127000" rtlCol="0" anchor="ctr"/>
          <a:lstStyle/>
          <a:p>
            <a:pPr indent="0" marL="0">
              <a:buNone/>
            </a:pPr>
            <a:r>
              <a:rPr lang="en-US" sz="950" b="1" spc="150" kern="0" dirty="0">
                <a:solidFill>
                  <a:srgbClr val="0F766E"/>
                </a:solidFill>
                <a:latin typeface="Consolas" pitchFamily="34" charset="0"/>
                <a:ea typeface="Consolas" pitchFamily="34" charset="-122"/>
                <a:cs typeface="Consolas" pitchFamily="34" charset="-120"/>
              </a:rPr>
              <a:t>PROBLEM</a:t>
            </a:r>
            <a:endParaRPr lang="en-US" sz="950" dirty="0"/>
          </a:p>
          <a:p>
            <a:pPr indent="0" marL="0">
              <a:buNone/>
            </a:pPr>
            <a:r>
              <a:rPr lang="en-US" sz="1150" dirty="0">
                <a:solidFill>
                  <a:srgbClr val="0C1F1C"/>
                </a:solidFill>
                <a:latin typeface="Segoe UI" pitchFamily="34" charset="0"/>
                <a:ea typeface="Segoe UI" pitchFamily="34" charset="-122"/>
                <a:cs typeface="Segoe UI" pitchFamily="34" charset="-120"/>
              </a:rPr>
              <a:t>Essays fail on argument structure</a:t>
            </a:r>
            <a:endParaRPr lang="en-US" sz="950" dirty="0"/>
          </a:p>
        </p:txBody>
      </p:sp>
      <p:sp>
        <p:nvSpPr>
          <p:cNvPr id="8" name="arrow0"/>
          <p:cNvSpPr/>
          <p:nvPr/>
        </p:nvSpPr>
        <p:spPr>
          <a:xfrm>
            <a:off x="2596896" y="1975104"/>
            <a:ext cx="228600" cy="0"/>
          </a:xfrm>
          <a:prstGeom prst="line">
            <a:avLst/>
          </a:prstGeom>
          <a:noFill/>
          <a:ln w="19050">
            <a:solidFill>
              <a:srgbClr val="0F766E"/>
            </a:solidFill>
            <a:prstDash val="solid"/>
            <a:tailEnd type="triangle"/>
          </a:ln>
        </p:spPr>
      </p:sp>
      <p:sp>
        <p:nvSpPr>
          <p:cNvPr id="9" name="chip1"/>
          <p:cNvSpPr/>
          <p:nvPr/>
        </p:nvSpPr>
        <p:spPr>
          <a:xfrm>
            <a:off x="2862072" y="1600200"/>
            <a:ext cx="1920240" cy="749808"/>
          </a:xfrm>
          <a:prstGeom prst="roundRect">
            <a:avLst>
              <a:gd name="adj" fmla="val 12195"/>
            </a:avLst>
          </a:prstGeom>
          <a:solidFill>
            <a:srgbClr val="FFFFFF"/>
          </a:solidFill>
          <a:ln w="12700">
            <a:solidFill>
              <a:srgbClr val="D3E0DC"/>
            </a:solidFill>
          </a:ln>
        </p:spPr>
        <p:txBody>
          <a:bodyPr wrap="square" lIns="127000" tIns="127000" rIns="127000" bIns="127000" rtlCol="0" anchor="ctr"/>
          <a:lstStyle/>
          <a:p>
            <a:pPr indent="0" marL="0">
              <a:buNone/>
            </a:pPr>
            <a:r>
              <a:rPr lang="en-US" sz="950" b="1" spc="150" kern="0" dirty="0">
                <a:solidFill>
                  <a:srgbClr val="0F766E"/>
                </a:solidFill>
                <a:latin typeface="Consolas" pitchFamily="34" charset="0"/>
                <a:ea typeface="Consolas" pitchFamily="34" charset="-122"/>
                <a:cs typeface="Consolas" pitchFamily="34" charset="-120"/>
              </a:rPr>
              <a:t>INPUT</a:t>
            </a:r>
            <a:endParaRPr lang="en-US" sz="950" dirty="0"/>
          </a:p>
          <a:p>
            <a:pPr indent="0" marL="0">
              <a:buNone/>
            </a:pPr>
            <a:r>
              <a:rPr lang="en-US" sz="1150" dirty="0">
                <a:solidFill>
                  <a:srgbClr val="0C1F1C"/>
                </a:solidFill>
                <a:latin typeface="Segoe UI" pitchFamily="34" charset="0"/>
                <a:ea typeface="Segoe UI" pitchFamily="34" charset="-122"/>
                <a:cs typeface="Segoe UI" pitchFamily="34" charset="-120"/>
              </a:rPr>
              <a:t>Phone photos of handwriting</a:t>
            </a:r>
            <a:endParaRPr lang="en-US" sz="950" dirty="0"/>
          </a:p>
        </p:txBody>
      </p:sp>
      <p:sp>
        <p:nvSpPr>
          <p:cNvPr id="10" name="arrow1"/>
          <p:cNvSpPr/>
          <p:nvPr/>
        </p:nvSpPr>
        <p:spPr>
          <a:xfrm>
            <a:off x="4818888" y="1975104"/>
            <a:ext cx="228600" cy="0"/>
          </a:xfrm>
          <a:prstGeom prst="line">
            <a:avLst/>
          </a:prstGeom>
          <a:noFill/>
          <a:ln w="19050">
            <a:solidFill>
              <a:srgbClr val="0F766E"/>
            </a:solidFill>
            <a:prstDash val="solid"/>
            <a:tailEnd type="triangle"/>
          </a:ln>
        </p:spPr>
      </p:sp>
      <p:sp>
        <p:nvSpPr>
          <p:cNvPr id="11" name="chip2"/>
          <p:cNvSpPr/>
          <p:nvPr/>
        </p:nvSpPr>
        <p:spPr>
          <a:xfrm>
            <a:off x="5084064" y="1600200"/>
            <a:ext cx="1920240" cy="749808"/>
          </a:xfrm>
          <a:prstGeom prst="roundRect">
            <a:avLst>
              <a:gd name="adj" fmla="val 12195"/>
            </a:avLst>
          </a:prstGeom>
          <a:solidFill>
            <a:srgbClr val="0F766E"/>
          </a:solidFill>
          <a:ln w="12700">
            <a:solidFill>
              <a:srgbClr val="0F766E"/>
            </a:solidFill>
          </a:ln>
        </p:spPr>
        <p:txBody>
          <a:bodyPr wrap="square" lIns="127000" tIns="127000" rIns="127000" bIns="127000" rtlCol="0" anchor="ctr"/>
          <a:lstStyle/>
          <a:p>
            <a:pPr indent="0" marL="0">
              <a:buNone/>
            </a:pPr>
            <a:r>
              <a:rPr lang="en-US" sz="950" b="1" spc="150" kern="0" dirty="0">
                <a:solidFill>
                  <a:srgbClr val="CFEFEA"/>
                </a:solidFill>
                <a:latin typeface="Consolas" pitchFamily="34" charset="0"/>
                <a:ea typeface="Consolas" pitchFamily="34" charset="-122"/>
                <a:cs typeface="Consolas" pitchFamily="34" charset="-120"/>
              </a:rPr>
              <a:t>AI</a:t>
            </a:r>
            <a:endParaRPr lang="en-US" sz="950" dirty="0"/>
          </a:p>
          <a:p>
            <a:pPr indent="0" marL="0">
              <a:buNone/>
            </a:pPr>
            <a:r>
              <a:rPr lang="en-US" sz="1150" b="1" dirty="0">
                <a:solidFill>
                  <a:srgbClr val="FFFFFF"/>
                </a:solidFill>
                <a:latin typeface="Segoe UI" pitchFamily="34" charset="0"/>
                <a:ea typeface="Segoe UI" pitchFamily="34" charset="-122"/>
                <a:cs typeface="Segoe UI" pitchFamily="34" charset="-120"/>
              </a:rPr>
              <a:t>Reads, measures, examines, coaches</a:t>
            </a:r>
            <a:endParaRPr lang="en-US" sz="950" dirty="0"/>
          </a:p>
        </p:txBody>
      </p:sp>
      <p:sp>
        <p:nvSpPr>
          <p:cNvPr id="12" name="arrow2"/>
          <p:cNvSpPr/>
          <p:nvPr/>
        </p:nvSpPr>
        <p:spPr>
          <a:xfrm>
            <a:off x="7040880" y="1975104"/>
            <a:ext cx="228600" cy="0"/>
          </a:xfrm>
          <a:prstGeom prst="line">
            <a:avLst/>
          </a:prstGeom>
          <a:noFill/>
          <a:ln w="19050">
            <a:solidFill>
              <a:srgbClr val="0F766E"/>
            </a:solidFill>
            <a:prstDash val="solid"/>
            <a:tailEnd type="triangle"/>
          </a:ln>
        </p:spPr>
      </p:sp>
      <p:sp>
        <p:nvSpPr>
          <p:cNvPr id="13" name="chip3"/>
          <p:cNvSpPr/>
          <p:nvPr/>
        </p:nvSpPr>
        <p:spPr>
          <a:xfrm>
            <a:off x="7306056" y="1600200"/>
            <a:ext cx="1920240" cy="749808"/>
          </a:xfrm>
          <a:prstGeom prst="roundRect">
            <a:avLst>
              <a:gd name="adj" fmla="val 12195"/>
            </a:avLst>
          </a:prstGeom>
          <a:solidFill>
            <a:srgbClr val="FFFFFF"/>
          </a:solidFill>
          <a:ln w="12700">
            <a:solidFill>
              <a:srgbClr val="D3E0DC"/>
            </a:solidFill>
          </a:ln>
        </p:spPr>
        <p:txBody>
          <a:bodyPr wrap="square" lIns="127000" tIns="127000" rIns="127000" bIns="127000" rtlCol="0" anchor="ctr"/>
          <a:lstStyle/>
          <a:p>
            <a:pPr indent="0" marL="0">
              <a:buNone/>
            </a:pPr>
            <a:r>
              <a:rPr lang="en-US" sz="950" b="1" spc="150" kern="0" dirty="0">
                <a:solidFill>
                  <a:srgbClr val="0F766E"/>
                </a:solidFill>
                <a:latin typeface="Consolas" pitchFamily="34" charset="0"/>
                <a:ea typeface="Consolas" pitchFamily="34" charset="-122"/>
                <a:cs typeface="Consolas" pitchFamily="34" charset="-120"/>
              </a:rPr>
              <a:t>OUTPUT</a:t>
            </a:r>
            <a:endParaRPr lang="en-US" sz="950" dirty="0"/>
          </a:p>
          <a:p>
            <a:pPr indent="0" marL="0">
              <a:buNone/>
            </a:pPr>
            <a:r>
              <a:rPr lang="en-US" sz="1150" dirty="0">
                <a:solidFill>
                  <a:srgbClr val="0C1F1C"/>
                </a:solidFill>
                <a:latin typeface="Segoe UI" pitchFamily="34" charset="0"/>
                <a:ea typeface="Segoe UI" pitchFamily="34" charset="-122"/>
                <a:cs typeface="Segoe UI" pitchFamily="34" charset="-120"/>
              </a:rPr>
              <a:t>Marked essay, 7 scores, fixes</a:t>
            </a:r>
            <a:endParaRPr lang="en-US" sz="950" dirty="0"/>
          </a:p>
        </p:txBody>
      </p:sp>
      <p:sp>
        <p:nvSpPr>
          <p:cNvPr id="14" name="arrow3"/>
          <p:cNvSpPr/>
          <p:nvPr/>
        </p:nvSpPr>
        <p:spPr>
          <a:xfrm>
            <a:off x="9262872" y="1975104"/>
            <a:ext cx="228600" cy="0"/>
          </a:xfrm>
          <a:prstGeom prst="line">
            <a:avLst/>
          </a:prstGeom>
          <a:noFill/>
          <a:ln w="19050">
            <a:solidFill>
              <a:srgbClr val="0F766E"/>
            </a:solidFill>
            <a:prstDash val="solid"/>
            <a:tailEnd type="triangle"/>
          </a:ln>
        </p:spPr>
      </p:sp>
      <p:sp>
        <p:nvSpPr>
          <p:cNvPr id="15" name="chip4"/>
          <p:cNvSpPr/>
          <p:nvPr/>
        </p:nvSpPr>
        <p:spPr>
          <a:xfrm>
            <a:off x="9528048" y="1600200"/>
            <a:ext cx="1920240" cy="749808"/>
          </a:xfrm>
          <a:prstGeom prst="roundRect">
            <a:avLst>
              <a:gd name="adj" fmla="val 12195"/>
            </a:avLst>
          </a:prstGeom>
          <a:solidFill>
            <a:srgbClr val="FFFFFF"/>
          </a:solidFill>
          <a:ln w="12700">
            <a:solidFill>
              <a:srgbClr val="D3E0DC"/>
            </a:solidFill>
          </a:ln>
        </p:spPr>
        <p:txBody>
          <a:bodyPr wrap="square" lIns="127000" tIns="127000" rIns="127000" bIns="127000" rtlCol="0" anchor="ctr"/>
          <a:lstStyle/>
          <a:p>
            <a:pPr indent="0" marL="0">
              <a:buNone/>
            </a:pPr>
            <a:r>
              <a:rPr lang="en-US" sz="950" b="1" spc="150" kern="0" dirty="0">
                <a:solidFill>
                  <a:srgbClr val="0F766E"/>
                </a:solidFill>
                <a:latin typeface="Consolas" pitchFamily="34" charset="0"/>
                <a:ea typeface="Consolas" pitchFamily="34" charset="-122"/>
                <a:cs typeface="Consolas" pitchFamily="34" charset="-120"/>
              </a:rPr>
              <a:t>IMPACT</a:t>
            </a:r>
            <a:endParaRPr lang="en-US" sz="950" dirty="0"/>
          </a:p>
          <a:p>
            <a:pPr indent="0" marL="0">
              <a:buNone/>
            </a:pPr>
            <a:r>
              <a:rPr lang="en-US" sz="1150" dirty="0">
                <a:solidFill>
                  <a:srgbClr val="0C1F1C"/>
                </a:solidFill>
                <a:latin typeface="Segoe UI" pitchFamily="34" charset="0"/>
                <a:ea typeface="Segoe UI" pitchFamily="34" charset="-122"/>
                <a:cs typeface="Segoe UI" pitchFamily="34" charset="-120"/>
              </a:rPr>
              <a:t>Specific feedback in about a minute</a:t>
            </a:r>
            <a:endParaRPr lang="en-US" sz="950" dirty="0"/>
          </a:p>
        </p:txBody>
      </p:sp>
      <p:sp>
        <p:nvSpPr>
          <p:cNvPr id="16" name="lab1"/>
          <p:cNvSpPr/>
          <p:nvPr/>
        </p:nvSpPr>
        <p:spPr>
          <a:xfrm>
            <a:off x="640080" y="2496312"/>
            <a:ext cx="4572000" cy="274320"/>
          </a:xfrm>
          <a:prstGeom prst="rect">
            <a:avLst/>
          </a:prstGeom>
          <a:noFill/>
          <a:ln/>
        </p:spPr>
        <p:txBody>
          <a:bodyPr wrap="square" lIns="0" tIns="0" rIns="0" bIns="0" rtlCol="0" anchor="t"/>
          <a:lstStyle/>
          <a:p>
            <a:pPr algn="l" indent="0" marL="0">
              <a:buNone/>
            </a:pPr>
            <a:r>
              <a:rPr lang="en-US" sz="1050" b="1" spc="150" kern="0" dirty="0">
                <a:solidFill>
                  <a:srgbClr val="0F766E"/>
                </a:solidFill>
                <a:latin typeface="Consolas" pitchFamily="34" charset="0"/>
                <a:ea typeface="Consolas" pitchFamily="34" charset="-122"/>
                <a:cs typeface="Consolas" pitchFamily="34" charset="-120"/>
              </a:rPr>
              <a:t>WHERE EXACTLY</a:t>
            </a:r>
            <a:endParaRPr lang="en-US" sz="1050" dirty="0"/>
          </a:p>
        </p:txBody>
      </p:sp>
      <p:sp>
        <p:nvSpPr>
          <p:cNvPr id="17" name="shot1-bg"/>
          <p:cNvSpPr/>
          <p:nvPr/>
        </p:nvSpPr>
        <p:spPr>
          <a:xfrm>
            <a:off x="640080" y="2788920"/>
            <a:ext cx="5486400" cy="2724912"/>
          </a:xfrm>
          <a:prstGeom prst="roundRect">
            <a:avLst>
              <a:gd name="adj" fmla="val 2685"/>
            </a:avLst>
          </a:prstGeom>
          <a:solidFill>
            <a:srgbClr val="FFFFFF"/>
          </a:solidFill>
          <a:ln w="12700">
            <a:solidFill>
              <a:srgbClr val="D3E0DC"/>
            </a:solidFill>
          </a:ln>
          <a:effectLst>
            <a:outerShdw sx="100000" sy="100000" kx="0" ky="0" algn="bl" rotWithShape="0" blurRad="152400" dist="38100" dir="5400000">
              <a:srgbClr val="0C1F1C">
                <a:alpha val="12000"/>
              </a:srgbClr>
            </a:outerShdw>
          </a:effectLst>
        </p:spPr>
        <p:txBody>
          <a:bodyPr wrap="square" lIns="0" tIns="0" rIns="0" bIns="0" rtlCol="0" anchor="ctr"/>
          <a:lstStyle/>
          <a:p>
            <a:pPr indent="0" marL="0">
              <a:buNone/>
            </a:pPr>
            <a:endParaRPr lang="en-US" sz="1200" dirty="0"/>
          </a:p>
        </p:txBody>
      </p:sp>
      <p:pic>
        <p:nvPicPr>
          <p:cNvPr id="18" name="shot1" descr="C:\Users\Pc\Desktop\Galti pakar\deck\img\essay-trace.png">    </p:cNvPr>
          <p:cNvPicPr>
            <a:picLocks noChangeAspect="1"/>
          </p:cNvPicPr>
          <p:nvPr/>
        </p:nvPicPr>
        <p:blipFill>
          <a:blip r:embed="rId1"/>
          <a:stretch>
            <a:fillRect/>
          </a:stretch>
        </p:blipFill>
        <p:spPr>
          <a:xfrm>
            <a:off x="694944" y="2843784"/>
            <a:ext cx="5376672" cy="2615184"/>
          </a:xfrm>
          <a:prstGeom prst="rect">
            <a:avLst/>
          </a:prstGeom>
        </p:spPr>
      </p:pic>
      <p:sp>
        <p:nvSpPr>
          <p:cNvPr id="19" name="lab2"/>
          <p:cNvSpPr/>
          <p:nvPr/>
        </p:nvSpPr>
        <p:spPr>
          <a:xfrm>
            <a:off x="6400800" y="2496312"/>
            <a:ext cx="4572000" cy="274320"/>
          </a:xfrm>
          <a:prstGeom prst="rect">
            <a:avLst/>
          </a:prstGeom>
          <a:noFill/>
          <a:ln/>
        </p:spPr>
        <p:txBody>
          <a:bodyPr wrap="square" lIns="0" tIns="0" rIns="0" bIns="0" rtlCol="0" anchor="t"/>
          <a:lstStyle/>
          <a:p>
            <a:pPr algn="l" indent="0" marL="0">
              <a:buNone/>
            </a:pPr>
            <a:r>
              <a:rPr lang="en-US" sz="1050" b="1" spc="150" kern="0" dirty="0">
                <a:solidFill>
                  <a:srgbClr val="0F766E"/>
                </a:solidFill>
                <a:latin typeface="Consolas" pitchFamily="34" charset="0"/>
                <a:ea typeface="Consolas" pitchFamily="34" charset="-122"/>
                <a:cs typeface="Consolas" pitchFamily="34" charset="-120"/>
              </a:rPr>
              <a:t>WHY</a:t>
            </a:r>
            <a:endParaRPr lang="en-US" sz="1050" dirty="0"/>
          </a:p>
        </p:txBody>
      </p:sp>
      <p:sp>
        <p:nvSpPr>
          <p:cNvPr id="20" name="shot2-bg"/>
          <p:cNvSpPr/>
          <p:nvPr/>
        </p:nvSpPr>
        <p:spPr>
          <a:xfrm>
            <a:off x="6400800" y="2788920"/>
            <a:ext cx="5148072" cy="1051560"/>
          </a:xfrm>
          <a:prstGeom prst="roundRect">
            <a:avLst>
              <a:gd name="adj" fmla="val 6957"/>
            </a:avLst>
          </a:prstGeom>
          <a:solidFill>
            <a:srgbClr val="FFFFFF"/>
          </a:solidFill>
          <a:ln w="12700">
            <a:solidFill>
              <a:srgbClr val="D3E0DC"/>
            </a:solidFill>
          </a:ln>
          <a:effectLst>
            <a:outerShdw sx="100000" sy="100000" kx="0" ky="0" algn="bl" rotWithShape="0" blurRad="152400" dist="38100" dir="5400000">
              <a:srgbClr val="0C1F1C">
                <a:alpha val="12000"/>
              </a:srgbClr>
            </a:outerShdw>
          </a:effectLst>
        </p:spPr>
        <p:txBody>
          <a:bodyPr wrap="square" lIns="0" tIns="0" rIns="0" bIns="0" rtlCol="0" anchor="ctr"/>
          <a:lstStyle/>
          <a:p>
            <a:pPr indent="0" marL="0">
              <a:buNone/>
            </a:pPr>
            <a:endParaRPr lang="en-US" sz="1200" dirty="0"/>
          </a:p>
        </p:txBody>
      </p:sp>
      <p:pic>
        <p:nvPicPr>
          <p:cNvPr id="21" name="shot2" descr="C:\Users\Pc\Desktop\Galti pakar\deck\img\scorecard.png">    </p:cNvPr>
          <p:cNvPicPr>
            <a:picLocks noChangeAspect="1"/>
          </p:cNvPicPr>
          <p:nvPr/>
        </p:nvPicPr>
        <p:blipFill>
          <a:blip r:embed="rId2"/>
          <a:stretch>
            <a:fillRect/>
          </a:stretch>
        </p:blipFill>
        <p:spPr>
          <a:xfrm>
            <a:off x="6455664" y="2843784"/>
            <a:ext cx="5038344" cy="959003"/>
          </a:xfrm>
          <a:prstGeom prst="rect">
            <a:avLst/>
          </a:prstGeom>
        </p:spPr>
      </p:pic>
      <p:sp>
        <p:nvSpPr>
          <p:cNvPr id="22" name="lab3"/>
          <p:cNvSpPr/>
          <p:nvPr/>
        </p:nvSpPr>
        <p:spPr>
          <a:xfrm>
            <a:off x="6400800" y="3950208"/>
            <a:ext cx="4572000" cy="274320"/>
          </a:xfrm>
          <a:prstGeom prst="rect">
            <a:avLst/>
          </a:prstGeom>
          <a:noFill/>
          <a:ln/>
        </p:spPr>
        <p:txBody>
          <a:bodyPr wrap="square" lIns="0" tIns="0" rIns="0" bIns="0" rtlCol="0" anchor="t"/>
          <a:lstStyle/>
          <a:p>
            <a:pPr algn="l" indent="0" marL="0">
              <a:buNone/>
            </a:pPr>
            <a:r>
              <a:rPr lang="en-US" sz="1050" b="1" spc="150" kern="0" dirty="0">
                <a:solidFill>
                  <a:srgbClr val="0F766E"/>
                </a:solidFill>
                <a:latin typeface="Consolas" pitchFamily="34" charset="0"/>
                <a:ea typeface="Consolas" pitchFamily="34" charset="-122"/>
                <a:cs typeface="Consolas" pitchFamily="34" charset="-120"/>
              </a:rPr>
              <a:t>WHAT TO FIX</a:t>
            </a:r>
            <a:endParaRPr lang="en-US" sz="1050" dirty="0"/>
          </a:p>
        </p:txBody>
      </p:sp>
      <p:sp>
        <p:nvSpPr>
          <p:cNvPr id="23" name="shot3-bg"/>
          <p:cNvSpPr/>
          <p:nvPr/>
        </p:nvSpPr>
        <p:spPr>
          <a:xfrm>
            <a:off x="6400800" y="4206240"/>
            <a:ext cx="5148072" cy="1607872"/>
          </a:xfrm>
          <a:prstGeom prst="roundRect">
            <a:avLst>
              <a:gd name="adj" fmla="val 4550"/>
            </a:avLst>
          </a:prstGeom>
          <a:solidFill>
            <a:srgbClr val="FFFFFF"/>
          </a:solidFill>
          <a:ln w="12700">
            <a:solidFill>
              <a:srgbClr val="D3E0DC"/>
            </a:solidFill>
          </a:ln>
          <a:effectLst>
            <a:outerShdw sx="100000" sy="100000" kx="0" ky="0" algn="bl" rotWithShape="0" blurRad="152400" dist="38100" dir="5400000">
              <a:srgbClr val="0C1F1C">
                <a:alpha val="12000"/>
              </a:srgbClr>
            </a:outerShdw>
          </a:effectLst>
        </p:spPr>
        <p:txBody>
          <a:bodyPr wrap="square" lIns="0" tIns="0" rIns="0" bIns="0" rtlCol="0" anchor="ctr"/>
          <a:lstStyle/>
          <a:p>
            <a:pPr indent="0" marL="0">
              <a:buNone/>
            </a:pPr>
            <a:endParaRPr lang="en-US" sz="1200" dirty="0"/>
          </a:p>
        </p:txBody>
      </p:sp>
      <p:pic>
        <p:nvPicPr>
          <p:cNvPr id="24" name="shot3" descr="C:\Users\Pc\Desktop\Galti pakar\deck\img\before-after.png">    </p:cNvPr>
          <p:cNvPicPr>
            <a:picLocks noChangeAspect="1"/>
          </p:cNvPicPr>
          <p:nvPr/>
        </p:nvPicPr>
        <p:blipFill>
          <a:blip r:embed="rId3"/>
          <a:stretch>
            <a:fillRect/>
          </a:stretch>
        </p:blipFill>
        <p:spPr>
          <a:xfrm>
            <a:off x="6455664" y="4261104"/>
            <a:ext cx="5038344" cy="1498144"/>
          </a:xfrm>
          <a:prstGeom prst="rect">
            <a:avLst/>
          </a:prstGeom>
        </p:spPr>
      </p:pic>
      <p:sp>
        <p:nvSpPr>
          <p:cNvPr id="25" name="shot-note"/>
          <p:cNvSpPr/>
          <p:nvPr/>
        </p:nvSpPr>
        <p:spPr>
          <a:xfrm>
            <a:off x="640080" y="5650992"/>
            <a:ext cx="5486400" cy="640080"/>
          </a:xfrm>
          <a:prstGeom prst="rect">
            <a:avLst/>
          </a:prstGeom>
          <a:noFill/>
          <a:ln/>
        </p:spPr>
        <p:txBody>
          <a:bodyPr wrap="square" lIns="0" tIns="0" rIns="0" bIns="0" rtlCol="0" anchor="t"/>
          <a:lstStyle/>
          <a:p>
            <a:pPr algn="l" indent="0" marL="0">
              <a:buNone/>
            </a:pPr>
            <a:r>
              <a:rPr lang="en-US" sz="1050" dirty="0">
                <a:solidFill>
                  <a:srgbClr val="586C68"/>
                </a:solidFill>
                <a:latin typeface="Segoe UI" pitchFamily="34" charset="0"/>
                <a:ea typeface="Segoe UI" pitchFamily="34" charset="-122"/>
                <a:cs typeface="Segoe UI" pitchFamily="34" charset="-120"/>
              </a:rPr>
              <a:t>Real screenshots of the running app, using the built-in example report (sample data, labelled as such in the app).</a:t>
            </a:r>
            <a:endParaRPr lang="en-US" sz="105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50"/>
                                  </p:stCondLst>
                                  <p:childTnLst>
                                    <p:set>
                                      <p:cBhvr>
                                        <p:cTn id="6" dur="1" fill="hold">
                                          <p:stCondLst>
                                            <p:cond delay="0"/>
                                          </p:stCondLst>
                                        </p:cTn>
                                        <p:tgtEl>
                                          <p:spTgt spid="3"/>
                                        </p:tgtEl>
                                        <p:attrNameLst>
                                          <p:attrName>style.visibility</p:attrName>
                                        </p:attrNameLst>
                                      </p:cBhvr>
                                      <p:to>
                                        <p:strVal val="visible"/>
                                      </p:to>
                                    </p:set>
                                    <p:anim calcmode="lin" valueType="num">
                                      <p:cBhvr>
                                        <p:cTn id="7" dur="600" fill="hold"/>
                                        <p:tgtEl>
                                          <p:spTgt spid="3"/>
                                        </p:tgtEl>
                                        <p:attrNameLst>
                                          <p:attrName>ppt_y</p:attrName>
                                        </p:attrNameLst>
                                      </p:cBhvr>
                                      <p:tavLst>
                                        <p:tav tm="0">
                                          <p:val>
                                            <p:strVal val="#ppt_y+.06"/>
                                          </p:val>
                                        </p:tav>
                                        <p:tav tm="100000">
                                          <p:val>
                                            <p:strVal val="#ppt_y"/>
                                          </p:val>
                                        </p:tav>
                                      </p:tavLst>
                                    </p:anim>
                                    <p:animEffect transition="in" filter="fade">
                                      <p:cBhvr>
                                        <p:cTn id="8" dur="600"/>
                                        <p:tgtEl>
                                          <p:spTgt spid="3"/>
                                        </p:tgtEl>
                                      </p:cBhvr>
                                    </p:animEffect>
                                  </p:childTnLst>
                                </p:cTn>
                              </p:par>
                              <p:par>
                                <p:cTn id="9" presetID="22" presetClass="entr" presetSubtype="8" fill="hold" nodeType="with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450"/>
                                        <p:tgtEl>
                                          <p:spTgt spid="7"/>
                                        </p:tgtEl>
                                      </p:cBhvr>
                                    </p:animEffect>
                                  </p:childTnLst>
                                </p:cTn>
                              </p:par>
                              <p:par>
                                <p:cTn id="12" presetID="10" presetClass="entr" presetSubtype="0" fill="hold" nodeType="withEffect">
                                  <p:stCondLst>
                                    <p:cond delay="80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00"/>
                                        <p:tgtEl>
                                          <p:spTgt spid="8"/>
                                        </p:tgtEl>
                                      </p:cBhvr>
                                    </p:animEffect>
                                  </p:childTnLst>
                                </p:cTn>
                              </p:par>
                              <p:par>
                                <p:cTn id="15" presetID="22" presetClass="entr" presetSubtype="8" fill="hold" nodeType="withEffect">
                                  <p:stCondLst>
                                    <p:cond delay="92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450"/>
                                        <p:tgtEl>
                                          <p:spTgt spid="9"/>
                                        </p:tgtEl>
                                      </p:cBhvr>
                                    </p:animEffect>
                                  </p:childTnLst>
                                </p:cTn>
                              </p:par>
                              <p:par>
                                <p:cTn id="18" presetID="10" presetClass="entr" presetSubtype="0" fill="hold" nodeType="withEffect">
                                  <p:stCondLst>
                                    <p:cond delay="122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300"/>
                                        <p:tgtEl>
                                          <p:spTgt spid="10"/>
                                        </p:tgtEl>
                                      </p:cBhvr>
                                    </p:animEffect>
                                  </p:childTnLst>
                                </p:cTn>
                              </p:par>
                              <p:par>
                                <p:cTn id="21" presetID="22" presetClass="entr" presetSubtype="8" fill="hold" nodeType="withEffect">
                                  <p:stCondLst>
                                    <p:cond delay="134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450"/>
                                        <p:tgtEl>
                                          <p:spTgt spid="11"/>
                                        </p:tgtEl>
                                      </p:cBhvr>
                                    </p:animEffect>
                                  </p:childTnLst>
                                </p:cTn>
                              </p:par>
                              <p:par>
                                <p:cTn id="24" presetID="10" presetClass="entr" presetSubtype="0" fill="hold" nodeType="withEffect">
                                  <p:stCondLst>
                                    <p:cond delay="164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300"/>
                                        <p:tgtEl>
                                          <p:spTgt spid="12"/>
                                        </p:tgtEl>
                                      </p:cBhvr>
                                    </p:animEffect>
                                  </p:childTnLst>
                                </p:cTn>
                              </p:par>
                              <p:par>
                                <p:cTn id="27" presetID="22" presetClass="entr" presetSubtype="8" fill="hold" nodeType="withEffect">
                                  <p:stCondLst>
                                    <p:cond delay="1760"/>
                                  </p:stCondLst>
                                  <p:childTnLst>
                                    <p:set>
                                      <p:cBhvr>
                                        <p:cTn id="28" dur="1" fill="hold">
                                          <p:stCondLst>
                                            <p:cond delay="0"/>
                                          </p:stCondLst>
                                        </p:cTn>
                                        <p:tgtEl>
                                          <p:spTgt spid="13"/>
                                        </p:tgtEl>
                                        <p:attrNameLst>
                                          <p:attrName>style.visibility</p:attrName>
                                        </p:attrNameLst>
                                      </p:cBhvr>
                                      <p:to>
                                        <p:strVal val="visible"/>
                                      </p:to>
                                    </p:set>
                                    <p:animEffect transition="in" filter="wipe(left)">
                                      <p:cBhvr>
                                        <p:cTn id="29" dur="450"/>
                                        <p:tgtEl>
                                          <p:spTgt spid="13"/>
                                        </p:tgtEl>
                                      </p:cBhvr>
                                    </p:animEffect>
                                  </p:childTnLst>
                                </p:cTn>
                              </p:par>
                              <p:par>
                                <p:cTn id="30" presetID="10" presetClass="entr" presetSubtype="0" fill="hold" nodeType="withEffect">
                                  <p:stCondLst>
                                    <p:cond delay="206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300"/>
                                        <p:tgtEl>
                                          <p:spTgt spid="14"/>
                                        </p:tgtEl>
                                      </p:cBhvr>
                                    </p:animEffect>
                                  </p:childTnLst>
                                </p:cTn>
                              </p:par>
                              <p:par>
                                <p:cTn id="33" presetID="22" presetClass="entr" presetSubtype="8" fill="hold" nodeType="withEffect">
                                  <p:stCondLst>
                                    <p:cond delay="2180"/>
                                  </p:stCondLst>
                                  <p:childTnLst>
                                    <p:set>
                                      <p:cBhvr>
                                        <p:cTn id="34" dur="1" fill="hold">
                                          <p:stCondLst>
                                            <p:cond delay="0"/>
                                          </p:stCondLst>
                                        </p:cTn>
                                        <p:tgtEl>
                                          <p:spTgt spid="15"/>
                                        </p:tgtEl>
                                        <p:attrNameLst>
                                          <p:attrName>style.visibility</p:attrName>
                                        </p:attrNameLst>
                                      </p:cBhvr>
                                      <p:to>
                                        <p:strVal val="visible"/>
                                      </p:to>
                                    </p:set>
                                    <p:animEffect transition="in" filter="wipe(left)">
                                      <p:cBhvr>
                                        <p:cTn id="35" dur="450"/>
                                        <p:tgtEl>
                                          <p:spTgt spid="15"/>
                                        </p:tgtEl>
                                      </p:cBhvr>
                                    </p:animEffect>
                                  </p:childTnLst>
                                </p:cTn>
                              </p:par>
                              <p:par>
                                <p:cTn id="36" presetID="10" presetClass="entr" presetSubtype="0" fill="hold" nodeType="withEffect">
                                  <p:stCondLst>
                                    <p:cond delay="230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00"/>
                                        <p:tgtEl>
                                          <p:spTgt spid="16"/>
                                        </p:tgtEl>
                                      </p:cBhvr>
                                    </p:animEffect>
                                  </p:childTnLst>
                                </p:cTn>
                              </p:par>
                              <p:par>
                                <p:cTn id="39" presetID="42" presetClass="entr" presetSubtype="0" fill="hold" nodeType="withEffect">
                                  <p:stCondLst>
                                    <p:cond delay="2300"/>
                                  </p:stCondLst>
                                  <p:childTnLst>
                                    <p:set>
                                      <p:cBhvr>
                                        <p:cTn id="40" dur="1" fill="hold">
                                          <p:stCondLst>
                                            <p:cond delay="0"/>
                                          </p:stCondLst>
                                        </p:cTn>
                                        <p:tgtEl>
                                          <p:spTgt spid="17"/>
                                        </p:tgtEl>
                                        <p:attrNameLst>
                                          <p:attrName>style.visibility</p:attrName>
                                        </p:attrNameLst>
                                      </p:cBhvr>
                                      <p:to>
                                        <p:strVal val="visible"/>
                                      </p:to>
                                    </p:set>
                                    <p:anim calcmode="lin" valueType="num">
                                      <p:cBhvr>
                                        <p:cTn id="41" dur="700" fill="hold"/>
                                        <p:tgtEl>
                                          <p:spTgt spid="17"/>
                                        </p:tgtEl>
                                        <p:attrNameLst>
                                          <p:attrName>ppt_y</p:attrName>
                                        </p:attrNameLst>
                                      </p:cBhvr>
                                      <p:tavLst>
                                        <p:tav tm="0">
                                          <p:val>
                                            <p:strVal val="#ppt_y+.06"/>
                                          </p:val>
                                        </p:tav>
                                        <p:tav tm="100000">
                                          <p:val>
                                            <p:strVal val="#ppt_y"/>
                                          </p:val>
                                        </p:tav>
                                      </p:tavLst>
                                    </p:anim>
                                    <p:animEffect transition="in" filter="fade">
                                      <p:cBhvr>
                                        <p:cTn id="42" dur="700"/>
                                        <p:tgtEl>
                                          <p:spTgt spid="17"/>
                                        </p:tgtEl>
                                      </p:cBhvr>
                                    </p:animEffect>
                                  </p:childTnLst>
                                </p:cTn>
                              </p:par>
                              <p:par>
                                <p:cTn id="43" presetID="42" presetClass="entr" presetSubtype="0" fill="hold" nodeType="withEffect">
                                  <p:stCondLst>
                                    <p:cond delay="2300"/>
                                  </p:stCondLst>
                                  <p:childTnLst>
                                    <p:set>
                                      <p:cBhvr>
                                        <p:cTn id="44" dur="1" fill="hold">
                                          <p:stCondLst>
                                            <p:cond delay="0"/>
                                          </p:stCondLst>
                                        </p:cTn>
                                        <p:tgtEl>
                                          <p:spTgt spid="18"/>
                                        </p:tgtEl>
                                        <p:attrNameLst>
                                          <p:attrName>style.visibility</p:attrName>
                                        </p:attrNameLst>
                                      </p:cBhvr>
                                      <p:to>
                                        <p:strVal val="visible"/>
                                      </p:to>
                                    </p:set>
                                    <p:anim calcmode="lin" valueType="num">
                                      <p:cBhvr>
                                        <p:cTn id="45" dur="700" fill="hold"/>
                                        <p:tgtEl>
                                          <p:spTgt spid="18"/>
                                        </p:tgtEl>
                                        <p:attrNameLst>
                                          <p:attrName>ppt_y</p:attrName>
                                        </p:attrNameLst>
                                      </p:cBhvr>
                                      <p:tavLst>
                                        <p:tav tm="0">
                                          <p:val>
                                            <p:strVal val="#ppt_y+.06"/>
                                          </p:val>
                                        </p:tav>
                                        <p:tav tm="100000">
                                          <p:val>
                                            <p:strVal val="#ppt_y"/>
                                          </p:val>
                                        </p:tav>
                                      </p:tavLst>
                                    </p:anim>
                                    <p:animEffect transition="in" filter="fade">
                                      <p:cBhvr>
                                        <p:cTn id="46" dur="700"/>
                                        <p:tgtEl>
                                          <p:spTgt spid="18"/>
                                        </p:tgtEl>
                                      </p:cBhvr>
                                    </p:animEffect>
                                  </p:childTnLst>
                                </p:cTn>
                              </p:par>
                              <p:par>
                                <p:cTn id="47" presetID="10" presetClass="entr" presetSubtype="0" fill="hold" nodeType="withEffect">
                                  <p:stCondLst>
                                    <p:cond delay="300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par>
                                <p:cTn id="50" presetID="42" presetClass="entr" presetSubtype="0" fill="hold" nodeType="withEffect">
                                  <p:stCondLst>
                                    <p:cond delay="3000"/>
                                  </p:stCondLst>
                                  <p:childTnLst>
                                    <p:set>
                                      <p:cBhvr>
                                        <p:cTn id="51" dur="1" fill="hold">
                                          <p:stCondLst>
                                            <p:cond delay="0"/>
                                          </p:stCondLst>
                                        </p:cTn>
                                        <p:tgtEl>
                                          <p:spTgt spid="20"/>
                                        </p:tgtEl>
                                        <p:attrNameLst>
                                          <p:attrName>style.visibility</p:attrName>
                                        </p:attrNameLst>
                                      </p:cBhvr>
                                      <p:to>
                                        <p:strVal val="visible"/>
                                      </p:to>
                                    </p:set>
                                    <p:anim calcmode="lin" valueType="num">
                                      <p:cBhvr>
                                        <p:cTn id="52" dur="700" fill="hold"/>
                                        <p:tgtEl>
                                          <p:spTgt spid="20"/>
                                        </p:tgtEl>
                                        <p:attrNameLst>
                                          <p:attrName>ppt_y</p:attrName>
                                        </p:attrNameLst>
                                      </p:cBhvr>
                                      <p:tavLst>
                                        <p:tav tm="0">
                                          <p:val>
                                            <p:strVal val="#ppt_y+.06"/>
                                          </p:val>
                                        </p:tav>
                                        <p:tav tm="100000">
                                          <p:val>
                                            <p:strVal val="#ppt_y"/>
                                          </p:val>
                                        </p:tav>
                                      </p:tavLst>
                                    </p:anim>
                                    <p:animEffect transition="in" filter="fade">
                                      <p:cBhvr>
                                        <p:cTn id="53" dur="700"/>
                                        <p:tgtEl>
                                          <p:spTgt spid="20"/>
                                        </p:tgtEl>
                                      </p:cBhvr>
                                    </p:animEffect>
                                  </p:childTnLst>
                                </p:cTn>
                              </p:par>
                              <p:par>
                                <p:cTn id="54" presetID="42" presetClass="entr" presetSubtype="0" fill="hold" nodeType="withEffect">
                                  <p:stCondLst>
                                    <p:cond delay="3000"/>
                                  </p:stCondLst>
                                  <p:childTnLst>
                                    <p:set>
                                      <p:cBhvr>
                                        <p:cTn id="55" dur="1" fill="hold">
                                          <p:stCondLst>
                                            <p:cond delay="0"/>
                                          </p:stCondLst>
                                        </p:cTn>
                                        <p:tgtEl>
                                          <p:spTgt spid="21"/>
                                        </p:tgtEl>
                                        <p:attrNameLst>
                                          <p:attrName>style.visibility</p:attrName>
                                        </p:attrNameLst>
                                      </p:cBhvr>
                                      <p:to>
                                        <p:strVal val="visible"/>
                                      </p:to>
                                    </p:set>
                                    <p:anim calcmode="lin" valueType="num">
                                      <p:cBhvr>
                                        <p:cTn id="56" dur="700" fill="hold"/>
                                        <p:tgtEl>
                                          <p:spTgt spid="21"/>
                                        </p:tgtEl>
                                        <p:attrNameLst>
                                          <p:attrName>ppt_y</p:attrName>
                                        </p:attrNameLst>
                                      </p:cBhvr>
                                      <p:tavLst>
                                        <p:tav tm="0">
                                          <p:val>
                                            <p:strVal val="#ppt_y+.06"/>
                                          </p:val>
                                        </p:tav>
                                        <p:tav tm="100000">
                                          <p:val>
                                            <p:strVal val="#ppt_y"/>
                                          </p:val>
                                        </p:tav>
                                      </p:tavLst>
                                    </p:anim>
                                    <p:animEffect transition="in" filter="fade">
                                      <p:cBhvr>
                                        <p:cTn id="57" dur="700"/>
                                        <p:tgtEl>
                                          <p:spTgt spid="21"/>
                                        </p:tgtEl>
                                      </p:cBhvr>
                                    </p:animEffect>
                                  </p:childTnLst>
                                </p:cTn>
                              </p:par>
                              <p:par>
                                <p:cTn id="58" presetID="26" presetClass="emph" presetSubtype="0" fill="hold" nodeType="withEffect">
                                  <p:stCondLst>
                                    <p:cond delay="3200"/>
                                  </p:stCondLst>
                                  <p:childTnLst>
                                    <p:animScale>
                                      <p:cBhvr>
                                        <p:cTn id="59" dur="450" autoRev="1" fill="hold"/>
                                        <p:tgtEl>
                                          <p:spTgt spid="11"/>
                                        </p:tgtEl>
                                      </p:cBhvr>
                                      <p:by x="106000" y="106000"/>
                                    </p:animScale>
                                  </p:childTnLst>
                                </p:cTn>
                              </p:par>
                              <p:par>
                                <p:cTn id="60" presetID="10" presetClass="entr" presetSubtype="0" fill="hold" nodeType="withEffect">
                                  <p:stCondLst>
                                    <p:cond delay="370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00"/>
                                        <p:tgtEl>
                                          <p:spTgt spid="22"/>
                                        </p:tgtEl>
                                      </p:cBhvr>
                                    </p:animEffect>
                                  </p:childTnLst>
                                </p:cTn>
                              </p:par>
                              <p:par>
                                <p:cTn id="63" presetID="42" presetClass="entr" presetSubtype="0" fill="hold" nodeType="withEffect">
                                  <p:stCondLst>
                                    <p:cond delay="3700"/>
                                  </p:stCondLst>
                                  <p:childTnLst>
                                    <p:set>
                                      <p:cBhvr>
                                        <p:cTn id="64" dur="1" fill="hold">
                                          <p:stCondLst>
                                            <p:cond delay="0"/>
                                          </p:stCondLst>
                                        </p:cTn>
                                        <p:tgtEl>
                                          <p:spTgt spid="23"/>
                                        </p:tgtEl>
                                        <p:attrNameLst>
                                          <p:attrName>style.visibility</p:attrName>
                                        </p:attrNameLst>
                                      </p:cBhvr>
                                      <p:to>
                                        <p:strVal val="visible"/>
                                      </p:to>
                                    </p:set>
                                    <p:anim calcmode="lin" valueType="num">
                                      <p:cBhvr>
                                        <p:cTn id="65" dur="700" fill="hold"/>
                                        <p:tgtEl>
                                          <p:spTgt spid="23"/>
                                        </p:tgtEl>
                                        <p:attrNameLst>
                                          <p:attrName>ppt_y</p:attrName>
                                        </p:attrNameLst>
                                      </p:cBhvr>
                                      <p:tavLst>
                                        <p:tav tm="0">
                                          <p:val>
                                            <p:strVal val="#ppt_y+.06"/>
                                          </p:val>
                                        </p:tav>
                                        <p:tav tm="100000">
                                          <p:val>
                                            <p:strVal val="#ppt_y"/>
                                          </p:val>
                                        </p:tav>
                                      </p:tavLst>
                                    </p:anim>
                                    <p:animEffect transition="in" filter="fade">
                                      <p:cBhvr>
                                        <p:cTn id="66" dur="700"/>
                                        <p:tgtEl>
                                          <p:spTgt spid="23"/>
                                        </p:tgtEl>
                                      </p:cBhvr>
                                    </p:animEffect>
                                  </p:childTnLst>
                                </p:cTn>
                              </p:par>
                              <p:par>
                                <p:cTn id="67" presetID="42" presetClass="entr" presetSubtype="0" fill="hold" nodeType="withEffect">
                                  <p:stCondLst>
                                    <p:cond delay="3700"/>
                                  </p:stCondLst>
                                  <p:childTnLst>
                                    <p:set>
                                      <p:cBhvr>
                                        <p:cTn id="68" dur="1" fill="hold">
                                          <p:stCondLst>
                                            <p:cond delay="0"/>
                                          </p:stCondLst>
                                        </p:cTn>
                                        <p:tgtEl>
                                          <p:spTgt spid="24"/>
                                        </p:tgtEl>
                                        <p:attrNameLst>
                                          <p:attrName>style.visibility</p:attrName>
                                        </p:attrNameLst>
                                      </p:cBhvr>
                                      <p:to>
                                        <p:strVal val="visible"/>
                                      </p:to>
                                    </p:set>
                                    <p:anim calcmode="lin" valueType="num">
                                      <p:cBhvr>
                                        <p:cTn id="69" dur="700" fill="hold"/>
                                        <p:tgtEl>
                                          <p:spTgt spid="24"/>
                                        </p:tgtEl>
                                        <p:attrNameLst>
                                          <p:attrName>ppt_y</p:attrName>
                                        </p:attrNameLst>
                                      </p:cBhvr>
                                      <p:tavLst>
                                        <p:tav tm="0">
                                          <p:val>
                                            <p:strVal val="#ppt_y+.06"/>
                                          </p:val>
                                        </p:tav>
                                        <p:tav tm="100000">
                                          <p:val>
                                            <p:strVal val="#ppt_y"/>
                                          </p:val>
                                        </p:tav>
                                      </p:tavLst>
                                    </p:anim>
                                    <p:animEffect transition="in" filter="fade">
                                      <p:cBhvr>
                                        <p:cTn id="70" dur="700"/>
                                        <p:tgtEl>
                                          <p:spTgt spid="24"/>
                                        </p:tgtEl>
                                      </p:cBhvr>
                                    </p:animEffect>
                                  </p:childTnLst>
                                </p:cTn>
                              </p:par>
                              <p:par>
                                <p:cTn id="71" presetID="10" presetClass="entr" presetSubtype="0" fill="hold" nodeType="withEffect">
                                  <p:stCondLst>
                                    <p:cond delay="450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6"/>
        </a:solidFill>
      </p:bgPr>
    </p:bg>
    <p:spTree>
      <p:nvGrpSpPr>
        <p:cNvPr id="1" name=""/>
        <p:cNvGrpSpPr/>
        <p:nvPr/>
      </p:nvGrpSpPr>
      <p:grpSpPr>
        <a:xfrm>
          <a:off x="0" y="0"/>
          <a:ext cx="0" cy="0"/>
          <a:chOff x="0" y="0"/>
          <a:chExt cx="0" cy="0"/>
        </a:xfrm>
      </p:grpSpPr>
      <p:sp>
        <p:nvSpPr>
          <p:cNvPr id="2" name="kicker"/>
          <p:cNvSpPr/>
          <p:nvPr/>
        </p:nvSpPr>
        <p:spPr>
          <a:xfrm>
            <a:off x="640080" y="457200"/>
            <a:ext cx="8229600" cy="274320"/>
          </a:xfrm>
          <a:prstGeom prst="rect">
            <a:avLst/>
          </a:prstGeom>
          <a:noFill/>
          <a:ln/>
        </p:spPr>
        <p:txBody>
          <a:bodyPr wrap="square" lIns="0" tIns="0" rIns="0" bIns="0" rtlCol="0" anchor="t"/>
          <a:lstStyle/>
          <a:p>
            <a:pPr algn="l" indent="0" marL="0">
              <a:buNone/>
            </a:pPr>
            <a:r>
              <a:rPr lang="en-US" sz="1050" b="1" spc="150" kern="0" dirty="0">
                <a:solidFill>
                  <a:srgbClr val="0F766E"/>
                </a:solidFill>
                <a:latin typeface="Consolas" pitchFamily="34" charset="0"/>
                <a:ea typeface="Consolas" pitchFamily="34" charset="-122"/>
                <a:cs typeface="Consolas" pitchFamily="34" charset="-120"/>
              </a:rPr>
              <a:t>HOW THE AI IS INTEGRATED</a:t>
            </a:r>
            <a:endParaRPr lang="en-US" sz="1050" dirty="0"/>
          </a:p>
        </p:txBody>
      </p:sp>
      <p:sp>
        <p:nvSpPr>
          <p:cNvPr id="3" name="title"/>
          <p:cNvSpPr/>
          <p:nvPr/>
        </p:nvSpPr>
        <p:spPr>
          <a:xfrm>
            <a:off x="640080" y="749808"/>
            <a:ext cx="10881360" cy="822960"/>
          </a:xfrm>
          <a:prstGeom prst="rect">
            <a:avLst/>
          </a:prstGeom>
          <a:noFill/>
          <a:ln/>
        </p:spPr>
        <p:txBody>
          <a:bodyPr wrap="square" lIns="0" tIns="0" rIns="0" bIns="0" rtlCol="0" anchor="t"/>
          <a:lstStyle/>
          <a:p>
            <a:pPr algn="l" indent="0" marL="0">
              <a:buNone/>
            </a:pPr>
            <a:r>
              <a:rPr lang="en-US" sz="3400" dirty="0">
                <a:solidFill>
                  <a:srgbClr val="0C1F1C"/>
                </a:solidFill>
                <a:latin typeface="Segoe UI Semibold" pitchFamily="34" charset="0"/>
                <a:ea typeface="Segoe UI Semibold" pitchFamily="34" charset="-122"/>
                <a:cs typeface="Segoe UI Semibold" pitchFamily="34" charset="-120"/>
              </a:rPr>
              <a:t>Six AI steps. </a:t>
            </a:r>
            <a:pPr algn="l" indent="0" marL="0">
              <a:buNone/>
            </a:pPr>
            <a:r>
              <a:rPr lang="en-US" sz="3400" dirty="0">
                <a:solidFill>
                  <a:srgbClr val="0F766E"/>
                </a:solidFill>
                <a:latin typeface="Segoe UI Semibold" pitchFamily="34" charset="0"/>
                <a:ea typeface="Segoe UI Semibold" pitchFamily="34" charset="-122"/>
                <a:cs typeface="Segoe UI Semibold" pitchFamily="34" charset="-120"/>
              </a:rPr>
              <a:t>Every answer checked by code.</a:t>
            </a:r>
            <a:endParaRPr lang="en-US" sz="3400" dirty="0"/>
          </a:p>
        </p:txBody>
      </p:sp>
      <p:sp>
        <p:nvSpPr>
          <p:cNvPr id="4" name="foot-rule"/>
          <p:cNvSpPr/>
          <p:nvPr/>
        </p:nvSpPr>
        <p:spPr>
          <a:xfrm>
            <a:off x="640080" y="6400800"/>
            <a:ext cx="10911535" cy="0"/>
          </a:xfrm>
          <a:prstGeom prst="line">
            <a:avLst/>
          </a:prstGeom>
          <a:noFill/>
          <a:ln w="9525">
            <a:solidFill>
              <a:srgbClr val="D3E0DC"/>
            </a:solidFill>
            <a:prstDash val="solid"/>
          </a:ln>
        </p:spPr>
      </p:sp>
      <p:sp>
        <p:nvSpPr>
          <p:cNvPr id="5" name="foot-l"/>
          <p:cNvSpPr/>
          <p:nvPr/>
        </p:nvSpPr>
        <p:spPr>
          <a:xfrm>
            <a:off x="640080" y="6473952"/>
            <a:ext cx="7315200" cy="228600"/>
          </a:xfrm>
          <a:prstGeom prst="rect">
            <a:avLst/>
          </a:prstGeom>
          <a:noFill/>
          <a:ln/>
        </p:spPr>
        <p:txBody>
          <a:bodyPr wrap="square" lIns="0" tIns="0" rIns="0" bIns="0" rtlCol="0" anchor="t"/>
          <a:lstStyle/>
          <a:p>
            <a:pPr algn="l" indent="0" marL="0">
              <a:buNone/>
            </a:pPr>
            <a:r>
              <a:rPr lang="en-US" sz="850" spc="100" kern="0" dirty="0">
                <a:solidFill>
                  <a:srgbClr val="8DA09C"/>
                </a:solidFill>
                <a:latin typeface="Consolas" pitchFamily="34" charset="0"/>
                <a:ea typeface="Consolas" pitchFamily="34" charset="-122"/>
                <a:cs typeface="Consolas" pitchFamily="34" charset="-120"/>
              </a:rPr>
              <a:t>GALTI PAKAR  ·  AICON'26 BUILD WITH AI  ·  EDTECH &amp; WORKFORCE</a:t>
            </a:r>
            <a:endParaRPr lang="en-US" sz="850" dirty="0"/>
          </a:p>
        </p:txBody>
      </p:sp>
      <p:sp>
        <p:nvSpPr>
          <p:cNvPr id="6" name="foot-r"/>
          <p:cNvSpPr/>
          <p:nvPr/>
        </p:nvSpPr>
        <p:spPr>
          <a:xfrm>
            <a:off x="9722815" y="6473952"/>
            <a:ext cx="1828800" cy="228600"/>
          </a:xfrm>
          <a:prstGeom prst="rect">
            <a:avLst/>
          </a:prstGeom>
          <a:noFill/>
          <a:ln/>
        </p:spPr>
        <p:txBody>
          <a:bodyPr wrap="square" lIns="0" tIns="0" rIns="0" bIns="0" rtlCol="0" anchor="t"/>
          <a:lstStyle/>
          <a:p>
            <a:pPr algn="r" indent="0" marL="0">
              <a:buNone/>
            </a:pPr>
            <a:r>
              <a:rPr lang="en-US" sz="850" spc="100" kern="0" dirty="0">
                <a:solidFill>
                  <a:srgbClr val="8DA09C"/>
                </a:solidFill>
                <a:latin typeface="Consolas" pitchFamily="34" charset="0"/>
                <a:ea typeface="Consolas" pitchFamily="34" charset="-122"/>
                <a:cs typeface="Consolas" pitchFamily="34" charset="-120"/>
              </a:rPr>
              <a:t>3 / 5</a:t>
            </a:r>
            <a:endParaRPr lang="en-US" sz="850" dirty="0"/>
          </a:p>
        </p:txBody>
      </p:sp>
      <p:sp>
        <p:nvSpPr>
          <p:cNvPr id="7" name="lane-ai"/>
          <p:cNvSpPr/>
          <p:nvPr/>
        </p:nvSpPr>
        <p:spPr>
          <a:xfrm>
            <a:off x="640080" y="1783080"/>
            <a:ext cx="10927080" cy="2148840"/>
          </a:xfrm>
          <a:prstGeom prst="roundRect">
            <a:avLst>
              <a:gd name="adj" fmla="val 5957"/>
            </a:avLst>
          </a:prstGeom>
          <a:solidFill>
            <a:srgbClr val="DDF1ED"/>
          </a:solidFill>
          <a:ln/>
        </p:spPr>
        <p:txBody>
          <a:bodyPr wrap="square" rtlCol="0" anchor="ctr"/>
          <a:lstStyle/>
          <a:p>
            <a:pPr indent="0" marL="0">
              <a:buNone/>
            </a:pPr>
            <a:endParaRPr lang="en-US" sz="1200" dirty="0"/>
          </a:p>
        </p:txBody>
      </p:sp>
      <p:sp>
        <p:nvSpPr>
          <p:cNvPr id="8" name="lane-code"/>
          <p:cNvSpPr/>
          <p:nvPr/>
        </p:nvSpPr>
        <p:spPr>
          <a:xfrm>
            <a:off x="640080" y="4023360"/>
            <a:ext cx="10927080" cy="1508760"/>
          </a:xfrm>
          <a:prstGeom prst="roundRect">
            <a:avLst>
              <a:gd name="adj" fmla="val 8485"/>
            </a:avLst>
          </a:prstGeom>
          <a:solidFill>
            <a:srgbClr val="FFFFFF"/>
          </a:solidFill>
          <a:ln w="12700">
            <a:solidFill>
              <a:srgbClr val="D3E0DC"/>
            </a:solidFill>
          </a:ln>
        </p:spPr>
        <p:txBody>
          <a:bodyPr wrap="square" rtlCol="0" anchor="ctr"/>
          <a:lstStyle/>
          <a:p>
            <a:pPr indent="0" marL="0">
              <a:buNone/>
            </a:pPr>
            <a:endParaRPr lang="en-US" sz="1200" dirty="0"/>
          </a:p>
        </p:txBody>
      </p:sp>
      <p:sp>
        <p:nvSpPr>
          <p:cNvPr id="9" name="lane-ai-l"/>
          <p:cNvSpPr/>
          <p:nvPr/>
        </p:nvSpPr>
        <p:spPr>
          <a:xfrm>
            <a:off x="822960" y="2240280"/>
            <a:ext cx="914400" cy="914400"/>
          </a:xfrm>
          <a:prstGeom prst="rect">
            <a:avLst/>
          </a:prstGeom>
          <a:noFill/>
          <a:ln/>
        </p:spPr>
        <p:txBody>
          <a:bodyPr wrap="square" lIns="0" tIns="0" rIns="0" bIns="0" rtlCol="0" anchor="t"/>
          <a:lstStyle/>
          <a:p>
            <a:pPr algn="l" indent="0" marL="0">
              <a:buNone/>
            </a:pPr>
            <a:r>
              <a:rPr lang="en-US" sz="2600" dirty="0">
                <a:solidFill>
                  <a:srgbClr val="0F766E"/>
                </a:solidFill>
                <a:latin typeface="Segoe UI Semibold" pitchFamily="34" charset="0"/>
                <a:ea typeface="Segoe UI Semibold" pitchFamily="34" charset="-122"/>
                <a:cs typeface="Segoe UI Semibold" pitchFamily="34" charset="-120"/>
              </a:rPr>
              <a:t>AI</a:t>
            </a:r>
            <a:endParaRPr lang="en-US" sz="2600" dirty="0"/>
          </a:p>
          <a:p>
            <a:pPr algn="l" indent="0" marL="0">
              <a:buNone/>
            </a:pPr>
            <a:r>
              <a:rPr lang="en-US" sz="950" dirty="0">
                <a:solidFill>
                  <a:srgbClr val="0F766E"/>
                </a:solidFill>
                <a:latin typeface="Consolas" pitchFamily="34" charset="0"/>
                <a:ea typeface="Consolas" pitchFamily="34" charset="-122"/>
                <a:cs typeface="Consolas" pitchFamily="34" charset="-120"/>
              </a:rPr>
              <a:t>proposes</a:t>
            </a:r>
            <a:endParaRPr lang="en-US" sz="2600" dirty="0"/>
          </a:p>
        </p:txBody>
      </p:sp>
      <p:sp>
        <p:nvSpPr>
          <p:cNvPr id="10" name="lane-code-l"/>
          <p:cNvSpPr/>
          <p:nvPr/>
        </p:nvSpPr>
        <p:spPr>
          <a:xfrm>
            <a:off x="822960" y="4343400"/>
            <a:ext cx="914400" cy="914400"/>
          </a:xfrm>
          <a:prstGeom prst="rect">
            <a:avLst/>
          </a:prstGeom>
          <a:noFill/>
          <a:ln/>
        </p:spPr>
        <p:txBody>
          <a:bodyPr wrap="square" lIns="0" tIns="0" rIns="0" bIns="0" rtlCol="0" anchor="t"/>
          <a:lstStyle/>
          <a:p>
            <a:pPr algn="l" indent="0" marL="0">
              <a:buNone/>
            </a:pPr>
            <a:r>
              <a:rPr lang="en-US" sz="2200" dirty="0">
                <a:solidFill>
                  <a:srgbClr val="0C1F1C"/>
                </a:solidFill>
                <a:latin typeface="Segoe UI Semibold" pitchFamily="34" charset="0"/>
                <a:ea typeface="Segoe UI Semibold" pitchFamily="34" charset="-122"/>
                <a:cs typeface="Segoe UI Semibold" pitchFamily="34" charset="-120"/>
              </a:rPr>
              <a:t>Code</a:t>
            </a:r>
            <a:endParaRPr lang="en-US" sz="2200" dirty="0"/>
          </a:p>
          <a:p>
            <a:pPr algn="l" indent="0" marL="0">
              <a:buNone/>
            </a:pPr>
            <a:r>
              <a:rPr lang="en-US" sz="950" dirty="0">
                <a:solidFill>
                  <a:srgbClr val="586C68"/>
                </a:solidFill>
                <a:latin typeface="Consolas" pitchFamily="34" charset="0"/>
                <a:ea typeface="Consolas" pitchFamily="34" charset="-122"/>
                <a:cs typeface="Consolas" pitchFamily="34" charset="-120"/>
              </a:rPr>
              <a:t>verifies</a:t>
            </a:r>
            <a:endParaRPr lang="en-US" sz="2200" dirty="0"/>
          </a:p>
        </p:txBody>
      </p:sp>
      <p:sp>
        <p:nvSpPr>
          <p:cNvPr id="11" name="in-label"/>
          <p:cNvSpPr/>
          <p:nvPr/>
        </p:nvSpPr>
        <p:spPr>
          <a:xfrm>
            <a:off x="1783080" y="1444752"/>
            <a:ext cx="2743200" cy="274320"/>
          </a:xfrm>
          <a:prstGeom prst="rect">
            <a:avLst/>
          </a:prstGeom>
          <a:noFill/>
          <a:ln/>
        </p:spPr>
        <p:txBody>
          <a:bodyPr wrap="square" lIns="0" tIns="0" rIns="0" bIns="0" rtlCol="0" anchor="t"/>
          <a:lstStyle/>
          <a:p>
            <a:pPr algn="l" indent="0" marL="0">
              <a:buNone/>
            </a:pPr>
            <a:r>
              <a:rPr lang="en-US" sz="1050" b="1" spc="150" kern="0" dirty="0">
                <a:solidFill>
                  <a:srgbClr val="586C68"/>
                </a:solidFill>
                <a:latin typeface="Consolas" pitchFamily="34" charset="0"/>
                <a:ea typeface="Consolas" pitchFamily="34" charset="-122"/>
                <a:cs typeface="Consolas" pitchFamily="34" charset="-120"/>
              </a:rPr>
              <a:t>PHOTOS + TOPIC  →</a:t>
            </a:r>
            <a:endParaRPr lang="en-US" sz="1050" dirty="0"/>
          </a:p>
        </p:txBody>
      </p:sp>
      <p:sp>
        <p:nvSpPr>
          <p:cNvPr id="12" name="out-label"/>
          <p:cNvSpPr/>
          <p:nvPr/>
        </p:nvSpPr>
        <p:spPr>
          <a:xfrm>
            <a:off x="8808415" y="1444752"/>
            <a:ext cx="2788920" cy="274320"/>
          </a:xfrm>
          <a:prstGeom prst="rect">
            <a:avLst/>
          </a:prstGeom>
          <a:noFill/>
          <a:ln/>
        </p:spPr>
        <p:txBody>
          <a:bodyPr wrap="square" lIns="0" tIns="0" rIns="0" bIns="0" rtlCol="0" anchor="t"/>
          <a:lstStyle/>
          <a:p>
            <a:pPr algn="r" indent="0" marL="0">
              <a:buNone/>
            </a:pPr>
            <a:r>
              <a:rPr lang="en-US" sz="1050" b="1" spc="150" kern="0" dirty="0">
                <a:solidFill>
                  <a:srgbClr val="0F766E"/>
                </a:solidFill>
                <a:latin typeface="Consolas" pitchFamily="34" charset="0"/>
                <a:ea typeface="Consolas" pitchFamily="34" charset="-122"/>
                <a:cs typeface="Consolas" pitchFamily="34" charset="-120"/>
              </a:rPr>
              <a:t>→  REPORT</a:t>
            </a:r>
            <a:endParaRPr lang="en-US" sz="1050" dirty="0"/>
          </a:p>
        </p:txBody>
      </p:sp>
      <p:sp>
        <p:nvSpPr>
          <p:cNvPr id="13" name="ai0"/>
          <p:cNvSpPr/>
          <p:nvPr/>
        </p:nvSpPr>
        <p:spPr>
          <a:xfrm>
            <a:off x="1783080" y="2240280"/>
            <a:ext cx="1444752" cy="1481328"/>
          </a:xfrm>
          <a:prstGeom prst="roundRect">
            <a:avLst>
              <a:gd name="adj" fmla="val 6329"/>
            </a:avLst>
          </a:prstGeom>
          <a:solidFill>
            <a:srgbClr val="FFFFFF"/>
          </a:solidFill>
          <a:ln w="19050">
            <a:solidFill>
              <a:srgbClr val="0F766E"/>
            </a:solidFill>
          </a:ln>
          <a:effectLst>
            <a:outerShdw sx="100000" sy="100000" kx="0" ky="0" algn="bl" rotWithShape="0" blurRad="152400" dist="38100" dir="5400000">
              <a:srgbClr val="0C1F1C">
                <a:alpha val="12000"/>
              </a:srgbClr>
            </a:outerShdw>
          </a:effectLst>
        </p:spPr>
        <p:txBody>
          <a:bodyPr wrap="square" lIns="101600" tIns="101600" rIns="101600" bIns="101600" rtlCol="0" anchor="t"/>
          <a:lstStyle/>
          <a:p>
            <a:pPr indent="0" marL="0">
              <a:buNone/>
            </a:pPr>
            <a:r>
              <a:rPr lang="en-US" sz="1400" dirty="0">
                <a:solidFill>
                  <a:srgbClr val="0C1F1C"/>
                </a:solidFill>
                <a:latin typeface="Segoe UI Semibold" pitchFamily="34" charset="0"/>
                <a:ea typeface="Segoe UI Semibold" pitchFamily="34" charset="-122"/>
                <a:cs typeface="Segoe UI Semibold" pitchFamily="34" charset="-120"/>
              </a:rPr>
              <a:t>1  Read</a:t>
            </a:r>
            <a:endParaRPr lang="en-US" sz="1400" dirty="0"/>
          </a:p>
          <a:p>
            <a:pPr indent="0" marL="0">
              <a:buNone/>
            </a:pPr>
            <a:r>
              <a:rPr lang="en-US" sz="1000" dirty="0">
                <a:solidFill>
                  <a:srgbClr val="586C68"/>
                </a:solidFill>
                <a:latin typeface="Segoe UI" pitchFamily="34" charset="0"/>
                <a:ea typeface="Segoe UI" pitchFamily="34" charset="-122"/>
                <a:cs typeface="Segoe UI" pitchFamily="34" charset="-120"/>
              </a:rPr>
              <a:t>Vision turns photos into paragraphs and flags words it is unsure of.</a:t>
            </a:r>
            <a:endParaRPr lang="en-US" sz="1400" dirty="0"/>
          </a:p>
          <a:p>
            <a:pPr indent="0" marL="0">
              <a:buNone/>
            </a:pPr>
            <a:r>
              <a:rPr lang="en-US" sz="750" b="1" spc="60" kern="0" dirty="0">
                <a:solidFill>
                  <a:srgbClr val="0F766E"/>
                </a:solidFill>
                <a:latin typeface="Consolas" pitchFamily="34" charset="0"/>
                <a:ea typeface="Consolas" pitchFamily="34" charset="-122"/>
                <a:cs typeface="Consolas" pitchFamily="34" charset="-120"/>
              </a:rPr>
              <a:t>gemini-3.6-flash</a:t>
            </a:r>
            <a:endParaRPr lang="en-US" sz="1400" dirty="0"/>
          </a:p>
        </p:txBody>
      </p:sp>
      <p:sp>
        <p:nvSpPr>
          <p:cNvPr id="14" name="flow0"/>
          <p:cNvSpPr/>
          <p:nvPr/>
        </p:nvSpPr>
        <p:spPr>
          <a:xfrm>
            <a:off x="3236976" y="2980944"/>
            <a:ext cx="164592" cy="0"/>
          </a:xfrm>
          <a:prstGeom prst="line">
            <a:avLst/>
          </a:prstGeom>
          <a:noFill/>
          <a:ln w="22225">
            <a:solidFill>
              <a:srgbClr val="0F766E"/>
            </a:solidFill>
            <a:prstDash val="solid"/>
            <a:tailEnd type="triangle"/>
          </a:ln>
        </p:spPr>
      </p:sp>
      <p:sp>
        <p:nvSpPr>
          <p:cNvPr id="15" name="drop0"/>
          <p:cNvSpPr/>
          <p:nvPr/>
        </p:nvSpPr>
        <p:spPr>
          <a:xfrm>
            <a:off x="2505456" y="3739896"/>
            <a:ext cx="0" cy="466344"/>
          </a:xfrm>
          <a:prstGeom prst="line">
            <a:avLst/>
          </a:prstGeom>
          <a:noFill/>
          <a:ln w="15875">
            <a:solidFill>
              <a:srgbClr val="0F766E"/>
            </a:solidFill>
            <a:prstDash val="dash"/>
          </a:ln>
        </p:spPr>
      </p:sp>
      <p:sp>
        <p:nvSpPr>
          <p:cNvPr id="16" name="code0"/>
          <p:cNvSpPr/>
          <p:nvPr/>
        </p:nvSpPr>
        <p:spPr>
          <a:xfrm>
            <a:off x="1783080" y="4224528"/>
            <a:ext cx="1444752" cy="1097280"/>
          </a:xfrm>
          <a:prstGeom prst="roundRect">
            <a:avLst>
              <a:gd name="adj" fmla="val 6667"/>
            </a:avLst>
          </a:prstGeom>
          <a:solidFill>
            <a:srgbClr val="F4F8F6"/>
          </a:solidFill>
          <a:ln w="12700">
            <a:solidFill>
              <a:srgbClr val="D3E0DC"/>
            </a:solidFill>
          </a:ln>
        </p:spPr>
        <p:txBody>
          <a:bodyPr wrap="square" lIns="101600" tIns="101600" rIns="101600" bIns="101600" rtlCol="0" anchor="ctr"/>
          <a:lstStyle/>
          <a:p>
            <a:pPr indent="0" marL="0">
              <a:buNone/>
            </a:pPr>
            <a:r>
              <a:rPr lang="en-US" sz="1000" dirty="0">
                <a:solidFill>
                  <a:srgbClr val="0C1F1C"/>
                </a:solidFill>
                <a:latin typeface="Segoe UI" pitchFamily="34" charset="0"/>
                <a:ea typeface="Segoe UI" pitchFamily="34" charset="-122"/>
                <a:cs typeface="Segoe UI" pitchFamily="34" charset="-120"/>
              </a:rPr>
              <a:t>Schema check. Unsure words shown with a dotted underline.</a:t>
            </a:r>
            <a:endParaRPr lang="en-US" sz="1000" dirty="0"/>
          </a:p>
        </p:txBody>
      </p:sp>
      <p:sp>
        <p:nvSpPr>
          <p:cNvPr id="17" name="ai1"/>
          <p:cNvSpPr/>
          <p:nvPr/>
        </p:nvSpPr>
        <p:spPr>
          <a:xfrm>
            <a:off x="3410712" y="2240280"/>
            <a:ext cx="1444752" cy="1481328"/>
          </a:xfrm>
          <a:prstGeom prst="roundRect">
            <a:avLst>
              <a:gd name="adj" fmla="val 6329"/>
            </a:avLst>
          </a:prstGeom>
          <a:solidFill>
            <a:srgbClr val="FFFFFF"/>
          </a:solidFill>
          <a:ln w="19050">
            <a:solidFill>
              <a:srgbClr val="0F766E"/>
            </a:solidFill>
          </a:ln>
          <a:effectLst>
            <a:outerShdw sx="100000" sy="100000" kx="0" ky="0" algn="bl" rotWithShape="0" blurRad="152400" dist="38100" dir="5400000">
              <a:srgbClr val="0C1F1C">
                <a:alpha val="12000"/>
              </a:srgbClr>
            </a:outerShdw>
          </a:effectLst>
        </p:spPr>
        <p:txBody>
          <a:bodyPr wrap="square" lIns="101600" tIns="101600" rIns="101600" bIns="101600" rtlCol="0" anchor="t"/>
          <a:lstStyle/>
          <a:p>
            <a:pPr indent="0" marL="0">
              <a:buNone/>
            </a:pPr>
            <a:r>
              <a:rPr lang="en-US" sz="1400" dirty="0">
                <a:solidFill>
                  <a:srgbClr val="0C1F1C"/>
                </a:solidFill>
                <a:latin typeface="Segoe UI Semibold" pitchFamily="34" charset="0"/>
                <a:ea typeface="Segoe UI Semibold" pitchFamily="34" charset="-122"/>
                <a:cs typeface="Segoe UI Semibold" pitchFamily="34" charset="-120"/>
              </a:rPr>
              <a:t>2  Embed</a:t>
            </a:r>
            <a:endParaRPr lang="en-US" sz="1400" dirty="0"/>
          </a:p>
          <a:p>
            <a:pPr indent="0" marL="0">
              <a:buNone/>
            </a:pPr>
            <a:r>
              <a:rPr lang="en-US" sz="1000" dirty="0">
                <a:solidFill>
                  <a:srgbClr val="586C68"/>
                </a:solidFill>
                <a:latin typeface="Segoe UI" pitchFamily="34" charset="0"/>
                <a:ea typeface="Segoe UI" pitchFamily="34" charset="-122"/>
                <a:cs typeface="Segoe UI" pitchFamily="34" charset="-120"/>
              </a:rPr>
              <a:t>Meaning vectors for the topic, paragraphs and sentences.</a:t>
            </a:r>
            <a:endParaRPr lang="en-US" sz="1400" dirty="0"/>
          </a:p>
          <a:p>
            <a:pPr indent="0" marL="0">
              <a:buNone/>
            </a:pPr>
            <a:r>
              <a:rPr lang="en-US" sz="750" b="1" spc="60" kern="0" dirty="0">
                <a:solidFill>
                  <a:srgbClr val="0F766E"/>
                </a:solidFill>
                <a:latin typeface="Consolas" pitchFamily="34" charset="0"/>
                <a:ea typeface="Consolas" pitchFamily="34" charset="-122"/>
                <a:cs typeface="Consolas" pitchFamily="34" charset="-120"/>
              </a:rPr>
              <a:t>gemini-embedding-001</a:t>
            </a:r>
            <a:endParaRPr lang="en-US" sz="1400" dirty="0"/>
          </a:p>
        </p:txBody>
      </p:sp>
      <p:sp>
        <p:nvSpPr>
          <p:cNvPr id="18" name="flow1"/>
          <p:cNvSpPr/>
          <p:nvPr/>
        </p:nvSpPr>
        <p:spPr>
          <a:xfrm>
            <a:off x="4864608" y="2980944"/>
            <a:ext cx="164592" cy="0"/>
          </a:xfrm>
          <a:prstGeom prst="line">
            <a:avLst/>
          </a:prstGeom>
          <a:noFill/>
          <a:ln w="22225">
            <a:solidFill>
              <a:srgbClr val="0F766E"/>
            </a:solidFill>
            <a:prstDash val="solid"/>
            <a:tailEnd type="triangle"/>
          </a:ln>
        </p:spPr>
      </p:sp>
      <p:sp>
        <p:nvSpPr>
          <p:cNvPr id="19" name="drop1"/>
          <p:cNvSpPr/>
          <p:nvPr/>
        </p:nvSpPr>
        <p:spPr>
          <a:xfrm>
            <a:off x="4133088" y="3739896"/>
            <a:ext cx="0" cy="466344"/>
          </a:xfrm>
          <a:prstGeom prst="line">
            <a:avLst/>
          </a:prstGeom>
          <a:noFill/>
          <a:ln w="15875">
            <a:solidFill>
              <a:srgbClr val="0F766E"/>
            </a:solidFill>
            <a:prstDash val="dash"/>
          </a:ln>
        </p:spPr>
      </p:sp>
      <p:sp>
        <p:nvSpPr>
          <p:cNvPr id="20" name="code1"/>
          <p:cNvSpPr/>
          <p:nvPr/>
        </p:nvSpPr>
        <p:spPr>
          <a:xfrm>
            <a:off x="3410712" y="4224528"/>
            <a:ext cx="1444752" cy="1097280"/>
          </a:xfrm>
          <a:prstGeom prst="roundRect">
            <a:avLst>
              <a:gd name="adj" fmla="val 6667"/>
            </a:avLst>
          </a:prstGeom>
          <a:solidFill>
            <a:srgbClr val="F4F8F6"/>
          </a:solidFill>
          <a:ln w="12700">
            <a:solidFill>
              <a:srgbClr val="D3E0DC"/>
            </a:solidFill>
          </a:ln>
        </p:spPr>
        <p:txBody>
          <a:bodyPr wrap="square" lIns="101600" tIns="101600" rIns="101600" bIns="101600" rtlCol="0" anchor="ctr"/>
          <a:lstStyle/>
          <a:p>
            <a:pPr indent="0" marL="0">
              <a:buNone/>
            </a:pPr>
            <a:r>
              <a:rPr lang="en-US" sz="1000" dirty="0">
                <a:solidFill>
                  <a:srgbClr val="0C1F1C"/>
                </a:solidFill>
                <a:latin typeface="Segoe UI" pitchFamily="34" charset="0"/>
                <a:ea typeface="Segoe UI" pitchFamily="34" charset="-122"/>
                <a:cs typeface="Segoe UI" pitchFamily="34" charset="-120"/>
              </a:rPr>
              <a:t>One shared cache. Max 95 texts; extras shown as unassessed.</a:t>
            </a:r>
            <a:endParaRPr lang="en-US" sz="1000" dirty="0"/>
          </a:p>
        </p:txBody>
      </p:sp>
      <p:sp>
        <p:nvSpPr>
          <p:cNvPr id="21" name="ai2"/>
          <p:cNvSpPr/>
          <p:nvPr/>
        </p:nvSpPr>
        <p:spPr>
          <a:xfrm>
            <a:off x="5038344" y="2240280"/>
            <a:ext cx="1444752" cy="1481328"/>
          </a:xfrm>
          <a:prstGeom prst="roundRect">
            <a:avLst>
              <a:gd name="adj" fmla="val 6329"/>
            </a:avLst>
          </a:prstGeom>
          <a:solidFill>
            <a:srgbClr val="FFFFFF"/>
          </a:solidFill>
          <a:ln w="19050">
            <a:solidFill>
              <a:srgbClr val="0F766E"/>
            </a:solidFill>
          </a:ln>
          <a:effectLst>
            <a:outerShdw sx="100000" sy="100000" kx="0" ky="0" algn="bl" rotWithShape="0" blurRad="152400" dist="38100" dir="5400000">
              <a:srgbClr val="0C1F1C">
                <a:alpha val="12000"/>
              </a:srgbClr>
            </a:outerShdw>
          </a:effectLst>
        </p:spPr>
        <p:txBody>
          <a:bodyPr wrap="square" lIns="101600" tIns="101600" rIns="101600" bIns="101600" rtlCol="0" anchor="t"/>
          <a:lstStyle/>
          <a:p>
            <a:pPr indent="0" marL="0">
              <a:buNone/>
            </a:pPr>
            <a:r>
              <a:rPr lang="en-US" sz="1400" dirty="0">
                <a:solidFill>
                  <a:srgbClr val="0C1F1C"/>
                </a:solidFill>
                <a:latin typeface="Segoe UI Semibold" pitchFamily="34" charset="0"/>
                <a:ea typeface="Segoe UI Semibold" pitchFamily="34" charset="-122"/>
                <a:cs typeface="Segoe UI Semibold" pitchFamily="34" charset="-120"/>
              </a:rPr>
              <a:t>3  Measure</a:t>
            </a:r>
            <a:endParaRPr lang="en-US" sz="1400" dirty="0"/>
          </a:p>
          <a:p>
            <a:pPr indent="0" marL="0">
              <a:buNone/>
            </a:pPr>
            <a:r>
              <a:rPr lang="en-US" sz="1000" dirty="0">
                <a:solidFill>
                  <a:srgbClr val="586C68"/>
                </a:solidFill>
                <a:latin typeface="Segoe UI" pitchFamily="34" charset="0"/>
                <a:ea typeface="Segoe UI" pitchFamily="34" charset="-122"/>
                <a:cs typeface="Segoe UI" pitchFamily="34" charset="-120"/>
              </a:rPr>
              <a:t>Sentence roles, genericness and topic drift, in parallel.</a:t>
            </a:r>
            <a:endParaRPr lang="en-US" sz="1400" dirty="0"/>
          </a:p>
          <a:p>
            <a:pPr indent="0" marL="0">
              <a:buNone/>
            </a:pPr>
            <a:r>
              <a:rPr lang="en-US" sz="750" b="1" spc="60" kern="0" dirty="0">
                <a:solidFill>
                  <a:srgbClr val="0F766E"/>
                </a:solidFill>
                <a:latin typeface="Consolas" pitchFamily="34" charset="0"/>
                <a:ea typeface="Consolas" pitchFamily="34" charset="-122"/>
                <a:cs typeface="Consolas" pitchFamily="34" charset="-120"/>
              </a:rPr>
              <a:t>flash + our classifier</a:t>
            </a:r>
            <a:endParaRPr lang="en-US" sz="1400" dirty="0"/>
          </a:p>
        </p:txBody>
      </p:sp>
      <p:sp>
        <p:nvSpPr>
          <p:cNvPr id="22" name="flow2"/>
          <p:cNvSpPr/>
          <p:nvPr/>
        </p:nvSpPr>
        <p:spPr>
          <a:xfrm>
            <a:off x="6492240" y="2980944"/>
            <a:ext cx="164592" cy="0"/>
          </a:xfrm>
          <a:prstGeom prst="line">
            <a:avLst/>
          </a:prstGeom>
          <a:noFill/>
          <a:ln w="22225">
            <a:solidFill>
              <a:srgbClr val="0F766E"/>
            </a:solidFill>
            <a:prstDash val="solid"/>
            <a:tailEnd type="triangle"/>
          </a:ln>
        </p:spPr>
      </p:sp>
      <p:sp>
        <p:nvSpPr>
          <p:cNvPr id="23" name="drop2"/>
          <p:cNvSpPr/>
          <p:nvPr/>
        </p:nvSpPr>
        <p:spPr>
          <a:xfrm>
            <a:off x="5760720" y="3739896"/>
            <a:ext cx="0" cy="466344"/>
          </a:xfrm>
          <a:prstGeom prst="line">
            <a:avLst/>
          </a:prstGeom>
          <a:noFill/>
          <a:ln w="15875">
            <a:solidFill>
              <a:srgbClr val="0F766E"/>
            </a:solidFill>
            <a:prstDash val="dash"/>
          </a:ln>
        </p:spPr>
      </p:sp>
      <p:sp>
        <p:nvSpPr>
          <p:cNvPr id="24" name="code2"/>
          <p:cNvSpPr/>
          <p:nvPr/>
        </p:nvSpPr>
        <p:spPr>
          <a:xfrm>
            <a:off x="5038344" y="4224528"/>
            <a:ext cx="1444752" cy="1097280"/>
          </a:xfrm>
          <a:prstGeom prst="roundRect">
            <a:avLst>
              <a:gd name="adj" fmla="val 6667"/>
            </a:avLst>
          </a:prstGeom>
          <a:solidFill>
            <a:srgbClr val="F4F8F6"/>
          </a:solidFill>
          <a:ln w="12700">
            <a:solidFill>
              <a:srgbClr val="D3E0DC"/>
            </a:solidFill>
          </a:ln>
        </p:spPr>
        <p:txBody>
          <a:bodyPr wrap="square" lIns="101600" tIns="101600" rIns="101600" bIns="101600" rtlCol="0" anchor="ctr"/>
          <a:lstStyle/>
          <a:p>
            <a:pPr indent="0" marL="0">
              <a:buNone/>
            </a:pPr>
            <a:r>
              <a:rPr lang="en-US" sz="1000" dirty="0">
                <a:solidFill>
                  <a:srgbClr val="0C1F1C"/>
                </a:solidFill>
                <a:latin typeface="Segoe UI" pitchFamily="34" charset="0"/>
                <a:ea typeface="Segoe UI" pitchFamily="34" charset="-122"/>
                <a:cs typeface="Segoe UI" pitchFamily="34" charset="-120"/>
              </a:rPr>
              <a:t>Rules link claims to evidence and colour each sentence.</a:t>
            </a:r>
            <a:endParaRPr lang="en-US" sz="1000" dirty="0"/>
          </a:p>
        </p:txBody>
      </p:sp>
      <p:sp>
        <p:nvSpPr>
          <p:cNvPr id="25" name="ai3"/>
          <p:cNvSpPr/>
          <p:nvPr/>
        </p:nvSpPr>
        <p:spPr>
          <a:xfrm>
            <a:off x="6665976" y="2240280"/>
            <a:ext cx="1444752" cy="1481328"/>
          </a:xfrm>
          <a:prstGeom prst="roundRect">
            <a:avLst>
              <a:gd name="adj" fmla="val 6329"/>
            </a:avLst>
          </a:prstGeom>
          <a:solidFill>
            <a:srgbClr val="FFFFFF"/>
          </a:solidFill>
          <a:ln w="19050">
            <a:solidFill>
              <a:srgbClr val="0F766E"/>
            </a:solidFill>
          </a:ln>
          <a:effectLst>
            <a:outerShdw sx="100000" sy="100000" kx="0" ky="0" algn="bl" rotWithShape="0" blurRad="152400" dist="38100" dir="5400000">
              <a:srgbClr val="0C1F1C">
                <a:alpha val="12000"/>
              </a:srgbClr>
            </a:outerShdw>
          </a:effectLst>
        </p:spPr>
        <p:txBody>
          <a:bodyPr wrap="square" lIns="101600" tIns="101600" rIns="101600" bIns="101600" rtlCol="0" anchor="t"/>
          <a:lstStyle/>
          <a:p>
            <a:pPr indent="0" marL="0">
              <a:buNone/>
            </a:pPr>
            <a:r>
              <a:rPr lang="en-US" sz="1400" dirty="0">
                <a:solidFill>
                  <a:srgbClr val="0C1F1C"/>
                </a:solidFill>
                <a:latin typeface="Segoe UI Semibold" pitchFamily="34" charset="0"/>
                <a:ea typeface="Segoe UI Semibold" pitchFamily="34" charset="-122"/>
                <a:cs typeface="Segoe UI Semibold" pitchFamily="34" charset="-120"/>
              </a:rPr>
              <a:t>4  Examine</a:t>
            </a:r>
            <a:endParaRPr lang="en-US" sz="1400" dirty="0"/>
          </a:p>
          <a:p>
            <a:pPr indent="0" marL="0">
              <a:buNone/>
            </a:pPr>
            <a:r>
              <a:rPr lang="en-US" sz="1000" dirty="0">
                <a:solidFill>
                  <a:srgbClr val="586C68"/>
                </a:solidFill>
                <a:latin typeface="Segoe UI" pitchFamily="34" charset="0"/>
                <a:ea typeface="Segoe UI" pitchFamily="34" charset="-122"/>
                <a:cs typeface="Segoe UI" pitchFamily="34" charset="-120"/>
              </a:rPr>
              <a:t>Two runs score 7 rubric dimensions and must quote the essay.</a:t>
            </a:r>
            <a:endParaRPr lang="en-US" sz="1400" dirty="0"/>
          </a:p>
          <a:p>
            <a:pPr indent="0" marL="0">
              <a:buNone/>
            </a:pPr>
            <a:r>
              <a:rPr lang="en-US" sz="750" b="1" spc="60" kern="0" dirty="0">
                <a:solidFill>
                  <a:srgbClr val="0F766E"/>
                </a:solidFill>
                <a:latin typeface="Consolas" pitchFamily="34" charset="0"/>
                <a:ea typeface="Consolas" pitchFamily="34" charset="-122"/>
                <a:cs typeface="Consolas" pitchFamily="34" charset="-120"/>
              </a:rPr>
              <a:t>gemini-3.6-flash  ×2</a:t>
            </a:r>
            <a:endParaRPr lang="en-US" sz="1400" dirty="0"/>
          </a:p>
        </p:txBody>
      </p:sp>
      <p:sp>
        <p:nvSpPr>
          <p:cNvPr id="26" name="flow3"/>
          <p:cNvSpPr/>
          <p:nvPr/>
        </p:nvSpPr>
        <p:spPr>
          <a:xfrm>
            <a:off x="8119872" y="2980944"/>
            <a:ext cx="164592" cy="0"/>
          </a:xfrm>
          <a:prstGeom prst="line">
            <a:avLst/>
          </a:prstGeom>
          <a:noFill/>
          <a:ln w="22225">
            <a:solidFill>
              <a:srgbClr val="0F766E"/>
            </a:solidFill>
            <a:prstDash val="solid"/>
            <a:tailEnd type="triangle"/>
          </a:ln>
        </p:spPr>
      </p:sp>
      <p:sp>
        <p:nvSpPr>
          <p:cNvPr id="27" name="drop3"/>
          <p:cNvSpPr/>
          <p:nvPr/>
        </p:nvSpPr>
        <p:spPr>
          <a:xfrm>
            <a:off x="7388352" y="3739896"/>
            <a:ext cx="0" cy="466344"/>
          </a:xfrm>
          <a:prstGeom prst="line">
            <a:avLst/>
          </a:prstGeom>
          <a:noFill/>
          <a:ln w="15875">
            <a:solidFill>
              <a:srgbClr val="0F766E"/>
            </a:solidFill>
            <a:prstDash val="dash"/>
          </a:ln>
        </p:spPr>
      </p:sp>
      <p:sp>
        <p:nvSpPr>
          <p:cNvPr id="28" name="code3"/>
          <p:cNvSpPr/>
          <p:nvPr/>
        </p:nvSpPr>
        <p:spPr>
          <a:xfrm>
            <a:off x="6665976" y="4224528"/>
            <a:ext cx="1444752" cy="1097280"/>
          </a:xfrm>
          <a:prstGeom prst="roundRect">
            <a:avLst>
              <a:gd name="adj" fmla="val 6667"/>
            </a:avLst>
          </a:prstGeom>
          <a:solidFill>
            <a:srgbClr val="F4F8F6"/>
          </a:solidFill>
          <a:ln w="12700">
            <a:solidFill>
              <a:srgbClr val="D3E0DC"/>
            </a:solidFill>
          </a:ln>
        </p:spPr>
        <p:txBody>
          <a:bodyPr wrap="square" lIns="101600" tIns="101600" rIns="101600" bIns="101600" rtlCol="0" anchor="ctr"/>
          <a:lstStyle/>
          <a:p>
            <a:pPr indent="0" marL="0">
              <a:buNone/>
            </a:pPr>
            <a:r>
              <a:rPr lang="en-US" sz="1000" dirty="0">
                <a:solidFill>
                  <a:srgbClr val="0C1F1C"/>
                </a:solidFill>
                <a:latin typeface="Segoe UI" pitchFamily="34" charset="0"/>
                <a:ea typeface="Segoe UI" pitchFamily="34" charset="-122"/>
                <a:cs typeface="Segoe UI" pitchFamily="34" charset="-120"/>
              </a:rPr>
              <a:t>A quote not in the essay is dropped. Band computed in code.</a:t>
            </a:r>
            <a:endParaRPr lang="en-US" sz="1000" dirty="0"/>
          </a:p>
        </p:txBody>
      </p:sp>
      <p:sp>
        <p:nvSpPr>
          <p:cNvPr id="29" name="ai4"/>
          <p:cNvSpPr/>
          <p:nvPr/>
        </p:nvSpPr>
        <p:spPr>
          <a:xfrm>
            <a:off x="8293608" y="2240280"/>
            <a:ext cx="1444752" cy="1481328"/>
          </a:xfrm>
          <a:prstGeom prst="roundRect">
            <a:avLst>
              <a:gd name="adj" fmla="val 6329"/>
            </a:avLst>
          </a:prstGeom>
          <a:solidFill>
            <a:srgbClr val="F4F8F6"/>
          </a:solidFill>
          <a:ln w="12700">
            <a:solidFill>
              <a:srgbClr val="8DA09C"/>
            </a:solidFill>
            <a:prstDash val="dash"/>
          </a:ln>
        </p:spPr>
        <p:txBody>
          <a:bodyPr wrap="square" lIns="101600" tIns="101600" rIns="101600" bIns="101600" rtlCol="0" anchor="t"/>
          <a:lstStyle/>
          <a:p>
            <a:pPr indent="0" marL="0">
              <a:buNone/>
            </a:pPr>
            <a:r>
              <a:rPr lang="en-US" sz="1400" dirty="0">
                <a:solidFill>
                  <a:srgbClr val="586C68"/>
                </a:solidFill>
                <a:latin typeface="Segoe UI Semibold" pitchFamily="34" charset="0"/>
                <a:ea typeface="Segoe UI Semibold" pitchFamily="34" charset="-122"/>
                <a:cs typeface="Segoe UI Semibold" pitchFamily="34" charset="-120"/>
              </a:rPr>
              <a:t>5  Blend</a:t>
            </a:r>
            <a:endParaRPr lang="en-US" sz="1400" dirty="0"/>
          </a:p>
          <a:p>
            <a:pPr indent="0" marL="0">
              <a:buNone/>
            </a:pPr>
            <a:r>
              <a:rPr lang="en-US" sz="1000" dirty="0">
                <a:solidFill>
                  <a:srgbClr val="586C68"/>
                </a:solidFill>
                <a:latin typeface="Segoe UI" pitchFamily="34" charset="0"/>
                <a:ea typeface="Segoe UI" pitchFamily="34" charset="-122"/>
                <a:cs typeface="Segoe UI" pitchFamily="34" charset="-120"/>
              </a:rPr>
              <a:t>No model here. Rules blend measured and examiner scores.</a:t>
            </a:r>
            <a:endParaRPr lang="en-US" sz="1400" dirty="0"/>
          </a:p>
          <a:p>
            <a:pPr indent="0" marL="0">
              <a:buNone/>
            </a:pPr>
            <a:r>
              <a:rPr lang="en-US" sz="750" b="1" spc="60" kern="0" dirty="0">
                <a:solidFill>
                  <a:srgbClr val="8DA09C"/>
                </a:solidFill>
                <a:latin typeface="Consolas" pitchFamily="34" charset="0"/>
                <a:ea typeface="Consolas" pitchFamily="34" charset="-122"/>
                <a:cs typeface="Consolas" pitchFamily="34" charset="-120"/>
              </a:rPr>
              <a:t>plain code</a:t>
            </a:r>
            <a:endParaRPr lang="en-US" sz="1400" dirty="0"/>
          </a:p>
        </p:txBody>
      </p:sp>
      <p:sp>
        <p:nvSpPr>
          <p:cNvPr id="30" name="flow4"/>
          <p:cNvSpPr/>
          <p:nvPr/>
        </p:nvSpPr>
        <p:spPr>
          <a:xfrm>
            <a:off x="9747504" y="2980944"/>
            <a:ext cx="164592" cy="0"/>
          </a:xfrm>
          <a:prstGeom prst="line">
            <a:avLst/>
          </a:prstGeom>
          <a:noFill/>
          <a:ln w="22225">
            <a:solidFill>
              <a:srgbClr val="0F766E"/>
            </a:solidFill>
            <a:prstDash val="solid"/>
            <a:tailEnd type="triangle"/>
          </a:ln>
        </p:spPr>
      </p:sp>
      <p:sp>
        <p:nvSpPr>
          <p:cNvPr id="31" name="drop4"/>
          <p:cNvSpPr/>
          <p:nvPr/>
        </p:nvSpPr>
        <p:spPr>
          <a:xfrm>
            <a:off x="9015984" y="3739896"/>
            <a:ext cx="0" cy="466344"/>
          </a:xfrm>
          <a:prstGeom prst="line">
            <a:avLst/>
          </a:prstGeom>
          <a:noFill/>
          <a:ln w="15875">
            <a:solidFill>
              <a:srgbClr val="8DA09C"/>
            </a:solidFill>
            <a:prstDash val="dash"/>
          </a:ln>
        </p:spPr>
      </p:sp>
      <p:sp>
        <p:nvSpPr>
          <p:cNvPr id="32" name="code4"/>
          <p:cNvSpPr/>
          <p:nvPr/>
        </p:nvSpPr>
        <p:spPr>
          <a:xfrm>
            <a:off x="8293608" y="4224528"/>
            <a:ext cx="1444752" cy="1097280"/>
          </a:xfrm>
          <a:prstGeom prst="roundRect">
            <a:avLst>
              <a:gd name="adj" fmla="val 6667"/>
            </a:avLst>
          </a:prstGeom>
          <a:solidFill>
            <a:srgbClr val="F4F8F6"/>
          </a:solidFill>
          <a:ln w="12700">
            <a:solidFill>
              <a:srgbClr val="D3E0DC"/>
            </a:solidFill>
          </a:ln>
        </p:spPr>
        <p:txBody>
          <a:bodyPr wrap="square" lIns="101600" tIns="101600" rIns="101600" bIns="101600" rtlCol="0" anchor="ctr"/>
          <a:lstStyle/>
          <a:p>
            <a:pPr indent="0" marL="0">
              <a:buNone/>
            </a:pPr>
            <a:r>
              <a:rPr lang="en-US" sz="1000" dirty="0">
                <a:solidFill>
                  <a:srgbClr val="0C1F1C"/>
                </a:solidFill>
                <a:latin typeface="Segoe UI" pitchFamily="34" charset="0"/>
                <a:ea typeface="Segoe UI" pitchFamily="34" charset="-122"/>
                <a:cs typeface="Segoe UI" pitchFamily="34" charset="-120"/>
              </a:rPr>
              <a:t>40% measured + 60% examiner. Every conflict is listed.</a:t>
            </a:r>
            <a:endParaRPr lang="en-US" sz="1000" dirty="0"/>
          </a:p>
        </p:txBody>
      </p:sp>
      <p:sp>
        <p:nvSpPr>
          <p:cNvPr id="33" name="ai5"/>
          <p:cNvSpPr/>
          <p:nvPr/>
        </p:nvSpPr>
        <p:spPr>
          <a:xfrm>
            <a:off x="9921240" y="2240280"/>
            <a:ext cx="1444752" cy="1481328"/>
          </a:xfrm>
          <a:prstGeom prst="roundRect">
            <a:avLst>
              <a:gd name="adj" fmla="val 6329"/>
            </a:avLst>
          </a:prstGeom>
          <a:solidFill>
            <a:srgbClr val="FFFFFF"/>
          </a:solidFill>
          <a:ln w="19050">
            <a:solidFill>
              <a:srgbClr val="0F766E"/>
            </a:solidFill>
          </a:ln>
          <a:effectLst>
            <a:outerShdw sx="100000" sy="100000" kx="0" ky="0" algn="bl" rotWithShape="0" blurRad="152400" dist="38100" dir="5400000">
              <a:srgbClr val="0C1F1C">
                <a:alpha val="12000"/>
              </a:srgbClr>
            </a:outerShdw>
          </a:effectLst>
        </p:spPr>
        <p:txBody>
          <a:bodyPr wrap="square" lIns="101600" tIns="101600" rIns="101600" bIns="101600" rtlCol="0" anchor="t"/>
          <a:lstStyle/>
          <a:p>
            <a:pPr indent="0" marL="0">
              <a:buNone/>
            </a:pPr>
            <a:r>
              <a:rPr lang="en-US" sz="1400" dirty="0">
                <a:solidFill>
                  <a:srgbClr val="0C1F1C"/>
                </a:solidFill>
                <a:latin typeface="Segoe UI Semibold" pitchFamily="34" charset="0"/>
                <a:ea typeface="Segoe UI Semibold" pitchFamily="34" charset="-122"/>
                <a:cs typeface="Segoe UI Semibold" pitchFamily="34" charset="-120"/>
              </a:rPr>
              <a:t>6  Coach</a:t>
            </a:r>
            <a:endParaRPr lang="en-US" sz="1400" dirty="0"/>
          </a:p>
          <a:p>
            <a:pPr indent="0" marL="0">
              <a:buNone/>
            </a:pPr>
            <a:r>
              <a:rPr lang="en-US" sz="1000" dirty="0">
                <a:solidFill>
                  <a:srgbClr val="586C68"/>
                </a:solidFill>
                <a:latin typeface="Segoe UI" pitchFamily="34" charset="0"/>
                <a:ea typeface="Segoe UI" pitchFamily="34" charset="-122"/>
                <a:cs typeface="Segoe UI" pitchFamily="34" charset="-120"/>
              </a:rPr>
              <a:t>Explains 3 fixes, rewrites up to 3 weak paragraphs.</a:t>
            </a:r>
            <a:endParaRPr lang="en-US" sz="1400" dirty="0"/>
          </a:p>
          <a:p>
            <a:pPr indent="0" marL="0">
              <a:buNone/>
            </a:pPr>
            <a:r>
              <a:rPr lang="en-US" sz="750" b="1" spc="60" kern="0" dirty="0">
                <a:solidFill>
                  <a:srgbClr val="0F766E"/>
                </a:solidFill>
                <a:latin typeface="Consolas" pitchFamily="34" charset="0"/>
                <a:ea typeface="Consolas" pitchFamily="34" charset="-122"/>
                <a:cs typeface="Consolas" pitchFamily="34" charset="-120"/>
              </a:rPr>
              <a:t>gemini-3.6-flash</a:t>
            </a:r>
            <a:endParaRPr lang="en-US" sz="1400" dirty="0"/>
          </a:p>
        </p:txBody>
      </p:sp>
      <p:sp>
        <p:nvSpPr>
          <p:cNvPr id="34" name="drop5"/>
          <p:cNvSpPr/>
          <p:nvPr/>
        </p:nvSpPr>
        <p:spPr>
          <a:xfrm>
            <a:off x="10643616" y="3739896"/>
            <a:ext cx="0" cy="466344"/>
          </a:xfrm>
          <a:prstGeom prst="line">
            <a:avLst/>
          </a:prstGeom>
          <a:noFill/>
          <a:ln w="15875">
            <a:solidFill>
              <a:srgbClr val="0F766E"/>
            </a:solidFill>
            <a:prstDash val="dash"/>
          </a:ln>
        </p:spPr>
      </p:sp>
      <p:sp>
        <p:nvSpPr>
          <p:cNvPr id="35" name="code5"/>
          <p:cNvSpPr/>
          <p:nvPr/>
        </p:nvSpPr>
        <p:spPr>
          <a:xfrm>
            <a:off x="9921240" y="4224528"/>
            <a:ext cx="1444752" cy="1097280"/>
          </a:xfrm>
          <a:prstGeom prst="roundRect">
            <a:avLst>
              <a:gd name="adj" fmla="val 6667"/>
            </a:avLst>
          </a:prstGeom>
          <a:solidFill>
            <a:srgbClr val="F4F8F6"/>
          </a:solidFill>
          <a:ln w="12700">
            <a:solidFill>
              <a:srgbClr val="D3E0DC"/>
            </a:solidFill>
          </a:ln>
        </p:spPr>
        <p:txBody>
          <a:bodyPr wrap="square" lIns="101600" tIns="101600" rIns="101600" bIns="101600" rtlCol="0" anchor="ctr"/>
          <a:lstStyle/>
          <a:p>
            <a:pPr indent="0" marL="0">
              <a:buNone/>
            </a:pPr>
            <a:r>
              <a:rPr lang="en-US" sz="1000" dirty="0">
                <a:solidFill>
                  <a:srgbClr val="0C1F1C"/>
                </a:solidFill>
                <a:latin typeface="Segoe UI" pitchFamily="34" charset="0"/>
                <a:ea typeface="Segoe UI" pitchFamily="34" charset="-122"/>
                <a:cs typeface="Segoe UI" pitchFamily="34" charset="-120"/>
              </a:rPr>
              <a:t>Code picks the paragraphs. Invented figures become slots.</a:t>
            </a:r>
            <a:endParaRPr lang="en-US" sz="1000" dirty="0"/>
          </a:p>
        </p:txBody>
      </p:sp>
      <p:sp>
        <p:nvSpPr>
          <p:cNvPr id="36" name="failsafe"/>
          <p:cNvSpPr/>
          <p:nvPr/>
        </p:nvSpPr>
        <p:spPr>
          <a:xfrm>
            <a:off x="640080" y="5760720"/>
            <a:ext cx="10927080" cy="457200"/>
          </a:xfrm>
          <a:prstGeom prst="roundRect">
            <a:avLst>
              <a:gd name="adj" fmla="val 50000"/>
            </a:avLst>
          </a:prstGeom>
          <a:solidFill>
            <a:srgbClr val="FBEFC9"/>
          </a:solidFill>
          <a:ln/>
        </p:spPr>
        <p:txBody>
          <a:bodyPr wrap="square" lIns="203200" tIns="203200" rIns="203200" bIns="203200" rtlCol="0" anchor="ctr"/>
          <a:lstStyle/>
          <a:p>
            <a:pPr indent="0" marL="0">
              <a:buNone/>
            </a:pPr>
            <a:r>
              <a:rPr lang="en-US" sz="1250" dirty="0">
                <a:solidFill>
                  <a:srgbClr val="0C1F1C"/>
                </a:solidFill>
                <a:latin typeface="Segoe UI Semibold" pitchFamily="34" charset="0"/>
                <a:ea typeface="Segoe UI Semibold" pitchFamily="34" charset="-122"/>
                <a:cs typeface="Segoe UI Semibold" pitchFamily="34" charset="-120"/>
              </a:rPr>
              <a:t>If a step fails, the report says which check was unavailable. It never guesses.</a:t>
            </a:r>
            <a:endParaRPr lang="en-US" sz="125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childTnLst>
                                </p:cTn>
                              </p:par>
                              <p:par>
                                <p:cTn id="8" presetID="42"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 calcmode="lin" valueType="num">
                                      <p:cBhvr>
                                        <p:cTn id="10" dur="600" fill="hold"/>
                                        <p:tgtEl>
                                          <p:spTgt spid="3"/>
                                        </p:tgtEl>
                                        <p:attrNameLst>
                                          <p:attrName>ppt_y</p:attrName>
                                        </p:attrNameLst>
                                      </p:cBhvr>
                                      <p:tavLst>
                                        <p:tav tm="0">
                                          <p:val>
                                            <p:strVal val="#ppt_y+.06"/>
                                          </p:val>
                                        </p:tav>
                                        <p:tav tm="100000">
                                          <p:val>
                                            <p:strVal val="#ppt_y"/>
                                          </p:val>
                                        </p:tav>
                                      </p:tavLst>
                                    </p:anim>
                                    <p:animEffect transition="in" filter="fade">
                                      <p:cBhvr>
                                        <p:cTn id="11" dur="600"/>
                                        <p:tgtEl>
                                          <p:spTgt spid="3"/>
                                        </p:tgtEl>
                                      </p:cBhvr>
                                    </p:animEffect>
                                  </p:childTnLst>
                                </p:cTn>
                              </p:par>
                              <p:par>
                                <p:cTn id="12" presetID="10" presetClass="entr" presetSubtype="0" fill="hold" nodeType="withEffect">
                                  <p:stCondLst>
                                    <p:cond delay="15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600"/>
                                        <p:tgtEl>
                                          <p:spTgt spid="8"/>
                                        </p:tgtEl>
                                      </p:cBhvr>
                                    </p:animEffect>
                                  </p:childTnLst>
                                </p:cTn>
                              </p:par>
                              <p:par>
                                <p:cTn id="15" presetID="10" presetClass="entr" presetSubtype="0" fill="hold" nodeType="withEffect">
                                  <p:stCondLst>
                                    <p:cond delay="30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nodeType="withEffect">
                                  <p:stCondLst>
                                    <p:cond delay="30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nodeType="withEffect">
                                  <p:stCondLst>
                                    <p:cond delay="45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42" presetClass="entr" presetSubtype="0" fill="hold" nodeType="withEffect">
                                  <p:stCondLst>
                                    <p:cond delay="700"/>
                                  </p:stCondLst>
                                  <p:childTnLst>
                                    <p:set>
                                      <p:cBhvr>
                                        <p:cTn id="25" dur="1" fill="hold">
                                          <p:stCondLst>
                                            <p:cond delay="0"/>
                                          </p:stCondLst>
                                        </p:cTn>
                                        <p:tgtEl>
                                          <p:spTgt spid="13"/>
                                        </p:tgtEl>
                                        <p:attrNameLst>
                                          <p:attrName>style.visibility</p:attrName>
                                        </p:attrNameLst>
                                      </p:cBhvr>
                                      <p:to>
                                        <p:strVal val="visible"/>
                                      </p:to>
                                    </p:set>
                                    <p:anim calcmode="lin" valueType="num">
                                      <p:cBhvr>
                                        <p:cTn id="26" dur="550" fill="hold"/>
                                        <p:tgtEl>
                                          <p:spTgt spid="13"/>
                                        </p:tgtEl>
                                        <p:attrNameLst>
                                          <p:attrName>ppt_y</p:attrName>
                                        </p:attrNameLst>
                                      </p:cBhvr>
                                      <p:tavLst>
                                        <p:tav tm="0">
                                          <p:val>
                                            <p:strVal val="#ppt_y+.06"/>
                                          </p:val>
                                        </p:tav>
                                        <p:tav tm="100000">
                                          <p:val>
                                            <p:strVal val="#ppt_y"/>
                                          </p:val>
                                        </p:tav>
                                      </p:tavLst>
                                    </p:anim>
                                    <p:animEffect transition="in" filter="fade">
                                      <p:cBhvr>
                                        <p:cTn id="27" dur="550"/>
                                        <p:tgtEl>
                                          <p:spTgt spid="13"/>
                                        </p:tgtEl>
                                      </p:cBhvr>
                                    </p:animEffect>
                                  </p:childTnLst>
                                </p:cTn>
                              </p:par>
                              <p:par>
                                <p:cTn id="28" presetID="22" presetClass="entr" presetSubtype="8" fill="hold" nodeType="withEffect">
                                  <p:stCondLst>
                                    <p:cond delay="1080"/>
                                  </p:stCondLst>
                                  <p:childTnLst>
                                    <p:set>
                                      <p:cBhvr>
                                        <p:cTn id="29" dur="1" fill="hold">
                                          <p:stCondLst>
                                            <p:cond delay="0"/>
                                          </p:stCondLst>
                                        </p:cTn>
                                        <p:tgtEl>
                                          <p:spTgt spid="14"/>
                                        </p:tgtEl>
                                        <p:attrNameLst>
                                          <p:attrName>style.visibility</p:attrName>
                                        </p:attrNameLst>
                                      </p:cBhvr>
                                      <p:to>
                                        <p:strVal val="visible"/>
                                      </p:to>
                                    </p:set>
                                    <p:animEffect transition="in" filter="wipe(left)">
                                      <p:cBhvr>
                                        <p:cTn id="30" dur="300"/>
                                        <p:tgtEl>
                                          <p:spTgt spid="14"/>
                                        </p:tgtEl>
                                      </p:cBhvr>
                                    </p:animEffect>
                                  </p:childTnLst>
                                </p:cTn>
                              </p:par>
                              <p:par>
                                <p:cTn id="31" presetID="42" presetClass="entr" presetSubtype="0" fill="hold" nodeType="withEffect">
                                  <p:stCondLst>
                                    <p:cond delay="1400"/>
                                  </p:stCondLst>
                                  <p:childTnLst>
                                    <p:set>
                                      <p:cBhvr>
                                        <p:cTn id="32" dur="1" fill="hold">
                                          <p:stCondLst>
                                            <p:cond delay="0"/>
                                          </p:stCondLst>
                                        </p:cTn>
                                        <p:tgtEl>
                                          <p:spTgt spid="17"/>
                                        </p:tgtEl>
                                        <p:attrNameLst>
                                          <p:attrName>style.visibility</p:attrName>
                                        </p:attrNameLst>
                                      </p:cBhvr>
                                      <p:to>
                                        <p:strVal val="visible"/>
                                      </p:to>
                                    </p:set>
                                    <p:anim calcmode="lin" valueType="num">
                                      <p:cBhvr>
                                        <p:cTn id="33" dur="550" fill="hold"/>
                                        <p:tgtEl>
                                          <p:spTgt spid="17"/>
                                        </p:tgtEl>
                                        <p:attrNameLst>
                                          <p:attrName>ppt_y</p:attrName>
                                        </p:attrNameLst>
                                      </p:cBhvr>
                                      <p:tavLst>
                                        <p:tav tm="0">
                                          <p:val>
                                            <p:strVal val="#ppt_y+.06"/>
                                          </p:val>
                                        </p:tav>
                                        <p:tav tm="100000">
                                          <p:val>
                                            <p:strVal val="#ppt_y"/>
                                          </p:val>
                                        </p:tav>
                                      </p:tavLst>
                                    </p:anim>
                                    <p:animEffect transition="in" filter="fade">
                                      <p:cBhvr>
                                        <p:cTn id="34" dur="550"/>
                                        <p:tgtEl>
                                          <p:spTgt spid="17"/>
                                        </p:tgtEl>
                                      </p:cBhvr>
                                    </p:animEffect>
                                  </p:childTnLst>
                                </p:cTn>
                              </p:par>
                              <p:par>
                                <p:cTn id="35" presetID="22" presetClass="entr" presetSubtype="8" fill="hold" nodeType="withEffect">
                                  <p:stCondLst>
                                    <p:cond delay="178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300"/>
                                        <p:tgtEl>
                                          <p:spTgt spid="18"/>
                                        </p:tgtEl>
                                      </p:cBhvr>
                                    </p:animEffect>
                                  </p:childTnLst>
                                </p:cTn>
                              </p:par>
                              <p:par>
                                <p:cTn id="38" presetID="42" presetClass="entr" presetSubtype="0" fill="hold" nodeType="withEffect">
                                  <p:stCondLst>
                                    <p:cond delay="2100"/>
                                  </p:stCondLst>
                                  <p:childTnLst>
                                    <p:set>
                                      <p:cBhvr>
                                        <p:cTn id="39" dur="1" fill="hold">
                                          <p:stCondLst>
                                            <p:cond delay="0"/>
                                          </p:stCondLst>
                                        </p:cTn>
                                        <p:tgtEl>
                                          <p:spTgt spid="21"/>
                                        </p:tgtEl>
                                        <p:attrNameLst>
                                          <p:attrName>style.visibility</p:attrName>
                                        </p:attrNameLst>
                                      </p:cBhvr>
                                      <p:to>
                                        <p:strVal val="visible"/>
                                      </p:to>
                                    </p:set>
                                    <p:anim calcmode="lin" valueType="num">
                                      <p:cBhvr>
                                        <p:cTn id="40" dur="550" fill="hold"/>
                                        <p:tgtEl>
                                          <p:spTgt spid="21"/>
                                        </p:tgtEl>
                                        <p:attrNameLst>
                                          <p:attrName>ppt_y</p:attrName>
                                        </p:attrNameLst>
                                      </p:cBhvr>
                                      <p:tavLst>
                                        <p:tav tm="0">
                                          <p:val>
                                            <p:strVal val="#ppt_y+.06"/>
                                          </p:val>
                                        </p:tav>
                                        <p:tav tm="100000">
                                          <p:val>
                                            <p:strVal val="#ppt_y"/>
                                          </p:val>
                                        </p:tav>
                                      </p:tavLst>
                                    </p:anim>
                                    <p:animEffect transition="in" filter="fade">
                                      <p:cBhvr>
                                        <p:cTn id="41" dur="550"/>
                                        <p:tgtEl>
                                          <p:spTgt spid="21"/>
                                        </p:tgtEl>
                                      </p:cBhvr>
                                    </p:animEffect>
                                  </p:childTnLst>
                                </p:cTn>
                              </p:par>
                              <p:par>
                                <p:cTn id="42" presetID="22" presetClass="entr" presetSubtype="8" fill="hold" nodeType="withEffect">
                                  <p:stCondLst>
                                    <p:cond delay="2480"/>
                                  </p:stCondLst>
                                  <p:childTnLst>
                                    <p:set>
                                      <p:cBhvr>
                                        <p:cTn id="43" dur="1" fill="hold">
                                          <p:stCondLst>
                                            <p:cond delay="0"/>
                                          </p:stCondLst>
                                        </p:cTn>
                                        <p:tgtEl>
                                          <p:spTgt spid="22"/>
                                        </p:tgtEl>
                                        <p:attrNameLst>
                                          <p:attrName>style.visibility</p:attrName>
                                        </p:attrNameLst>
                                      </p:cBhvr>
                                      <p:to>
                                        <p:strVal val="visible"/>
                                      </p:to>
                                    </p:set>
                                    <p:animEffect transition="in" filter="wipe(left)">
                                      <p:cBhvr>
                                        <p:cTn id="44" dur="300"/>
                                        <p:tgtEl>
                                          <p:spTgt spid="22"/>
                                        </p:tgtEl>
                                      </p:cBhvr>
                                    </p:animEffect>
                                  </p:childTnLst>
                                </p:cTn>
                              </p:par>
                              <p:par>
                                <p:cTn id="45" presetID="42" presetClass="entr" presetSubtype="0" fill="hold" nodeType="withEffect">
                                  <p:stCondLst>
                                    <p:cond delay="2800"/>
                                  </p:stCondLst>
                                  <p:childTnLst>
                                    <p:set>
                                      <p:cBhvr>
                                        <p:cTn id="46" dur="1" fill="hold">
                                          <p:stCondLst>
                                            <p:cond delay="0"/>
                                          </p:stCondLst>
                                        </p:cTn>
                                        <p:tgtEl>
                                          <p:spTgt spid="25"/>
                                        </p:tgtEl>
                                        <p:attrNameLst>
                                          <p:attrName>style.visibility</p:attrName>
                                        </p:attrNameLst>
                                      </p:cBhvr>
                                      <p:to>
                                        <p:strVal val="visible"/>
                                      </p:to>
                                    </p:set>
                                    <p:anim calcmode="lin" valueType="num">
                                      <p:cBhvr>
                                        <p:cTn id="47" dur="550" fill="hold"/>
                                        <p:tgtEl>
                                          <p:spTgt spid="25"/>
                                        </p:tgtEl>
                                        <p:attrNameLst>
                                          <p:attrName>ppt_y</p:attrName>
                                        </p:attrNameLst>
                                      </p:cBhvr>
                                      <p:tavLst>
                                        <p:tav tm="0">
                                          <p:val>
                                            <p:strVal val="#ppt_y+.06"/>
                                          </p:val>
                                        </p:tav>
                                        <p:tav tm="100000">
                                          <p:val>
                                            <p:strVal val="#ppt_y"/>
                                          </p:val>
                                        </p:tav>
                                      </p:tavLst>
                                    </p:anim>
                                    <p:animEffect transition="in" filter="fade">
                                      <p:cBhvr>
                                        <p:cTn id="48" dur="550"/>
                                        <p:tgtEl>
                                          <p:spTgt spid="25"/>
                                        </p:tgtEl>
                                      </p:cBhvr>
                                    </p:animEffect>
                                  </p:childTnLst>
                                </p:cTn>
                              </p:par>
                              <p:par>
                                <p:cTn id="49" presetID="22" presetClass="entr" presetSubtype="8" fill="hold" nodeType="withEffect">
                                  <p:stCondLst>
                                    <p:cond delay="3180"/>
                                  </p:stCondLst>
                                  <p:childTnLst>
                                    <p:set>
                                      <p:cBhvr>
                                        <p:cTn id="50" dur="1" fill="hold">
                                          <p:stCondLst>
                                            <p:cond delay="0"/>
                                          </p:stCondLst>
                                        </p:cTn>
                                        <p:tgtEl>
                                          <p:spTgt spid="26"/>
                                        </p:tgtEl>
                                        <p:attrNameLst>
                                          <p:attrName>style.visibility</p:attrName>
                                        </p:attrNameLst>
                                      </p:cBhvr>
                                      <p:to>
                                        <p:strVal val="visible"/>
                                      </p:to>
                                    </p:set>
                                    <p:animEffect transition="in" filter="wipe(left)">
                                      <p:cBhvr>
                                        <p:cTn id="51" dur="300"/>
                                        <p:tgtEl>
                                          <p:spTgt spid="26"/>
                                        </p:tgtEl>
                                      </p:cBhvr>
                                    </p:animEffect>
                                  </p:childTnLst>
                                </p:cTn>
                              </p:par>
                              <p:par>
                                <p:cTn id="52" presetID="42" presetClass="entr" presetSubtype="0" fill="hold" nodeType="withEffect">
                                  <p:stCondLst>
                                    <p:cond delay="3500"/>
                                  </p:stCondLst>
                                  <p:childTnLst>
                                    <p:set>
                                      <p:cBhvr>
                                        <p:cTn id="53" dur="1" fill="hold">
                                          <p:stCondLst>
                                            <p:cond delay="0"/>
                                          </p:stCondLst>
                                        </p:cTn>
                                        <p:tgtEl>
                                          <p:spTgt spid="29"/>
                                        </p:tgtEl>
                                        <p:attrNameLst>
                                          <p:attrName>style.visibility</p:attrName>
                                        </p:attrNameLst>
                                      </p:cBhvr>
                                      <p:to>
                                        <p:strVal val="visible"/>
                                      </p:to>
                                    </p:set>
                                    <p:anim calcmode="lin" valueType="num">
                                      <p:cBhvr>
                                        <p:cTn id="54" dur="550" fill="hold"/>
                                        <p:tgtEl>
                                          <p:spTgt spid="29"/>
                                        </p:tgtEl>
                                        <p:attrNameLst>
                                          <p:attrName>ppt_y</p:attrName>
                                        </p:attrNameLst>
                                      </p:cBhvr>
                                      <p:tavLst>
                                        <p:tav tm="0">
                                          <p:val>
                                            <p:strVal val="#ppt_y+.06"/>
                                          </p:val>
                                        </p:tav>
                                        <p:tav tm="100000">
                                          <p:val>
                                            <p:strVal val="#ppt_y"/>
                                          </p:val>
                                        </p:tav>
                                      </p:tavLst>
                                    </p:anim>
                                    <p:animEffect transition="in" filter="fade">
                                      <p:cBhvr>
                                        <p:cTn id="55" dur="550"/>
                                        <p:tgtEl>
                                          <p:spTgt spid="29"/>
                                        </p:tgtEl>
                                      </p:cBhvr>
                                    </p:animEffect>
                                  </p:childTnLst>
                                </p:cTn>
                              </p:par>
                              <p:par>
                                <p:cTn id="56" presetID="22" presetClass="entr" presetSubtype="8" fill="hold" nodeType="withEffect">
                                  <p:stCondLst>
                                    <p:cond delay="3880"/>
                                  </p:stCondLst>
                                  <p:childTnLst>
                                    <p:set>
                                      <p:cBhvr>
                                        <p:cTn id="57" dur="1" fill="hold">
                                          <p:stCondLst>
                                            <p:cond delay="0"/>
                                          </p:stCondLst>
                                        </p:cTn>
                                        <p:tgtEl>
                                          <p:spTgt spid="30"/>
                                        </p:tgtEl>
                                        <p:attrNameLst>
                                          <p:attrName>style.visibility</p:attrName>
                                        </p:attrNameLst>
                                      </p:cBhvr>
                                      <p:to>
                                        <p:strVal val="visible"/>
                                      </p:to>
                                    </p:set>
                                    <p:animEffect transition="in" filter="wipe(left)">
                                      <p:cBhvr>
                                        <p:cTn id="58" dur="300"/>
                                        <p:tgtEl>
                                          <p:spTgt spid="30"/>
                                        </p:tgtEl>
                                      </p:cBhvr>
                                    </p:animEffect>
                                  </p:childTnLst>
                                </p:cTn>
                              </p:par>
                              <p:par>
                                <p:cTn id="59" presetID="42" presetClass="entr" presetSubtype="0" fill="hold" nodeType="withEffect">
                                  <p:stCondLst>
                                    <p:cond delay="4200"/>
                                  </p:stCondLst>
                                  <p:childTnLst>
                                    <p:set>
                                      <p:cBhvr>
                                        <p:cTn id="60" dur="1" fill="hold">
                                          <p:stCondLst>
                                            <p:cond delay="0"/>
                                          </p:stCondLst>
                                        </p:cTn>
                                        <p:tgtEl>
                                          <p:spTgt spid="33"/>
                                        </p:tgtEl>
                                        <p:attrNameLst>
                                          <p:attrName>style.visibility</p:attrName>
                                        </p:attrNameLst>
                                      </p:cBhvr>
                                      <p:to>
                                        <p:strVal val="visible"/>
                                      </p:to>
                                    </p:set>
                                    <p:anim calcmode="lin" valueType="num">
                                      <p:cBhvr>
                                        <p:cTn id="61" dur="550" fill="hold"/>
                                        <p:tgtEl>
                                          <p:spTgt spid="33"/>
                                        </p:tgtEl>
                                        <p:attrNameLst>
                                          <p:attrName>ppt_y</p:attrName>
                                        </p:attrNameLst>
                                      </p:cBhvr>
                                      <p:tavLst>
                                        <p:tav tm="0">
                                          <p:val>
                                            <p:strVal val="#ppt_y+.06"/>
                                          </p:val>
                                        </p:tav>
                                        <p:tav tm="100000">
                                          <p:val>
                                            <p:strVal val="#ppt_y"/>
                                          </p:val>
                                        </p:tav>
                                      </p:tavLst>
                                    </p:anim>
                                    <p:animEffect transition="in" filter="fade">
                                      <p:cBhvr>
                                        <p:cTn id="62" dur="550"/>
                                        <p:tgtEl>
                                          <p:spTgt spid="33"/>
                                        </p:tgtEl>
                                      </p:cBhvr>
                                    </p:animEffect>
                                  </p:childTnLst>
                                </p:cTn>
                              </p:par>
                              <p:par>
                                <p:cTn id="63" presetID="22" presetClass="entr" presetSubtype="1" fill="hold" nodeType="withEffect">
                                  <p:stCondLst>
                                    <p:cond delay="4900"/>
                                  </p:stCondLst>
                                  <p:childTnLst>
                                    <p:set>
                                      <p:cBhvr>
                                        <p:cTn id="64" dur="1" fill="hold">
                                          <p:stCondLst>
                                            <p:cond delay="0"/>
                                          </p:stCondLst>
                                        </p:cTn>
                                        <p:tgtEl>
                                          <p:spTgt spid="15"/>
                                        </p:tgtEl>
                                        <p:attrNameLst>
                                          <p:attrName>style.visibility</p:attrName>
                                        </p:attrNameLst>
                                      </p:cBhvr>
                                      <p:to>
                                        <p:strVal val="visible"/>
                                      </p:to>
                                    </p:set>
                                    <p:animEffect transition="in" filter="wipe(down)">
                                      <p:cBhvr>
                                        <p:cTn id="65" dur="260"/>
                                        <p:tgtEl>
                                          <p:spTgt spid="15"/>
                                        </p:tgtEl>
                                      </p:cBhvr>
                                    </p:animEffect>
                                  </p:childTnLst>
                                </p:cTn>
                              </p:par>
                              <p:par>
                                <p:cTn id="66" presetID="42" presetClass="entr" presetSubtype="0" fill="hold" nodeType="withEffect">
                                  <p:stCondLst>
                                    <p:cond delay="5050"/>
                                  </p:stCondLst>
                                  <p:childTnLst>
                                    <p:set>
                                      <p:cBhvr>
                                        <p:cTn id="67" dur="1" fill="hold">
                                          <p:stCondLst>
                                            <p:cond delay="0"/>
                                          </p:stCondLst>
                                        </p:cTn>
                                        <p:tgtEl>
                                          <p:spTgt spid="16"/>
                                        </p:tgtEl>
                                        <p:attrNameLst>
                                          <p:attrName>style.visibility</p:attrName>
                                        </p:attrNameLst>
                                      </p:cBhvr>
                                      <p:to>
                                        <p:strVal val="visible"/>
                                      </p:to>
                                    </p:set>
                                    <p:anim calcmode="lin" valueType="num">
                                      <p:cBhvr>
                                        <p:cTn id="68" dur="450" fill="hold"/>
                                        <p:tgtEl>
                                          <p:spTgt spid="16"/>
                                        </p:tgtEl>
                                        <p:attrNameLst>
                                          <p:attrName>ppt_y</p:attrName>
                                        </p:attrNameLst>
                                      </p:cBhvr>
                                      <p:tavLst>
                                        <p:tav tm="0">
                                          <p:val>
                                            <p:strVal val="#ppt_y+.06"/>
                                          </p:val>
                                        </p:tav>
                                        <p:tav tm="100000">
                                          <p:val>
                                            <p:strVal val="#ppt_y"/>
                                          </p:val>
                                        </p:tav>
                                      </p:tavLst>
                                    </p:anim>
                                    <p:animEffect transition="in" filter="fade">
                                      <p:cBhvr>
                                        <p:cTn id="69" dur="450"/>
                                        <p:tgtEl>
                                          <p:spTgt spid="16"/>
                                        </p:tgtEl>
                                      </p:cBhvr>
                                    </p:animEffect>
                                  </p:childTnLst>
                                </p:cTn>
                              </p:par>
                              <p:par>
                                <p:cTn id="70" presetID="22" presetClass="entr" presetSubtype="1" fill="hold" nodeType="withEffect">
                                  <p:stCondLst>
                                    <p:cond delay="5160"/>
                                  </p:stCondLst>
                                  <p:childTnLst>
                                    <p:set>
                                      <p:cBhvr>
                                        <p:cTn id="71" dur="1" fill="hold">
                                          <p:stCondLst>
                                            <p:cond delay="0"/>
                                          </p:stCondLst>
                                        </p:cTn>
                                        <p:tgtEl>
                                          <p:spTgt spid="19"/>
                                        </p:tgtEl>
                                        <p:attrNameLst>
                                          <p:attrName>style.visibility</p:attrName>
                                        </p:attrNameLst>
                                      </p:cBhvr>
                                      <p:to>
                                        <p:strVal val="visible"/>
                                      </p:to>
                                    </p:set>
                                    <p:animEffect transition="in" filter="wipe(down)">
                                      <p:cBhvr>
                                        <p:cTn id="72" dur="260"/>
                                        <p:tgtEl>
                                          <p:spTgt spid="19"/>
                                        </p:tgtEl>
                                      </p:cBhvr>
                                    </p:animEffect>
                                  </p:childTnLst>
                                </p:cTn>
                              </p:par>
                              <p:par>
                                <p:cTn id="73" presetID="42" presetClass="entr" presetSubtype="0" fill="hold" nodeType="withEffect">
                                  <p:stCondLst>
                                    <p:cond delay="5310"/>
                                  </p:stCondLst>
                                  <p:childTnLst>
                                    <p:set>
                                      <p:cBhvr>
                                        <p:cTn id="74" dur="1" fill="hold">
                                          <p:stCondLst>
                                            <p:cond delay="0"/>
                                          </p:stCondLst>
                                        </p:cTn>
                                        <p:tgtEl>
                                          <p:spTgt spid="20"/>
                                        </p:tgtEl>
                                        <p:attrNameLst>
                                          <p:attrName>style.visibility</p:attrName>
                                        </p:attrNameLst>
                                      </p:cBhvr>
                                      <p:to>
                                        <p:strVal val="visible"/>
                                      </p:to>
                                    </p:set>
                                    <p:anim calcmode="lin" valueType="num">
                                      <p:cBhvr>
                                        <p:cTn id="75" dur="450" fill="hold"/>
                                        <p:tgtEl>
                                          <p:spTgt spid="20"/>
                                        </p:tgtEl>
                                        <p:attrNameLst>
                                          <p:attrName>ppt_y</p:attrName>
                                        </p:attrNameLst>
                                      </p:cBhvr>
                                      <p:tavLst>
                                        <p:tav tm="0">
                                          <p:val>
                                            <p:strVal val="#ppt_y+.06"/>
                                          </p:val>
                                        </p:tav>
                                        <p:tav tm="100000">
                                          <p:val>
                                            <p:strVal val="#ppt_y"/>
                                          </p:val>
                                        </p:tav>
                                      </p:tavLst>
                                    </p:anim>
                                    <p:animEffect transition="in" filter="fade">
                                      <p:cBhvr>
                                        <p:cTn id="76" dur="450"/>
                                        <p:tgtEl>
                                          <p:spTgt spid="20"/>
                                        </p:tgtEl>
                                      </p:cBhvr>
                                    </p:animEffect>
                                  </p:childTnLst>
                                </p:cTn>
                              </p:par>
                              <p:par>
                                <p:cTn id="77" presetID="22" presetClass="entr" presetSubtype="1" fill="hold" nodeType="withEffect">
                                  <p:stCondLst>
                                    <p:cond delay="5420"/>
                                  </p:stCondLst>
                                  <p:childTnLst>
                                    <p:set>
                                      <p:cBhvr>
                                        <p:cTn id="78" dur="1" fill="hold">
                                          <p:stCondLst>
                                            <p:cond delay="0"/>
                                          </p:stCondLst>
                                        </p:cTn>
                                        <p:tgtEl>
                                          <p:spTgt spid="23"/>
                                        </p:tgtEl>
                                        <p:attrNameLst>
                                          <p:attrName>style.visibility</p:attrName>
                                        </p:attrNameLst>
                                      </p:cBhvr>
                                      <p:to>
                                        <p:strVal val="visible"/>
                                      </p:to>
                                    </p:set>
                                    <p:animEffect transition="in" filter="wipe(down)">
                                      <p:cBhvr>
                                        <p:cTn id="79" dur="260"/>
                                        <p:tgtEl>
                                          <p:spTgt spid="23"/>
                                        </p:tgtEl>
                                      </p:cBhvr>
                                    </p:animEffect>
                                  </p:childTnLst>
                                </p:cTn>
                              </p:par>
                              <p:par>
                                <p:cTn id="80" presetID="42" presetClass="entr" presetSubtype="0" fill="hold" nodeType="withEffect">
                                  <p:stCondLst>
                                    <p:cond delay="5570"/>
                                  </p:stCondLst>
                                  <p:childTnLst>
                                    <p:set>
                                      <p:cBhvr>
                                        <p:cTn id="81" dur="1" fill="hold">
                                          <p:stCondLst>
                                            <p:cond delay="0"/>
                                          </p:stCondLst>
                                        </p:cTn>
                                        <p:tgtEl>
                                          <p:spTgt spid="24"/>
                                        </p:tgtEl>
                                        <p:attrNameLst>
                                          <p:attrName>style.visibility</p:attrName>
                                        </p:attrNameLst>
                                      </p:cBhvr>
                                      <p:to>
                                        <p:strVal val="visible"/>
                                      </p:to>
                                    </p:set>
                                    <p:anim calcmode="lin" valueType="num">
                                      <p:cBhvr>
                                        <p:cTn id="82" dur="450" fill="hold"/>
                                        <p:tgtEl>
                                          <p:spTgt spid="24"/>
                                        </p:tgtEl>
                                        <p:attrNameLst>
                                          <p:attrName>ppt_y</p:attrName>
                                        </p:attrNameLst>
                                      </p:cBhvr>
                                      <p:tavLst>
                                        <p:tav tm="0">
                                          <p:val>
                                            <p:strVal val="#ppt_y+.06"/>
                                          </p:val>
                                        </p:tav>
                                        <p:tav tm="100000">
                                          <p:val>
                                            <p:strVal val="#ppt_y"/>
                                          </p:val>
                                        </p:tav>
                                      </p:tavLst>
                                    </p:anim>
                                    <p:animEffect transition="in" filter="fade">
                                      <p:cBhvr>
                                        <p:cTn id="83" dur="450"/>
                                        <p:tgtEl>
                                          <p:spTgt spid="24"/>
                                        </p:tgtEl>
                                      </p:cBhvr>
                                    </p:animEffect>
                                  </p:childTnLst>
                                </p:cTn>
                              </p:par>
                              <p:par>
                                <p:cTn id="84" presetID="22" presetClass="entr" presetSubtype="1" fill="hold" nodeType="withEffect">
                                  <p:stCondLst>
                                    <p:cond delay="5680"/>
                                  </p:stCondLst>
                                  <p:childTnLst>
                                    <p:set>
                                      <p:cBhvr>
                                        <p:cTn id="85" dur="1" fill="hold">
                                          <p:stCondLst>
                                            <p:cond delay="0"/>
                                          </p:stCondLst>
                                        </p:cTn>
                                        <p:tgtEl>
                                          <p:spTgt spid="27"/>
                                        </p:tgtEl>
                                        <p:attrNameLst>
                                          <p:attrName>style.visibility</p:attrName>
                                        </p:attrNameLst>
                                      </p:cBhvr>
                                      <p:to>
                                        <p:strVal val="visible"/>
                                      </p:to>
                                    </p:set>
                                    <p:animEffect transition="in" filter="wipe(down)">
                                      <p:cBhvr>
                                        <p:cTn id="86" dur="260"/>
                                        <p:tgtEl>
                                          <p:spTgt spid="27"/>
                                        </p:tgtEl>
                                      </p:cBhvr>
                                    </p:animEffect>
                                  </p:childTnLst>
                                </p:cTn>
                              </p:par>
                              <p:par>
                                <p:cTn id="87" presetID="42" presetClass="entr" presetSubtype="0" fill="hold" nodeType="withEffect">
                                  <p:stCondLst>
                                    <p:cond delay="5830"/>
                                  </p:stCondLst>
                                  <p:childTnLst>
                                    <p:set>
                                      <p:cBhvr>
                                        <p:cTn id="88" dur="1" fill="hold">
                                          <p:stCondLst>
                                            <p:cond delay="0"/>
                                          </p:stCondLst>
                                        </p:cTn>
                                        <p:tgtEl>
                                          <p:spTgt spid="28"/>
                                        </p:tgtEl>
                                        <p:attrNameLst>
                                          <p:attrName>style.visibility</p:attrName>
                                        </p:attrNameLst>
                                      </p:cBhvr>
                                      <p:to>
                                        <p:strVal val="visible"/>
                                      </p:to>
                                    </p:set>
                                    <p:anim calcmode="lin" valueType="num">
                                      <p:cBhvr>
                                        <p:cTn id="89" dur="450" fill="hold"/>
                                        <p:tgtEl>
                                          <p:spTgt spid="28"/>
                                        </p:tgtEl>
                                        <p:attrNameLst>
                                          <p:attrName>ppt_y</p:attrName>
                                        </p:attrNameLst>
                                      </p:cBhvr>
                                      <p:tavLst>
                                        <p:tav tm="0">
                                          <p:val>
                                            <p:strVal val="#ppt_y+.06"/>
                                          </p:val>
                                        </p:tav>
                                        <p:tav tm="100000">
                                          <p:val>
                                            <p:strVal val="#ppt_y"/>
                                          </p:val>
                                        </p:tav>
                                      </p:tavLst>
                                    </p:anim>
                                    <p:animEffect transition="in" filter="fade">
                                      <p:cBhvr>
                                        <p:cTn id="90" dur="450"/>
                                        <p:tgtEl>
                                          <p:spTgt spid="28"/>
                                        </p:tgtEl>
                                      </p:cBhvr>
                                    </p:animEffect>
                                  </p:childTnLst>
                                </p:cTn>
                              </p:par>
                              <p:par>
                                <p:cTn id="91" presetID="22" presetClass="entr" presetSubtype="1" fill="hold" nodeType="withEffect">
                                  <p:stCondLst>
                                    <p:cond delay="5940"/>
                                  </p:stCondLst>
                                  <p:childTnLst>
                                    <p:set>
                                      <p:cBhvr>
                                        <p:cTn id="92" dur="1" fill="hold">
                                          <p:stCondLst>
                                            <p:cond delay="0"/>
                                          </p:stCondLst>
                                        </p:cTn>
                                        <p:tgtEl>
                                          <p:spTgt spid="31"/>
                                        </p:tgtEl>
                                        <p:attrNameLst>
                                          <p:attrName>style.visibility</p:attrName>
                                        </p:attrNameLst>
                                      </p:cBhvr>
                                      <p:to>
                                        <p:strVal val="visible"/>
                                      </p:to>
                                    </p:set>
                                    <p:animEffect transition="in" filter="wipe(down)">
                                      <p:cBhvr>
                                        <p:cTn id="93" dur="260"/>
                                        <p:tgtEl>
                                          <p:spTgt spid="31"/>
                                        </p:tgtEl>
                                      </p:cBhvr>
                                    </p:animEffect>
                                  </p:childTnLst>
                                </p:cTn>
                              </p:par>
                              <p:par>
                                <p:cTn id="94" presetID="42" presetClass="entr" presetSubtype="0" fill="hold" nodeType="withEffect">
                                  <p:stCondLst>
                                    <p:cond delay="6090"/>
                                  </p:stCondLst>
                                  <p:childTnLst>
                                    <p:set>
                                      <p:cBhvr>
                                        <p:cTn id="95" dur="1" fill="hold">
                                          <p:stCondLst>
                                            <p:cond delay="0"/>
                                          </p:stCondLst>
                                        </p:cTn>
                                        <p:tgtEl>
                                          <p:spTgt spid="32"/>
                                        </p:tgtEl>
                                        <p:attrNameLst>
                                          <p:attrName>style.visibility</p:attrName>
                                        </p:attrNameLst>
                                      </p:cBhvr>
                                      <p:to>
                                        <p:strVal val="visible"/>
                                      </p:to>
                                    </p:set>
                                    <p:anim calcmode="lin" valueType="num">
                                      <p:cBhvr>
                                        <p:cTn id="96" dur="450" fill="hold"/>
                                        <p:tgtEl>
                                          <p:spTgt spid="32"/>
                                        </p:tgtEl>
                                        <p:attrNameLst>
                                          <p:attrName>ppt_y</p:attrName>
                                        </p:attrNameLst>
                                      </p:cBhvr>
                                      <p:tavLst>
                                        <p:tav tm="0">
                                          <p:val>
                                            <p:strVal val="#ppt_y+.06"/>
                                          </p:val>
                                        </p:tav>
                                        <p:tav tm="100000">
                                          <p:val>
                                            <p:strVal val="#ppt_y"/>
                                          </p:val>
                                        </p:tav>
                                      </p:tavLst>
                                    </p:anim>
                                    <p:animEffect transition="in" filter="fade">
                                      <p:cBhvr>
                                        <p:cTn id="97" dur="450"/>
                                        <p:tgtEl>
                                          <p:spTgt spid="32"/>
                                        </p:tgtEl>
                                      </p:cBhvr>
                                    </p:animEffect>
                                  </p:childTnLst>
                                </p:cTn>
                              </p:par>
                              <p:par>
                                <p:cTn id="98" presetID="22" presetClass="entr" presetSubtype="1" fill="hold" nodeType="withEffect">
                                  <p:stCondLst>
                                    <p:cond delay="6200"/>
                                  </p:stCondLst>
                                  <p:childTnLst>
                                    <p:set>
                                      <p:cBhvr>
                                        <p:cTn id="99" dur="1" fill="hold">
                                          <p:stCondLst>
                                            <p:cond delay="0"/>
                                          </p:stCondLst>
                                        </p:cTn>
                                        <p:tgtEl>
                                          <p:spTgt spid="34"/>
                                        </p:tgtEl>
                                        <p:attrNameLst>
                                          <p:attrName>style.visibility</p:attrName>
                                        </p:attrNameLst>
                                      </p:cBhvr>
                                      <p:to>
                                        <p:strVal val="visible"/>
                                      </p:to>
                                    </p:set>
                                    <p:animEffect transition="in" filter="wipe(down)">
                                      <p:cBhvr>
                                        <p:cTn id="100" dur="260"/>
                                        <p:tgtEl>
                                          <p:spTgt spid="34"/>
                                        </p:tgtEl>
                                      </p:cBhvr>
                                    </p:animEffect>
                                  </p:childTnLst>
                                </p:cTn>
                              </p:par>
                              <p:par>
                                <p:cTn id="101" presetID="10" presetClass="entr" presetSubtype="0" fill="hold" nodeType="withEffect">
                                  <p:stCondLst>
                                    <p:cond delay="6300"/>
                                  </p:stCondLst>
                                  <p:childTnLst>
                                    <p:set>
                                      <p:cBhvr>
                                        <p:cTn id="102" dur="1" fill="hold">
                                          <p:stCondLst>
                                            <p:cond delay="0"/>
                                          </p:stCondLst>
                                        </p:cTn>
                                        <p:tgtEl>
                                          <p:spTgt spid="12"/>
                                        </p:tgtEl>
                                        <p:attrNameLst>
                                          <p:attrName>style.visibility</p:attrName>
                                        </p:attrNameLst>
                                      </p:cBhvr>
                                      <p:to>
                                        <p:strVal val="visible"/>
                                      </p:to>
                                    </p:set>
                                    <p:animEffect transition="in" filter="fade">
                                      <p:cBhvr>
                                        <p:cTn id="103" dur="400"/>
                                        <p:tgtEl>
                                          <p:spTgt spid="12"/>
                                        </p:tgtEl>
                                      </p:cBhvr>
                                    </p:animEffect>
                                  </p:childTnLst>
                                </p:cTn>
                              </p:par>
                              <p:par>
                                <p:cTn id="104" presetID="42" presetClass="entr" presetSubtype="0" fill="hold" nodeType="withEffect">
                                  <p:stCondLst>
                                    <p:cond delay="6350"/>
                                  </p:stCondLst>
                                  <p:childTnLst>
                                    <p:set>
                                      <p:cBhvr>
                                        <p:cTn id="105" dur="1" fill="hold">
                                          <p:stCondLst>
                                            <p:cond delay="0"/>
                                          </p:stCondLst>
                                        </p:cTn>
                                        <p:tgtEl>
                                          <p:spTgt spid="35"/>
                                        </p:tgtEl>
                                        <p:attrNameLst>
                                          <p:attrName>style.visibility</p:attrName>
                                        </p:attrNameLst>
                                      </p:cBhvr>
                                      <p:to>
                                        <p:strVal val="visible"/>
                                      </p:to>
                                    </p:set>
                                    <p:anim calcmode="lin" valueType="num">
                                      <p:cBhvr>
                                        <p:cTn id="106" dur="450" fill="hold"/>
                                        <p:tgtEl>
                                          <p:spTgt spid="35"/>
                                        </p:tgtEl>
                                        <p:attrNameLst>
                                          <p:attrName>ppt_y</p:attrName>
                                        </p:attrNameLst>
                                      </p:cBhvr>
                                      <p:tavLst>
                                        <p:tav tm="0">
                                          <p:val>
                                            <p:strVal val="#ppt_y+.06"/>
                                          </p:val>
                                        </p:tav>
                                        <p:tav tm="100000">
                                          <p:val>
                                            <p:strVal val="#ppt_y"/>
                                          </p:val>
                                        </p:tav>
                                      </p:tavLst>
                                    </p:anim>
                                    <p:animEffect transition="in" filter="fade">
                                      <p:cBhvr>
                                        <p:cTn id="107" dur="450"/>
                                        <p:tgtEl>
                                          <p:spTgt spid="35"/>
                                        </p:tgtEl>
                                      </p:cBhvr>
                                    </p:animEffect>
                                  </p:childTnLst>
                                </p:cTn>
                              </p:par>
                              <p:par>
                                <p:cTn id="108" presetID="26" presetClass="emph" presetSubtype="0" fill="hold" nodeType="withEffect">
                                  <p:stCondLst>
                                    <p:cond delay="6800"/>
                                  </p:stCondLst>
                                  <p:childTnLst>
                                    <p:animScale>
                                      <p:cBhvr>
                                        <p:cTn id="109" dur="450" autoRev="1" fill="hold"/>
                                        <p:tgtEl>
                                          <p:spTgt spid="25"/>
                                        </p:tgtEl>
                                      </p:cBhvr>
                                      <p:by x="106000" y="106000"/>
                                    </p:animScale>
                                  </p:childTnLst>
                                </p:cTn>
                              </p:par>
                              <p:par>
                                <p:cTn id="110" presetID="42" presetClass="entr" presetSubtype="0" fill="hold" nodeType="withEffect">
                                  <p:stCondLst>
                                    <p:cond delay="6900"/>
                                  </p:stCondLst>
                                  <p:childTnLst>
                                    <p:set>
                                      <p:cBhvr>
                                        <p:cTn id="111" dur="1" fill="hold">
                                          <p:stCondLst>
                                            <p:cond delay="0"/>
                                          </p:stCondLst>
                                        </p:cTn>
                                        <p:tgtEl>
                                          <p:spTgt spid="36"/>
                                        </p:tgtEl>
                                        <p:attrNameLst>
                                          <p:attrName>style.visibility</p:attrName>
                                        </p:attrNameLst>
                                      </p:cBhvr>
                                      <p:to>
                                        <p:strVal val="visible"/>
                                      </p:to>
                                    </p:set>
                                    <p:anim calcmode="lin" valueType="num">
                                      <p:cBhvr>
                                        <p:cTn id="112" dur="500" fill="hold"/>
                                        <p:tgtEl>
                                          <p:spTgt spid="36"/>
                                        </p:tgtEl>
                                        <p:attrNameLst>
                                          <p:attrName>ppt_y</p:attrName>
                                        </p:attrNameLst>
                                      </p:cBhvr>
                                      <p:tavLst>
                                        <p:tav tm="0">
                                          <p:val>
                                            <p:strVal val="#ppt_y+.06"/>
                                          </p:val>
                                        </p:tav>
                                        <p:tav tm="100000">
                                          <p:val>
                                            <p:strVal val="#ppt_y"/>
                                          </p:val>
                                        </p:tav>
                                      </p:tavLst>
                                    </p:anim>
                                    <p:animEffect transition="in" filter="fade">
                                      <p:cBhvr>
                                        <p:cTn id="11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6"/>
        </a:solidFill>
      </p:bgPr>
    </p:bg>
    <p:spTree>
      <p:nvGrpSpPr>
        <p:cNvPr id="1" name=""/>
        <p:cNvGrpSpPr/>
        <p:nvPr/>
      </p:nvGrpSpPr>
      <p:grpSpPr>
        <a:xfrm>
          <a:off x="0" y="0"/>
          <a:ext cx="0" cy="0"/>
          <a:chOff x="0" y="0"/>
          <a:chExt cx="0" cy="0"/>
        </a:xfrm>
      </p:grpSpPr>
      <p:sp>
        <p:nvSpPr>
          <p:cNvPr id="2" name="kicker"/>
          <p:cNvSpPr/>
          <p:nvPr/>
        </p:nvSpPr>
        <p:spPr>
          <a:xfrm>
            <a:off x="640080" y="457200"/>
            <a:ext cx="8229600" cy="274320"/>
          </a:xfrm>
          <a:prstGeom prst="rect">
            <a:avLst/>
          </a:prstGeom>
          <a:noFill/>
          <a:ln/>
        </p:spPr>
        <p:txBody>
          <a:bodyPr wrap="square" lIns="0" tIns="0" rIns="0" bIns="0" rtlCol="0" anchor="t"/>
          <a:lstStyle/>
          <a:p>
            <a:pPr algn="l" indent="0" marL="0">
              <a:buNone/>
            </a:pPr>
            <a:r>
              <a:rPr lang="en-US" sz="1050" b="1" spc="150" kern="0" dirty="0">
                <a:solidFill>
                  <a:srgbClr val="0F766E"/>
                </a:solidFill>
                <a:latin typeface="Consolas" pitchFamily="34" charset="0"/>
                <a:ea typeface="Consolas" pitchFamily="34" charset="-122"/>
                <a:cs typeface="Consolas" pitchFamily="34" charset="-120"/>
              </a:rPr>
              <a:t>WHY IT IS MEANINGFUL, NOT GENERIC</a:t>
            </a:r>
            <a:endParaRPr lang="en-US" sz="1050" dirty="0"/>
          </a:p>
        </p:txBody>
      </p:sp>
      <p:sp>
        <p:nvSpPr>
          <p:cNvPr id="3" name="title"/>
          <p:cNvSpPr/>
          <p:nvPr/>
        </p:nvSpPr>
        <p:spPr>
          <a:xfrm>
            <a:off x="640080" y="749808"/>
            <a:ext cx="10881360" cy="822960"/>
          </a:xfrm>
          <a:prstGeom prst="rect">
            <a:avLst/>
          </a:prstGeom>
          <a:noFill/>
          <a:ln/>
        </p:spPr>
        <p:txBody>
          <a:bodyPr wrap="square" lIns="0" tIns="0" rIns="0" bIns="0" rtlCol="0" anchor="t"/>
          <a:lstStyle/>
          <a:p>
            <a:pPr algn="l" indent="0" marL="0">
              <a:buNone/>
            </a:pPr>
            <a:r>
              <a:rPr lang="en-US" sz="3400" dirty="0">
                <a:solidFill>
                  <a:srgbClr val="0C1F1C"/>
                </a:solidFill>
                <a:latin typeface="Segoe UI Semibold" pitchFamily="34" charset="0"/>
                <a:ea typeface="Segoe UI Semibold" pitchFamily="34" charset="-122"/>
                <a:cs typeface="Segoe UI Semibold" pitchFamily="34" charset="-120"/>
              </a:rPr>
              <a:t>AI that has to </a:t>
            </a:r>
            <a:pPr algn="l" indent="0" marL="0">
              <a:buNone/>
            </a:pPr>
            <a:r>
              <a:rPr lang="en-US" sz="3400" dirty="0">
                <a:solidFill>
                  <a:srgbClr val="0F766E"/>
                </a:solidFill>
                <a:latin typeface="Segoe UI Semibold" pitchFamily="34" charset="0"/>
                <a:ea typeface="Segoe UI Semibold" pitchFamily="34" charset="-122"/>
                <a:cs typeface="Segoe UI Semibold" pitchFamily="34" charset="-120"/>
              </a:rPr>
              <a:t>prove its work.</a:t>
            </a:r>
            <a:endParaRPr lang="en-US" sz="3400" dirty="0"/>
          </a:p>
        </p:txBody>
      </p:sp>
      <p:sp>
        <p:nvSpPr>
          <p:cNvPr id="4" name="foot-rule"/>
          <p:cNvSpPr/>
          <p:nvPr/>
        </p:nvSpPr>
        <p:spPr>
          <a:xfrm>
            <a:off x="640080" y="6400800"/>
            <a:ext cx="10911535" cy="0"/>
          </a:xfrm>
          <a:prstGeom prst="line">
            <a:avLst/>
          </a:prstGeom>
          <a:noFill/>
          <a:ln w="9525">
            <a:solidFill>
              <a:srgbClr val="D3E0DC"/>
            </a:solidFill>
            <a:prstDash val="solid"/>
          </a:ln>
        </p:spPr>
      </p:sp>
      <p:sp>
        <p:nvSpPr>
          <p:cNvPr id="5" name="foot-l"/>
          <p:cNvSpPr/>
          <p:nvPr/>
        </p:nvSpPr>
        <p:spPr>
          <a:xfrm>
            <a:off x="640080" y="6473952"/>
            <a:ext cx="7315200" cy="228600"/>
          </a:xfrm>
          <a:prstGeom prst="rect">
            <a:avLst/>
          </a:prstGeom>
          <a:noFill/>
          <a:ln/>
        </p:spPr>
        <p:txBody>
          <a:bodyPr wrap="square" lIns="0" tIns="0" rIns="0" bIns="0" rtlCol="0" anchor="t"/>
          <a:lstStyle/>
          <a:p>
            <a:pPr algn="l" indent="0" marL="0">
              <a:buNone/>
            </a:pPr>
            <a:r>
              <a:rPr lang="en-US" sz="850" spc="100" kern="0" dirty="0">
                <a:solidFill>
                  <a:srgbClr val="8DA09C"/>
                </a:solidFill>
                <a:latin typeface="Consolas" pitchFamily="34" charset="0"/>
                <a:ea typeface="Consolas" pitchFamily="34" charset="-122"/>
                <a:cs typeface="Consolas" pitchFamily="34" charset="-120"/>
              </a:rPr>
              <a:t>GALTI PAKAR  ·  AICON'26 BUILD WITH AI  ·  EDTECH &amp; WORKFORCE</a:t>
            </a:r>
            <a:endParaRPr lang="en-US" sz="850" dirty="0"/>
          </a:p>
        </p:txBody>
      </p:sp>
      <p:sp>
        <p:nvSpPr>
          <p:cNvPr id="6" name="foot-r"/>
          <p:cNvSpPr/>
          <p:nvPr/>
        </p:nvSpPr>
        <p:spPr>
          <a:xfrm>
            <a:off x="9722815" y="6473952"/>
            <a:ext cx="1828800" cy="228600"/>
          </a:xfrm>
          <a:prstGeom prst="rect">
            <a:avLst/>
          </a:prstGeom>
          <a:noFill/>
          <a:ln/>
        </p:spPr>
        <p:txBody>
          <a:bodyPr wrap="square" lIns="0" tIns="0" rIns="0" bIns="0" rtlCol="0" anchor="t"/>
          <a:lstStyle/>
          <a:p>
            <a:pPr algn="r" indent="0" marL="0">
              <a:buNone/>
            </a:pPr>
            <a:r>
              <a:rPr lang="en-US" sz="850" spc="100" kern="0" dirty="0">
                <a:solidFill>
                  <a:srgbClr val="8DA09C"/>
                </a:solidFill>
                <a:latin typeface="Consolas" pitchFamily="34" charset="0"/>
                <a:ea typeface="Consolas" pitchFamily="34" charset="-122"/>
                <a:cs typeface="Consolas" pitchFamily="34" charset="-120"/>
              </a:rPr>
              <a:t>4 / 5</a:t>
            </a:r>
            <a:endParaRPr lang="en-US" sz="850" dirty="0"/>
          </a:p>
        </p:txBody>
      </p:sp>
      <p:sp>
        <p:nvSpPr>
          <p:cNvPr id="7" name="trace-h"/>
          <p:cNvSpPr/>
          <p:nvPr/>
        </p:nvSpPr>
        <p:spPr>
          <a:xfrm>
            <a:off x="640080" y="1783080"/>
            <a:ext cx="6400800" cy="274320"/>
          </a:xfrm>
          <a:prstGeom prst="rect">
            <a:avLst/>
          </a:prstGeom>
          <a:noFill/>
          <a:ln/>
        </p:spPr>
        <p:txBody>
          <a:bodyPr wrap="square" lIns="0" tIns="0" rIns="0" bIns="0" rtlCol="0" anchor="t"/>
          <a:lstStyle/>
          <a:p>
            <a:pPr algn="l" indent="0" marL="0">
              <a:buNone/>
            </a:pPr>
            <a:r>
              <a:rPr lang="en-US" sz="1050" b="1" spc="150" kern="0" dirty="0">
                <a:solidFill>
                  <a:srgbClr val="586C68"/>
                </a:solidFill>
                <a:latin typeface="Consolas" pitchFamily="34" charset="0"/>
                <a:ea typeface="Consolas" pitchFamily="34" charset="-122"/>
                <a:cs typeface="Consolas" pitchFamily="34" charset="-120"/>
              </a:rPr>
              <a:t>ONE HIGHLIGHT, TRACED END TO END</a:t>
            </a:r>
            <a:endParaRPr lang="en-US" sz="1050" dirty="0"/>
          </a:p>
        </p:txBody>
      </p:sp>
      <p:sp>
        <p:nvSpPr>
          <p:cNvPr id="8" name="quote"/>
          <p:cNvSpPr/>
          <p:nvPr/>
        </p:nvSpPr>
        <p:spPr>
          <a:xfrm>
            <a:off x="640080" y="2148840"/>
            <a:ext cx="6583680" cy="713232"/>
          </a:xfrm>
          <a:prstGeom prst="roundRect">
            <a:avLst>
              <a:gd name="adj" fmla="val 12821"/>
            </a:avLst>
          </a:prstGeom>
          <a:solidFill>
            <a:srgbClr val="FFFFFF"/>
          </a:solidFill>
          <a:ln w="12700">
            <a:solidFill>
              <a:srgbClr val="D3E0DC"/>
            </a:solidFill>
          </a:ln>
          <a:effectLst>
            <a:outerShdw sx="100000" sy="100000" kx="0" ky="0" algn="bl" rotWithShape="0" blurRad="152400" dist="38100" dir="5400000">
              <a:srgbClr val="0C1F1C">
                <a:alpha val="12000"/>
              </a:srgbClr>
            </a:outerShdw>
          </a:effectLst>
        </p:spPr>
        <p:txBody>
          <a:bodyPr wrap="square" lIns="177800" tIns="177800" rIns="177800" bIns="177800" rtlCol="0" anchor="ctr"/>
          <a:lstStyle/>
          <a:p>
            <a:pPr indent="0" marL="0">
              <a:buNone/>
            </a:pPr>
            <a:r>
              <a:rPr lang="en-US" sz="1550" u="dash" dirty="0">
                <a:solidFill>
                  <a:srgbClr val="0C1F1C"/>
                </a:solidFill>
                <a:highlight>
                  <a:srgbClr val="FBEFC9"/>
                </a:highlight>
                <a:uFill>
                  <a:solidFill>
                    <a:srgbClr val="D9930A"/>
                  </a:solidFill>
                </a:uFill>
                <a:latin typeface="Segoe UI" pitchFamily="34" charset="0"/>
                <a:ea typeface="Segoe UI" pitchFamily="34" charset="-122"/>
                <a:cs typeface="Segoe UI" pitchFamily="34" charset="-120"/>
              </a:rPr>
              <a:t>…the shock travels outward to mills, traders and urban food prices</a:t>
            </a:r>
            <a:endParaRPr lang="en-US" sz="1550" dirty="0"/>
          </a:p>
        </p:txBody>
      </p:sp>
      <p:sp>
        <p:nvSpPr>
          <p:cNvPr id="9" name="step0"/>
          <p:cNvSpPr/>
          <p:nvPr/>
        </p:nvSpPr>
        <p:spPr>
          <a:xfrm>
            <a:off x="640080" y="3246120"/>
            <a:ext cx="1188720" cy="1371600"/>
          </a:xfrm>
          <a:prstGeom prst="roundRect">
            <a:avLst>
              <a:gd name="adj" fmla="val 7692"/>
            </a:avLst>
          </a:prstGeom>
          <a:solidFill>
            <a:srgbClr val="0F766E"/>
          </a:solidFill>
          <a:ln w="15875">
            <a:solidFill>
              <a:srgbClr val="0F766E"/>
            </a:solidFill>
          </a:ln>
        </p:spPr>
        <p:txBody>
          <a:bodyPr wrap="square" lIns="114300" tIns="114300" rIns="114300" bIns="114300" rtlCol="0" anchor="t"/>
          <a:lstStyle/>
          <a:p>
            <a:pPr indent="0" marL="0">
              <a:buNone/>
            </a:pPr>
            <a:r>
              <a:rPr lang="en-US" sz="950" b="1" spc="120" kern="0" dirty="0">
                <a:solidFill>
                  <a:srgbClr val="CFEFEA"/>
                </a:solidFill>
                <a:latin typeface="Consolas" pitchFamily="34" charset="0"/>
                <a:ea typeface="Consolas" pitchFamily="34" charset="-122"/>
                <a:cs typeface="Consolas" pitchFamily="34" charset="-120"/>
              </a:rPr>
              <a:t>READ</a:t>
            </a:r>
            <a:endParaRPr lang="en-US" sz="950" dirty="0"/>
          </a:p>
          <a:p>
            <a:pPr indent="0" marL="0">
              <a:buNone/>
            </a:pPr>
            <a:r>
              <a:rPr lang="en-US" sz="1100" dirty="0">
                <a:solidFill>
                  <a:srgbClr val="FFFFFF"/>
                </a:solidFill>
                <a:latin typeface="Segoe UI" pitchFamily="34" charset="0"/>
                <a:ea typeface="Segoe UI" pitchFamily="34" charset="-122"/>
                <a:cs typeface="Segoe UI" pitchFamily="34" charset="-120"/>
              </a:rPr>
              <a:t>Handwriting read as part of paragraph 2</a:t>
            </a:r>
            <a:endParaRPr lang="en-US" sz="950" dirty="0"/>
          </a:p>
        </p:txBody>
      </p:sp>
      <p:sp>
        <p:nvSpPr>
          <p:cNvPr id="10" name="st-arrow0"/>
          <p:cNvSpPr/>
          <p:nvPr/>
        </p:nvSpPr>
        <p:spPr>
          <a:xfrm>
            <a:off x="1234440" y="2880360"/>
            <a:ext cx="0" cy="347472"/>
          </a:xfrm>
          <a:prstGeom prst="line">
            <a:avLst/>
          </a:prstGeom>
          <a:noFill/>
          <a:ln w="15875">
            <a:solidFill>
              <a:srgbClr val="D9930A"/>
            </a:solidFill>
            <a:prstDash val="dash"/>
          </a:ln>
        </p:spPr>
      </p:sp>
      <p:sp>
        <p:nvSpPr>
          <p:cNvPr id="11" name="step1"/>
          <p:cNvSpPr/>
          <p:nvPr/>
        </p:nvSpPr>
        <p:spPr>
          <a:xfrm>
            <a:off x="1988820" y="3246120"/>
            <a:ext cx="1188720" cy="1371600"/>
          </a:xfrm>
          <a:prstGeom prst="roundRect">
            <a:avLst>
              <a:gd name="adj" fmla="val 7692"/>
            </a:avLst>
          </a:prstGeom>
          <a:solidFill>
            <a:srgbClr val="0F766E"/>
          </a:solidFill>
          <a:ln w="15875">
            <a:solidFill>
              <a:srgbClr val="0F766E"/>
            </a:solidFill>
          </a:ln>
        </p:spPr>
        <p:txBody>
          <a:bodyPr wrap="square" lIns="114300" tIns="114300" rIns="114300" bIns="114300" rtlCol="0" anchor="t"/>
          <a:lstStyle/>
          <a:p>
            <a:pPr indent="0" marL="0">
              <a:buNone/>
            </a:pPr>
            <a:r>
              <a:rPr lang="en-US" sz="950" b="1" spc="120" kern="0" dirty="0">
                <a:solidFill>
                  <a:srgbClr val="CFEFEA"/>
                </a:solidFill>
                <a:latin typeface="Consolas" pitchFamily="34" charset="0"/>
                <a:ea typeface="Consolas" pitchFamily="34" charset="-122"/>
                <a:cs typeface="Consolas" pitchFamily="34" charset="-120"/>
              </a:rPr>
              <a:t>LABEL</a:t>
            </a:r>
            <a:endParaRPr lang="en-US" sz="950" dirty="0"/>
          </a:p>
          <a:p>
            <a:pPr indent="0" marL="0">
              <a:buNone/>
            </a:pPr>
            <a:r>
              <a:rPr lang="en-US" sz="1100" dirty="0">
                <a:solidFill>
                  <a:srgbClr val="FFFFFF"/>
                </a:solidFill>
                <a:latin typeface="Segoe UI" pitchFamily="34" charset="0"/>
                <a:ea typeface="Segoe UI" pitchFamily="34" charset="-122"/>
                <a:cs typeface="Segoe UI" pitchFamily="34" charset="-120"/>
              </a:rPr>
              <a:t>Labelled as a claim</a:t>
            </a:r>
            <a:endParaRPr lang="en-US" sz="950" dirty="0"/>
          </a:p>
        </p:txBody>
      </p:sp>
      <p:sp>
        <p:nvSpPr>
          <p:cNvPr id="12" name="st-arrow1"/>
          <p:cNvSpPr/>
          <p:nvPr/>
        </p:nvSpPr>
        <p:spPr>
          <a:xfrm>
            <a:off x="2583180" y="2880360"/>
            <a:ext cx="0" cy="347472"/>
          </a:xfrm>
          <a:prstGeom prst="line">
            <a:avLst/>
          </a:prstGeom>
          <a:noFill/>
          <a:ln w="15875">
            <a:solidFill>
              <a:srgbClr val="D9930A"/>
            </a:solidFill>
            <a:prstDash val="dash"/>
          </a:ln>
        </p:spPr>
      </p:sp>
      <p:sp>
        <p:nvSpPr>
          <p:cNvPr id="13" name="step2"/>
          <p:cNvSpPr/>
          <p:nvPr/>
        </p:nvSpPr>
        <p:spPr>
          <a:xfrm>
            <a:off x="3337560" y="3246120"/>
            <a:ext cx="1188720" cy="1371600"/>
          </a:xfrm>
          <a:prstGeom prst="roundRect">
            <a:avLst>
              <a:gd name="adj" fmla="val 7692"/>
            </a:avLst>
          </a:prstGeom>
          <a:solidFill>
            <a:srgbClr val="0F766E"/>
          </a:solidFill>
          <a:ln w="15875">
            <a:solidFill>
              <a:srgbClr val="0F766E"/>
            </a:solidFill>
          </a:ln>
        </p:spPr>
        <p:txBody>
          <a:bodyPr wrap="square" lIns="114300" tIns="114300" rIns="114300" bIns="114300" rtlCol="0" anchor="t"/>
          <a:lstStyle/>
          <a:p>
            <a:pPr indent="0" marL="0">
              <a:buNone/>
            </a:pPr>
            <a:r>
              <a:rPr lang="en-US" sz="950" b="1" spc="120" kern="0" dirty="0">
                <a:solidFill>
                  <a:srgbClr val="CFEFEA"/>
                </a:solidFill>
                <a:latin typeface="Consolas" pitchFamily="34" charset="0"/>
                <a:ea typeface="Consolas" pitchFamily="34" charset="-122"/>
                <a:cs typeface="Consolas" pitchFamily="34" charset="-120"/>
              </a:rPr>
              <a:t>LINK</a:t>
            </a:r>
            <a:endParaRPr lang="en-US" sz="950" dirty="0"/>
          </a:p>
          <a:p>
            <a:pPr indent="0" marL="0">
              <a:buNone/>
            </a:pPr>
            <a:r>
              <a:rPr lang="en-US" sz="1100" dirty="0">
                <a:solidFill>
                  <a:srgbClr val="FFFFFF"/>
                </a:solidFill>
                <a:latin typeface="Segoe UI" pitchFamily="34" charset="0"/>
                <a:ea typeface="Segoe UI" pitchFamily="34" charset="-122"/>
                <a:cs typeface="Segoe UI" pitchFamily="34" charset="-120"/>
              </a:rPr>
              <a:t>Nearest evidence by meaning: 0.52</a:t>
            </a:r>
            <a:endParaRPr lang="en-US" sz="950" dirty="0"/>
          </a:p>
        </p:txBody>
      </p:sp>
      <p:sp>
        <p:nvSpPr>
          <p:cNvPr id="14" name="st-arrow2"/>
          <p:cNvSpPr/>
          <p:nvPr/>
        </p:nvSpPr>
        <p:spPr>
          <a:xfrm>
            <a:off x="3931920" y="2880360"/>
            <a:ext cx="0" cy="347472"/>
          </a:xfrm>
          <a:prstGeom prst="line">
            <a:avLst/>
          </a:prstGeom>
          <a:noFill/>
          <a:ln w="15875">
            <a:solidFill>
              <a:srgbClr val="D9930A"/>
            </a:solidFill>
            <a:prstDash val="dash"/>
          </a:ln>
        </p:spPr>
      </p:sp>
      <p:sp>
        <p:nvSpPr>
          <p:cNvPr id="15" name="step3"/>
          <p:cNvSpPr/>
          <p:nvPr/>
        </p:nvSpPr>
        <p:spPr>
          <a:xfrm>
            <a:off x="4686300" y="3246120"/>
            <a:ext cx="1188720" cy="1371600"/>
          </a:xfrm>
          <a:prstGeom prst="roundRect">
            <a:avLst>
              <a:gd name="adj" fmla="val 7692"/>
            </a:avLst>
          </a:prstGeom>
          <a:solidFill>
            <a:srgbClr val="FFFFFF"/>
          </a:solidFill>
          <a:ln w="15875">
            <a:solidFill>
              <a:srgbClr val="0F766E"/>
            </a:solidFill>
          </a:ln>
        </p:spPr>
        <p:txBody>
          <a:bodyPr wrap="square" lIns="114300" tIns="114300" rIns="114300" bIns="114300" rtlCol="0" anchor="t"/>
          <a:lstStyle/>
          <a:p>
            <a:pPr indent="0" marL="0">
              <a:buNone/>
            </a:pPr>
            <a:r>
              <a:rPr lang="en-US" sz="950" b="1" spc="120" kern="0" dirty="0">
                <a:solidFill>
                  <a:srgbClr val="0F766E"/>
                </a:solidFill>
                <a:latin typeface="Consolas" pitchFamily="34" charset="0"/>
                <a:ea typeface="Consolas" pitchFamily="34" charset="-122"/>
                <a:cs typeface="Consolas" pitchFamily="34" charset="-120"/>
              </a:rPr>
              <a:t>RULE</a:t>
            </a:r>
            <a:endParaRPr lang="en-US" sz="950" dirty="0"/>
          </a:p>
          <a:p>
            <a:pPr indent="0" marL="0">
              <a:buNone/>
            </a:pPr>
            <a:r>
              <a:rPr lang="en-US" sz="1100" dirty="0">
                <a:solidFill>
                  <a:srgbClr val="0C1F1C"/>
                </a:solidFill>
                <a:latin typeface="Segoe UI" pitchFamily="34" charset="0"/>
                <a:ea typeface="Segoe UI" pitchFamily="34" charset="-122"/>
                <a:cs typeface="Segoe UI" pitchFamily="34" charset="-120"/>
              </a:rPr>
              <a:t>0.45 to 0.60 counts as a weak link</a:t>
            </a:r>
            <a:endParaRPr lang="en-US" sz="950" dirty="0"/>
          </a:p>
        </p:txBody>
      </p:sp>
      <p:sp>
        <p:nvSpPr>
          <p:cNvPr id="16" name="st-arrow3"/>
          <p:cNvSpPr/>
          <p:nvPr/>
        </p:nvSpPr>
        <p:spPr>
          <a:xfrm>
            <a:off x="5280660" y="2880360"/>
            <a:ext cx="0" cy="347472"/>
          </a:xfrm>
          <a:prstGeom prst="line">
            <a:avLst/>
          </a:prstGeom>
          <a:noFill/>
          <a:ln w="15875">
            <a:solidFill>
              <a:srgbClr val="D9930A"/>
            </a:solidFill>
            <a:prstDash val="dash"/>
          </a:ln>
        </p:spPr>
      </p:sp>
      <p:sp>
        <p:nvSpPr>
          <p:cNvPr id="17" name="step4"/>
          <p:cNvSpPr/>
          <p:nvPr/>
        </p:nvSpPr>
        <p:spPr>
          <a:xfrm>
            <a:off x="6035040" y="3246120"/>
            <a:ext cx="1188720" cy="1371600"/>
          </a:xfrm>
          <a:prstGeom prst="roundRect">
            <a:avLst>
              <a:gd name="adj" fmla="val 7692"/>
            </a:avLst>
          </a:prstGeom>
          <a:solidFill>
            <a:srgbClr val="FFFFFF"/>
          </a:solidFill>
          <a:ln w="15875">
            <a:solidFill>
              <a:srgbClr val="0F766E"/>
            </a:solidFill>
          </a:ln>
        </p:spPr>
        <p:txBody>
          <a:bodyPr wrap="square" lIns="114300" tIns="114300" rIns="114300" bIns="114300" rtlCol="0" anchor="t"/>
          <a:lstStyle/>
          <a:p>
            <a:pPr indent="0" marL="0">
              <a:buNone/>
            </a:pPr>
            <a:r>
              <a:rPr lang="en-US" sz="950" b="1" spc="120" kern="0" dirty="0">
                <a:solidFill>
                  <a:srgbClr val="0F766E"/>
                </a:solidFill>
                <a:latin typeface="Consolas" pitchFamily="34" charset="0"/>
                <a:ea typeface="Consolas" pitchFamily="34" charset="-122"/>
                <a:cs typeface="Consolas" pitchFamily="34" charset="-120"/>
              </a:rPr>
              <a:t>VERIFY</a:t>
            </a:r>
            <a:endParaRPr lang="en-US" sz="950" dirty="0"/>
          </a:p>
          <a:p>
            <a:pPr indent="0" marL="0">
              <a:buNone/>
            </a:pPr>
            <a:r>
              <a:rPr lang="en-US" sz="1100" dirty="0">
                <a:solidFill>
                  <a:srgbClr val="0C1F1C"/>
                </a:solidFill>
                <a:latin typeface="Segoe UI" pitchFamily="34" charset="0"/>
                <a:ea typeface="Segoe UI" pitchFamily="34" charset="-122"/>
                <a:cs typeface="Segoe UI" pitchFamily="34" charset="-120"/>
              </a:rPr>
              <a:t>Both passages exist in the essay</a:t>
            </a:r>
            <a:endParaRPr lang="en-US" sz="950" dirty="0"/>
          </a:p>
        </p:txBody>
      </p:sp>
      <p:sp>
        <p:nvSpPr>
          <p:cNvPr id="18" name="st-arrow4"/>
          <p:cNvSpPr/>
          <p:nvPr/>
        </p:nvSpPr>
        <p:spPr>
          <a:xfrm>
            <a:off x="6629400" y="2880360"/>
            <a:ext cx="0" cy="347472"/>
          </a:xfrm>
          <a:prstGeom prst="line">
            <a:avLst/>
          </a:prstGeom>
          <a:noFill/>
          <a:ln w="15875">
            <a:solidFill>
              <a:srgbClr val="D9930A"/>
            </a:solidFill>
            <a:prstDash val="dash"/>
          </a:ln>
        </p:spPr>
      </p:sp>
      <p:sp>
        <p:nvSpPr>
          <p:cNvPr id="19" name="legend"/>
          <p:cNvSpPr/>
          <p:nvPr/>
        </p:nvSpPr>
        <p:spPr>
          <a:xfrm>
            <a:off x="640080" y="4709160"/>
            <a:ext cx="6583680" cy="274320"/>
          </a:xfrm>
          <a:prstGeom prst="rect">
            <a:avLst/>
          </a:prstGeom>
          <a:noFill/>
          <a:ln/>
        </p:spPr>
        <p:txBody>
          <a:bodyPr wrap="square" lIns="0" tIns="0" rIns="0" bIns="0" rtlCol="0" anchor="t"/>
          <a:lstStyle/>
          <a:p>
            <a:pPr algn="l" indent="0" marL="0">
              <a:buNone/>
            </a:pPr>
            <a:r>
              <a:rPr lang="en-US" sz="850" spc="60" kern="0" dirty="0">
                <a:solidFill>
                  <a:srgbClr val="8DA09C"/>
                </a:solidFill>
                <a:latin typeface="Consolas" pitchFamily="34" charset="0"/>
                <a:ea typeface="Consolas" pitchFamily="34" charset="-122"/>
                <a:cs typeface="Consolas" pitchFamily="34" charset="-120"/>
              </a:rPr>
              <a:t>teal = AI  ·  outlined = code  ·  example report, sample data</a:t>
            </a:r>
            <a:endParaRPr lang="en-US" sz="850" dirty="0"/>
          </a:p>
        </p:txBody>
      </p:sp>
      <p:sp>
        <p:nvSpPr>
          <p:cNvPr id="20" name="result"/>
          <p:cNvSpPr/>
          <p:nvPr/>
        </p:nvSpPr>
        <p:spPr>
          <a:xfrm>
            <a:off x="640080" y="5029200"/>
            <a:ext cx="6583680" cy="640080"/>
          </a:xfrm>
          <a:prstGeom prst="roundRect">
            <a:avLst>
              <a:gd name="adj" fmla="val 14286"/>
            </a:avLst>
          </a:prstGeom>
          <a:solidFill>
            <a:srgbClr val="FBEFC9"/>
          </a:solidFill>
          <a:ln/>
        </p:spPr>
        <p:txBody>
          <a:bodyPr wrap="square" lIns="177800" tIns="177800" rIns="177800" bIns="177800" rtlCol="0" anchor="ctr"/>
          <a:lstStyle/>
          <a:p>
            <a:pPr indent="0" marL="0">
              <a:buNone/>
            </a:pPr>
            <a:r>
              <a:rPr lang="en-US" sz="1050" b="1" spc="120" kern="0" dirty="0">
                <a:solidFill>
                  <a:srgbClr val="7A5200"/>
                </a:solidFill>
                <a:latin typeface="Consolas" pitchFamily="34" charset="0"/>
                <a:ea typeface="Consolas" pitchFamily="34" charset="-122"/>
                <a:cs typeface="Consolas" pitchFamily="34" charset="-120"/>
              </a:rPr>
              <a:t>AMBER  </a:t>
            </a:r>
            <a:pPr indent="0" marL="0">
              <a:buNone/>
            </a:pPr>
            <a:r>
              <a:rPr lang="en-US" sz="1250" dirty="0">
                <a:solidFill>
                  <a:srgbClr val="0C1F1C"/>
                </a:solidFill>
                <a:latin typeface="Segoe UI" pitchFamily="34" charset="0"/>
                <a:ea typeface="Segoe UI" pitchFamily="34" charset="-122"/>
                <a:cs typeface="Segoe UI" pitchFamily="34" charset="-120"/>
              </a:rPr>
              <a:t>Weak link: the evidence is only loosely connected to the claim.</a:t>
            </a:r>
            <a:endParaRPr lang="en-US" sz="1050" dirty="0"/>
          </a:p>
        </p:txBody>
      </p:sp>
      <p:sp>
        <p:nvSpPr>
          <p:cNvPr id="21" name="proof0"/>
          <p:cNvSpPr/>
          <p:nvPr/>
        </p:nvSpPr>
        <p:spPr>
          <a:xfrm>
            <a:off x="7589520" y="1783080"/>
            <a:ext cx="3959352" cy="1170432"/>
          </a:xfrm>
          <a:prstGeom prst="roundRect">
            <a:avLst>
              <a:gd name="adj" fmla="val 7813"/>
            </a:avLst>
          </a:prstGeom>
          <a:solidFill>
            <a:srgbClr val="FFFFFF"/>
          </a:solidFill>
          <a:ln w="12700">
            <a:solidFill>
              <a:srgbClr val="D3E0DC"/>
            </a:solidFill>
          </a:ln>
          <a:effectLst>
            <a:outerShdw sx="100000" sy="100000" kx="0" ky="0" algn="bl" rotWithShape="0" blurRad="152400" dist="38100" dir="5400000">
              <a:srgbClr val="0C1F1C">
                <a:alpha val="12000"/>
              </a:srgbClr>
            </a:outerShdw>
          </a:effectLst>
        </p:spPr>
        <p:txBody>
          <a:bodyPr wrap="square" lIns="165100" tIns="165100" rIns="165100" bIns="165100" rtlCol="0" anchor="ctr"/>
          <a:lstStyle/>
          <a:p>
            <a:pPr indent="0" marL="0">
              <a:buNone/>
            </a:pPr>
            <a:r>
              <a:rPr lang="en-US" sz="2400" dirty="0">
                <a:solidFill>
                  <a:srgbClr val="0F766E"/>
                </a:solidFill>
                <a:latin typeface="Segoe UI Semibold" pitchFamily="34" charset="0"/>
                <a:ea typeface="Segoe UI Semibold" pitchFamily="34" charset="-122"/>
                <a:cs typeface="Segoe UI Semibold" pitchFamily="34" charset="-120"/>
              </a:rPr>
              <a:t>2  </a:t>
            </a:r>
            <a:pPr indent="0" marL="0">
              <a:buNone/>
            </a:pPr>
            <a:r>
              <a:rPr lang="en-US" sz="1300" dirty="0">
                <a:solidFill>
                  <a:srgbClr val="0C1F1C"/>
                </a:solidFill>
                <a:latin typeface="Segoe UI Semibold" pitchFamily="34" charset="0"/>
                <a:ea typeface="Segoe UI Semibold" pitchFamily="34" charset="-122"/>
                <a:cs typeface="Segoe UI Semibold" pitchFamily="34" charset="-120"/>
              </a:rPr>
              <a:t>independent examiner runs</a:t>
            </a:r>
            <a:endParaRPr lang="en-US" sz="2400" dirty="0"/>
          </a:p>
          <a:p>
            <a:pPr indent="0" marL="0">
              <a:buNone/>
            </a:pPr>
            <a:r>
              <a:rPr lang="en-US" sz="1050" dirty="0">
                <a:solidFill>
                  <a:srgbClr val="586C68"/>
                </a:solidFill>
                <a:latin typeface="Segoe UI" pitchFamily="34" charset="0"/>
                <a:ea typeface="Segoe UI" pitchFamily="34" charset="-122"/>
                <a:cs typeface="Segoe UI" pitchFamily="34" charset="-120"/>
              </a:rPr>
              <a:t>Where they disagree, the report shows it instead of averaging it away.</a:t>
            </a:r>
            <a:endParaRPr lang="en-US" sz="2400" dirty="0"/>
          </a:p>
        </p:txBody>
      </p:sp>
      <p:sp>
        <p:nvSpPr>
          <p:cNvPr id="22" name="proof1"/>
          <p:cNvSpPr/>
          <p:nvPr/>
        </p:nvSpPr>
        <p:spPr>
          <a:xfrm>
            <a:off x="7589520" y="3081528"/>
            <a:ext cx="3959352" cy="1170432"/>
          </a:xfrm>
          <a:prstGeom prst="roundRect">
            <a:avLst>
              <a:gd name="adj" fmla="val 7813"/>
            </a:avLst>
          </a:prstGeom>
          <a:solidFill>
            <a:srgbClr val="FFFFFF"/>
          </a:solidFill>
          <a:ln w="12700">
            <a:solidFill>
              <a:srgbClr val="D3E0DC"/>
            </a:solidFill>
          </a:ln>
          <a:effectLst>
            <a:outerShdw sx="100000" sy="100000" kx="0" ky="0" algn="bl" rotWithShape="0" blurRad="152400" dist="38100" dir="5400000">
              <a:srgbClr val="0C1F1C">
                <a:alpha val="12000"/>
              </a:srgbClr>
            </a:outerShdw>
          </a:effectLst>
        </p:spPr>
        <p:txBody>
          <a:bodyPr wrap="square" lIns="165100" tIns="165100" rIns="165100" bIns="165100" rtlCol="0" anchor="ctr"/>
          <a:lstStyle/>
          <a:p>
            <a:pPr indent="0" marL="0">
              <a:buNone/>
            </a:pPr>
            <a:r>
              <a:rPr lang="en-US" sz="2400" dirty="0">
                <a:solidFill>
                  <a:srgbClr val="0F766E"/>
                </a:solidFill>
                <a:latin typeface="Segoe UI Semibold" pitchFamily="34" charset="0"/>
                <a:ea typeface="Segoe UI Semibold" pitchFamily="34" charset="-122"/>
                <a:cs typeface="Segoe UI Semibold" pitchFamily="34" charset="-120"/>
              </a:rPr>
              <a:t>1 of 11  </a:t>
            </a:r>
            <a:pPr indent="0" marL="0">
              <a:buNone/>
            </a:pPr>
            <a:r>
              <a:rPr lang="en-US" sz="1300" dirty="0">
                <a:solidFill>
                  <a:srgbClr val="0C1F1C"/>
                </a:solidFill>
                <a:latin typeface="Segoe UI Semibold" pitchFamily="34" charset="0"/>
                <a:ea typeface="Segoe UI Semibold" pitchFamily="34" charset="-122"/>
                <a:cs typeface="Segoe UI Semibold" pitchFamily="34" charset="-120"/>
              </a:rPr>
              <a:t>quotes invented</a:t>
            </a:r>
            <a:endParaRPr lang="en-US" sz="2400" dirty="0"/>
          </a:p>
          <a:p>
            <a:pPr indent="0" marL="0">
              <a:buNone/>
            </a:pPr>
            <a:r>
              <a:rPr lang="en-US" sz="1050" dirty="0">
                <a:solidFill>
                  <a:srgbClr val="586C68"/>
                </a:solidFill>
                <a:latin typeface="Segoe UI" pitchFamily="34" charset="0"/>
                <a:ea typeface="Segoe UI" pitchFamily="34" charset="-122"/>
                <a:cs typeface="Segoe UI" pitchFamily="34" charset="-120"/>
              </a:rPr>
              <a:t>Caught and removed in one test run. A quote must exist in the essay.</a:t>
            </a:r>
            <a:endParaRPr lang="en-US" sz="2400" dirty="0"/>
          </a:p>
        </p:txBody>
      </p:sp>
      <p:sp>
        <p:nvSpPr>
          <p:cNvPr id="23" name="proof2"/>
          <p:cNvSpPr/>
          <p:nvPr/>
        </p:nvSpPr>
        <p:spPr>
          <a:xfrm>
            <a:off x="7589520" y="4379976"/>
            <a:ext cx="3959352" cy="1170432"/>
          </a:xfrm>
          <a:prstGeom prst="roundRect">
            <a:avLst>
              <a:gd name="adj" fmla="val 7813"/>
            </a:avLst>
          </a:prstGeom>
          <a:solidFill>
            <a:srgbClr val="FFFFFF"/>
          </a:solidFill>
          <a:ln w="12700">
            <a:solidFill>
              <a:srgbClr val="D3E0DC"/>
            </a:solidFill>
          </a:ln>
          <a:effectLst>
            <a:outerShdw sx="100000" sy="100000" kx="0" ky="0" algn="bl" rotWithShape="0" blurRad="152400" dist="38100" dir="5400000">
              <a:srgbClr val="0C1F1C">
                <a:alpha val="12000"/>
              </a:srgbClr>
            </a:outerShdw>
          </a:effectLst>
        </p:spPr>
        <p:txBody>
          <a:bodyPr wrap="square" lIns="165100" tIns="165100" rIns="165100" bIns="165100" rtlCol="0" anchor="ctr"/>
          <a:lstStyle/>
          <a:p>
            <a:pPr indent="0" marL="0">
              <a:buNone/>
            </a:pPr>
            <a:r>
              <a:rPr lang="en-US" sz="2400" dirty="0">
                <a:solidFill>
                  <a:srgbClr val="0F766E"/>
                </a:solidFill>
                <a:latin typeface="Segoe UI Semibold" pitchFamily="34" charset="0"/>
                <a:ea typeface="Segoe UI Semibold" pitchFamily="34" charset="-122"/>
                <a:cs typeface="Segoe UI Semibold" pitchFamily="34" charset="-120"/>
              </a:rPr>
              <a:t>Our own  </a:t>
            </a:r>
            <a:pPr indent="0" marL="0">
              <a:buNone/>
            </a:pPr>
            <a:r>
              <a:rPr lang="en-US" sz="1300" dirty="0">
                <a:solidFill>
                  <a:srgbClr val="0C1F1C"/>
                </a:solidFill>
                <a:latin typeface="Segoe UI Semibold" pitchFamily="34" charset="0"/>
                <a:ea typeface="Segoe UI Semibold" pitchFamily="34" charset="-122"/>
                <a:cs typeface="Segoe UI Semibold" pitchFamily="34" charset="-120"/>
              </a:rPr>
              <a:t>trained classifier</a:t>
            </a:r>
            <a:endParaRPr lang="en-US" sz="2400" dirty="0"/>
          </a:p>
          <a:p>
            <a:pPr indent="0" marL="0">
              <a:buNone/>
            </a:pPr>
            <a:r>
              <a:rPr lang="en-US" sz="1050" dirty="0">
                <a:solidFill>
                  <a:srgbClr val="586C68"/>
                </a:solidFill>
                <a:latin typeface="Segoe UI" pitchFamily="34" charset="0"/>
                <a:ea typeface="Segoe UI" pitchFamily="34" charset="-122"/>
                <a:cs typeface="Segoe UI" pitchFamily="34" charset="-120"/>
              </a:rPr>
              <a:t>Scores generic sentences. 550 synthetic sentences, and we say so.</a:t>
            </a:r>
            <a:endParaRPr lang="en-US" sz="2400" dirty="0"/>
          </a:p>
        </p:txBody>
      </p:sp>
      <p:sp>
        <p:nvSpPr>
          <p:cNvPr id="24" name="never"/>
          <p:cNvSpPr/>
          <p:nvPr/>
        </p:nvSpPr>
        <p:spPr>
          <a:xfrm>
            <a:off x="7589520" y="5742432"/>
            <a:ext cx="3959352" cy="502920"/>
          </a:xfrm>
          <a:prstGeom prst="roundRect">
            <a:avLst>
              <a:gd name="adj" fmla="val 21818"/>
            </a:avLst>
          </a:prstGeom>
          <a:solidFill>
            <a:srgbClr val="0C1F1C"/>
          </a:solidFill>
          <a:ln/>
        </p:spPr>
        <p:txBody>
          <a:bodyPr wrap="square" lIns="152400" tIns="152400" rIns="152400" bIns="152400" rtlCol="0" anchor="ctr"/>
          <a:lstStyle/>
          <a:p>
            <a:pPr indent="0" marL="0">
              <a:buNone/>
            </a:pPr>
            <a:r>
              <a:rPr lang="en-US" sz="1100" dirty="0">
                <a:solidFill>
                  <a:srgbClr val="FFFFFF"/>
                </a:solidFill>
                <a:latin typeface="Segoe UI Semibold" pitchFamily="34" charset="0"/>
                <a:ea typeface="Segoe UI Semibold" pitchFamily="34" charset="-122"/>
                <a:cs typeface="Segoe UI Semibold" pitchFamily="34" charset="-120"/>
              </a:rPr>
              <a:t>The AI never sets the band, picks what to fix, or invents a figure.</a:t>
            </a:r>
            <a:endParaRPr lang="en-US" sz="1100" dirty="0"/>
          </a:p>
        </p:txBody>
      </p:sp>
      <p:sp>
        <p:nvSpPr>
          <p:cNvPr id="25" name="remove"/>
          <p:cNvSpPr/>
          <p:nvPr/>
        </p:nvSpPr>
        <p:spPr>
          <a:xfrm>
            <a:off x="640080" y="5852160"/>
            <a:ext cx="6583680" cy="411480"/>
          </a:xfrm>
          <a:prstGeom prst="rect">
            <a:avLst/>
          </a:prstGeom>
          <a:noFill/>
          <a:ln/>
        </p:spPr>
        <p:txBody>
          <a:bodyPr wrap="square" lIns="0" tIns="0" rIns="0" bIns="0" rtlCol="0" anchor="t"/>
          <a:lstStyle/>
          <a:p>
            <a:pPr algn="l" indent="0" marL="0">
              <a:buNone/>
            </a:pPr>
            <a:r>
              <a:rPr lang="en-US" sz="1050" dirty="0">
                <a:solidFill>
                  <a:srgbClr val="586C68"/>
                </a:solidFill>
                <a:latin typeface="Segoe UI" pitchFamily="34" charset="0"/>
                <a:ea typeface="Segoe UI" pitchFamily="34" charset="-122"/>
                <a:cs typeface="Segoe UI" pitchFamily="34" charset="-120"/>
              </a:rPr>
              <a:t>Remove the AI and the product is gone: no handwriting reading, no measuring of meaning.</a:t>
            </a:r>
            <a:endParaRPr lang="en-US" sz="105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50"/>
                                  </p:stCondLst>
                                  <p:childTnLst>
                                    <p:set>
                                      <p:cBhvr>
                                        <p:cTn id="6" dur="1" fill="hold">
                                          <p:stCondLst>
                                            <p:cond delay="0"/>
                                          </p:stCondLst>
                                        </p:cTn>
                                        <p:tgtEl>
                                          <p:spTgt spid="3"/>
                                        </p:tgtEl>
                                        <p:attrNameLst>
                                          <p:attrName>style.visibility</p:attrName>
                                        </p:attrNameLst>
                                      </p:cBhvr>
                                      <p:to>
                                        <p:strVal val="visible"/>
                                      </p:to>
                                    </p:set>
                                    <p:anim calcmode="lin" valueType="num">
                                      <p:cBhvr>
                                        <p:cTn id="7" dur="600" fill="hold"/>
                                        <p:tgtEl>
                                          <p:spTgt spid="3"/>
                                        </p:tgtEl>
                                        <p:attrNameLst>
                                          <p:attrName>ppt_y</p:attrName>
                                        </p:attrNameLst>
                                      </p:cBhvr>
                                      <p:tavLst>
                                        <p:tav tm="0">
                                          <p:val>
                                            <p:strVal val="#ppt_y+.06"/>
                                          </p:val>
                                        </p:tav>
                                        <p:tav tm="100000">
                                          <p:val>
                                            <p:strVal val="#ppt_y"/>
                                          </p:val>
                                        </p:tav>
                                      </p:tavLst>
                                    </p:anim>
                                    <p:animEffect transition="in" filter="fade">
                                      <p:cBhvr>
                                        <p:cTn id="8" dur="600"/>
                                        <p:tgtEl>
                                          <p:spTgt spid="3"/>
                                        </p:tgtEl>
                                      </p:cBhvr>
                                    </p:animEffect>
                                  </p:childTnLst>
                                </p:cTn>
                              </p:par>
                              <p:par>
                                <p:cTn id="9" presetID="10" presetClass="entr" presetSubtype="0" fill="hold" nodeType="withEffect">
                                  <p:stCondLst>
                                    <p:cond delay="3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22" presetClass="entr" presetSubtype="8" fill="hold" nodeType="withEffect">
                                  <p:stCondLst>
                                    <p:cond delay="700"/>
                                  </p:stCondLst>
                                  <p:childTnLst>
                                    <p:set>
                                      <p:cBhvr>
                                        <p:cTn id="13" dur="1" fill="hold">
                                          <p:stCondLst>
                                            <p:cond delay="0"/>
                                          </p:stCondLst>
                                        </p:cTn>
                                        <p:tgtEl>
                                          <p:spTgt spid="8"/>
                                        </p:tgtEl>
                                        <p:attrNameLst>
                                          <p:attrName>style.visibility</p:attrName>
                                        </p:attrNameLst>
                                      </p:cBhvr>
                                      <p:to>
                                        <p:strVal val="visible"/>
                                      </p:to>
                                    </p:set>
                                    <p:animEffect transition="in" filter="wipe(left)">
                                      <p:cBhvr>
                                        <p:cTn id="14" dur="700"/>
                                        <p:tgtEl>
                                          <p:spTgt spid="8"/>
                                        </p:tgtEl>
                                      </p:cBhvr>
                                    </p:animEffect>
                                  </p:childTnLst>
                                </p:cTn>
                              </p:par>
                              <p:par>
                                <p:cTn id="15" presetID="42" presetClass="entr" presetSubtype="0" fill="hold" nodeType="withEffect">
                                  <p:stCondLst>
                                    <p:cond delay="90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50" fill="hold"/>
                                        <p:tgtEl>
                                          <p:spTgt spid="21"/>
                                        </p:tgtEl>
                                        <p:attrNameLst>
                                          <p:attrName>ppt_y</p:attrName>
                                        </p:attrNameLst>
                                      </p:cBhvr>
                                      <p:tavLst>
                                        <p:tav tm="0">
                                          <p:val>
                                            <p:strVal val="#ppt_y+.06"/>
                                          </p:val>
                                        </p:tav>
                                        <p:tav tm="100000">
                                          <p:val>
                                            <p:strVal val="#ppt_y"/>
                                          </p:val>
                                        </p:tav>
                                      </p:tavLst>
                                    </p:anim>
                                    <p:animEffect transition="in" filter="fade">
                                      <p:cBhvr>
                                        <p:cTn id="18" dur="550"/>
                                        <p:tgtEl>
                                          <p:spTgt spid="21"/>
                                        </p:tgtEl>
                                      </p:cBhvr>
                                    </p:animEffect>
                                  </p:childTnLst>
                                </p:cTn>
                              </p:par>
                              <p:par>
                                <p:cTn id="19" presetID="22" presetClass="entr" presetSubtype="1" fill="hold" nodeType="withEffect">
                                  <p:stCondLst>
                                    <p:cond delay="1500"/>
                                  </p:stCondLst>
                                  <p:childTnLst>
                                    <p:set>
                                      <p:cBhvr>
                                        <p:cTn id="20" dur="1" fill="hold">
                                          <p:stCondLst>
                                            <p:cond delay="0"/>
                                          </p:stCondLst>
                                        </p:cTn>
                                        <p:tgtEl>
                                          <p:spTgt spid="10"/>
                                        </p:tgtEl>
                                        <p:attrNameLst>
                                          <p:attrName>style.visibility</p:attrName>
                                        </p:attrNameLst>
                                      </p:cBhvr>
                                      <p:to>
                                        <p:strVal val="visible"/>
                                      </p:to>
                                    </p:set>
                                    <p:animEffect transition="in" filter="wipe(down)">
                                      <p:cBhvr>
                                        <p:cTn id="21" dur="280"/>
                                        <p:tgtEl>
                                          <p:spTgt spid="10"/>
                                        </p:tgtEl>
                                      </p:cBhvr>
                                    </p:animEffect>
                                  </p:childTnLst>
                                </p:cTn>
                              </p:par>
                              <p:par>
                                <p:cTn id="22" presetID="42" presetClass="entr" presetSubtype="0" fill="hold" nodeType="withEffect">
                                  <p:stCondLst>
                                    <p:cond delay="1600"/>
                                  </p:stCondLst>
                                  <p:childTnLst>
                                    <p:set>
                                      <p:cBhvr>
                                        <p:cTn id="23" dur="1" fill="hold">
                                          <p:stCondLst>
                                            <p:cond delay="0"/>
                                          </p:stCondLst>
                                        </p:cTn>
                                        <p:tgtEl>
                                          <p:spTgt spid="22"/>
                                        </p:tgtEl>
                                        <p:attrNameLst>
                                          <p:attrName>style.visibility</p:attrName>
                                        </p:attrNameLst>
                                      </p:cBhvr>
                                      <p:to>
                                        <p:strVal val="visible"/>
                                      </p:to>
                                    </p:set>
                                    <p:anim calcmode="lin" valueType="num">
                                      <p:cBhvr>
                                        <p:cTn id="24" dur="550" fill="hold"/>
                                        <p:tgtEl>
                                          <p:spTgt spid="22"/>
                                        </p:tgtEl>
                                        <p:attrNameLst>
                                          <p:attrName>ppt_y</p:attrName>
                                        </p:attrNameLst>
                                      </p:cBhvr>
                                      <p:tavLst>
                                        <p:tav tm="0">
                                          <p:val>
                                            <p:strVal val="#ppt_y+.06"/>
                                          </p:val>
                                        </p:tav>
                                        <p:tav tm="100000">
                                          <p:val>
                                            <p:strVal val="#ppt_y"/>
                                          </p:val>
                                        </p:tav>
                                      </p:tavLst>
                                    </p:anim>
                                    <p:animEffect transition="in" filter="fade">
                                      <p:cBhvr>
                                        <p:cTn id="25" dur="550"/>
                                        <p:tgtEl>
                                          <p:spTgt spid="22"/>
                                        </p:tgtEl>
                                      </p:cBhvr>
                                    </p:animEffect>
                                  </p:childTnLst>
                                </p:cTn>
                              </p:par>
                              <p:par>
                                <p:cTn id="26" presetID="42" presetClass="entr" presetSubtype="0" fill="hold" nodeType="withEffect">
                                  <p:stCondLst>
                                    <p:cond delay="170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ppt_y</p:attrName>
                                        </p:attrNameLst>
                                      </p:cBhvr>
                                      <p:tavLst>
                                        <p:tav tm="0">
                                          <p:val>
                                            <p:strVal val="#ppt_y+.06"/>
                                          </p:val>
                                        </p:tav>
                                        <p:tav tm="100000">
                                          <p:val>
                                            <p:strVal val="#ppt_y"/>
                                          </p:val>
                                        </p:tav>
                                      </p:tavLst>
                                    </p:anim>
                                    <p:animEffect transition="in" filter="fade">
                                      <p:cBhvr>
                                        <p:cTn id="29" dur="500"/>
                                        <p:tgtEl>
                                          <p:spTgt spid="9"/>
                                        </p:tgtEl>
                                      </p:cBhvr>
                                    </p:animEffect>
                                  </p:childTnLst>
                                </p:cTn>
                              </p:par>
                              <p:par>
                                <p:cTn id="30" presetID="22" presetClass="entr" presetSubtype="1" fill="hold" nodeType="withEffect">
                                  <p:stCondLst>
                                    <p:cond delay="2020"/>
                                  </p:stCondLst>
                                  <p:childTnLst>
                                    <p:set>
                                      <p:cBhvr>
                                        <p:cTn id="31" dur="1" fill="hold">
                                          <p:stCondLst>
                                            <p:cond delay="0"/>
                                          </p:stCondLst>
                                        </p:cTn>
                                        <p:tgtEl>
                                          <p:spTgt spid="12"/>
                                        </p:tgtEl>
                                        <p:attrNameLst>
                                          <p:attrName>style.visibility</p:attrName>
                                        </p:attrNameLst>
                                      </p:cBhvr>
                                      <p:to>
                                        <p:strVal val="visible"/>
                                      </p:to>
                                    </p:set>
                                    <p:animEffect transition="in" filter="wipe(down)">
                                      <p:cBhvr>
                                        <p:cTn id="32" dur="280"/>
                                        <p:tgtEl>
                                          <p:spTgt spid="12"/>
                                        </p:tgtEl>
                                      </p:cBhvr>
                                    </p:animEffect>
                                  </p:childTnLst>
                                </p:cTn>
                              </p:par>
                              <p:par>
                                <p:cTn id="33" presetID="42" presetClass="entr" presetSubtype="0" fill="hold" nodeType="withEffect">
                                  <p:stCondLst>
                                    <p:cond delay="2220"/>
                                  </p:stCondLst>
                                  <p:childTnLst>
                                    <p:set>
                                      <p:cBhvr>
                                        <p:cTn id="34" dur="1" fill="hold">
                                          <p:stCondLst>
                                            <p:cond delay="0"/>
                                          </p:stCondLst>
                                        </p:cTn>
                                        <p:tgtEl>
                                          <p:spTgt spid="11"/>
                                        </p:tgtEl>
                                        <p:attrNameLst>
                                          <p:attrName>style.visibility</p:attrName>
                                        </p:attrNameLst>
                                      </p:cBhvr>
                                      <p:to>
                                        <p:strVal val="visible"/>
                                      </p:to>
                                    </p:set>
                                    <p:anim calcmode="lin" valueType="num">
                                      <p:cBhvr>
                                        <p:cTn id="35" dur="500" fill="hold"/>
                                        <p:tgtEl>
                                          <p:spTgt spid="11"/>
                                        </p:tgtEl>
                                        <p:attrNameLst>
                                          <p:attrName>ppt_y</p:attrName>
                                        </p:attrNameLst>
                                      </p:cBhvr>
                                      <p:tavLst>
                                        <p:tav tm="0">
                                          <p:val>
                                            <p:strVal val="#ppt_y+.06"/>
                                          </p:val>
                                        </p:tav>
                                        <p:tav tm="100000">
                                          <p:val>
                                            <p:strVal val="#ppt_y"/>
                                          </p:val>
                                        </p:tav>
                                      </p:tavLst>
                                    </p:anim>
                                    <p:animEffect transition="in" filter="fade">
                                      <p:cBhvr>
                                        <p:cTn id="36" dur="500"/>
                                        <p:tgtEl>
                                          <p:spTgt spid="11"/>
                                        </p:tgtEl>
                                      </p:cBhvr>
                                    </p:animEffect>
                                  </p:childTnLst>
                                </p:cTn>
                              </p:par>
                              <p:par>
                                <p:cTn id="37" presetID="42" presetClass="entr" presetSubtype="0" fill="hold" nodeType="withEffect">
                                  <p:stCondLst>
                                    <p:cond delay="2300"/>
                                  </p:stCondLst>
                                  <p:childTnLst>
                                    <p:set>
                                      <p:cBhvr>
                                        <p:cTn id="38" dur="1" fill="hold">
                                          <p:stCondLst>
                                            <p:cond delay="0"/>
                                          </p:stCondLst>
                                        </p:cTn>
                                        <p:tgtEl>
                                          <p:spTgt spid="23"/>
                                        </p:tgtEl>
                                        <p:attrNameLst>
                                          <p:attrName>style.visibility</p:attrName>
                                        </p:attrNameLst>
                                      </p:cBhvr>
                                      <p:to>
                                        <p:strVal val="visible"/>
                                      </p:to>
                                    </p:set>
                                    <p:anim calcmode="lin" valueType="num">
                                      <p:cBhvr>
                                        <p:cTn id="39" dur="550" fill="hold"/>
                                        <p:tgtEl>
                                          <p:spTgt spid="23"/>
                                        </p:tgtEl>
                                        <p:attrNameLst>
                                          <p:attrName>ppt_y</p:attrName>
                                        </p:attrNameLst>
                                      </p:cBhvr>
                                      <p:tavLst>
                                        <p:tav tm="0">
                                          <p:val>
                                            <p:strVal val="#ppt_y+.06"/>
                                          </p:val>
                                        </p:tav>
                                        <p:tav tm="100000">
                                          <p:val>
                                            <p:strVal val="#ppt_y"/>
                                          </p:val>
                                        </p:tav>
                                      </p:tavLst>
                                    </p:anim>
                                    <p:animEffect transition="in" filter="fade">
                                      <p:cBhvr>
                                        <p:cTn id="40" dur="550"/>
                                        <p:tgtEl>
                                          <p:spTgt spid="23"/>
                                        </p:tgtEl>
                                      </p:cBhvr>
                                    </p:animEffect>
                                  </p:childTnLst>
                                </p:cTn>
                              </p:par>
                              <p:par>
                                <p:cTn id="41" presetID="22" presetClass="entr" presetSubtype="1" fill="hold" nodeType="withEffect">
                                  <p:stCondLst>
                                    <p:cond delay="2540"/>
                                  </p:stCondLst>
                                  <p:childTnLst>
                                    <p:set>
                                      <p:cBhvr>
                                        <p:cTn id="42" dur="1" fill="hold">
                                          <p:stCondLst>
                                            <p:cond delay="0"/>
                                          </p:stCondLst>
                                        </p:cTn>
                                        <p:tgtEl>
                                          <p:spTgt spid="14"/>
                                        </p:tgtEl>
                                        <p:attrNameLst>
                                          <p:attrName>style.visibility</p:attrName>
                                        </p:attrNameLst>
                                      </p:cBhvr>
                                      <p:to>
                                        <p:strVal val="visible"/>
                                      </p:to>
                                    </p:set>
                                    <p:animEffect transition="in" filter="wipe(down)">
                                      <p:cBhvr>
                                        <p:cTn id="43" dur="280"/>
                                        <p:tgtEl>
                                          <p:spTgt spid="14"/>
                                        </p:tgtEl>
                                      </p:cBhvr>
                                    </p:animEffect>
                                  </p:childTnLst>
                                </p:cTn>
                              </p:par>
                              <p:par>
                                <p:cTn id="44" presetID="42" presetClass="entr" presetSubtype="0" fill="hold" nodeType="withEffect">
                                  <p:stCondLst>
                                    <p:cond delay="2740"/>
                                  </p:stCondLst>
                                  <p:childTnLst>
                                    <p:set>
                                      <p:cBhvr>
                                        <p:cTn id="45" dur="1" fill="hold">
                                          <p:stCondLst>
                                            <p:cond delay="0"/>
                                          </p:stCondLst>
                                        </p:cTn>
                                        <p:tgtEl>
                                          <p:spTgt spid="13"/>
                                        </p:tgtEl>
                                        <p:attrNameLst>
                                          <p:attrName>style.visibility</p:attrName>
                                        </p:attrNameLst>
                                      </p:cBhvr>
                                      <p:to>
                                        <p:strVal val="visible"/>
                                      </p:to>
                                    </p:set>
                                    <p:anim calcmode="lin" valueType="num">
                                      <p:cBhvr>
                                        <p:cTn id="46" dur="500" fill="hold"/>
                                        <p:tgtEl>
                                          <p:spTgt spid="13"/>
                                        </p:tgtEl>
                                        <p:attrNameLst>
                                          <p:attrName>ppt_y</p:attrName>
                                        </p:attrNameLst>
                                      </p:cBhvr>
                                      <p:tavLst>
                                        <p:tav tm="0">
                                          <p:val>
                                            <p:strVal val="#ppt_y+.06"/>
                                          </p:val>
                                        </p:tav>
                                        <p:tav tm="100000">
                                          <p:val>
                                            <p:strVal val="#ppt_y"/>
                                          </p:val>
                                        </p:tav>
                                      </p:tavLst>
                                    </p:anim>
                                    <p:animEffect transition="in" filter="fade">
                                      <p:cBhvr>
                                        <p:cTn id="47" dur="500"/>
                                        <p:tgtEl>
                                          <p:spTgt spid="13"/>
                                        </p:tgtEl>
                                      </p:cBhvr>
                                    </p:animEffect>
                                  </p:childTnLst>
                                </p:cTn>
                              </p:par>
                              <p:par>
                                <p:cTn id="48" presetID="22" presetClass="entr" presetSubtype="1" fill="hold" nodeType="withEffect">
                                  <p:stCondLst>
                                    <p:cond delay="3060"/>
                                  </p:stCondLst>
                                  <p:childTnLst>
                                    <p:set>
                                      <p:cBhvr>
                                        <p:cTn id="49" dur="1" fill="hold">
                                          <p:stCondLst>
                                            <p:cond delay="0"/>
                                          </p:stCondLst>
                                        </p:cTn>
                                        <p:tgtEl>
                                          <p:spTgt spid="16"/>
                                        </p:tgtEl>
                                        <p:attrNameLst>
                                          <p:attrName>style.visibility</p:attrName>
                                        </p:attrNameLst>
                                      </p:cBhvr>
                                      <p:to>
                                        <p:strVal val="visible"/>
                                      </p:to>
                                    </p:set>
                                    <p:animEffect transition="in" filter="wipe(down)">
                                      <p:cBhvr>
                                        <p:cTn id="50" dur="280"/>
                                        <p:tgtEl>
                                          <p:spTgt spid="16"/>
                                        </p:tgtEl>
                                      </p:cBhvr>
                                    </p:animEffect>
                                  </p:childTnLst>
                                </p:cTn>
                              </p:par>
                              <p:par>
                                <p:cTn id="51" presetID="42" presetClass="entr" presetSubtype="0" fill="hold" nodeType="withEffect">
                                  <p:stCondLst>
                                    <p:cond delay="3260"/>
                                  </p:stCondLst>
                                  <p:childTnLst>
                                    <p:set>
                                      <p:cBhvr>
                                        <p:cTn id="52" dur="1" fill="hold">
                                          <p:stCondLst>
                                            <p:cond delay="0"/>
                                          </p:stCondLst>
                                        </p:cTn>
                                        <p:tgtEl>
                                          <p:spTgt spid="15"/>
                                        </p:tgtEl>
                                        <p:attrNameLst>
                                          <p:attrName>style.visibility</p:attrName>
                                        </p:attrNameLst>
                                      </p:cBhvr>
                                      <p:to>
                                        <p:strVal val="visible"/>
                                      </p:to>
                                    </p:set>
                                    <p:anim calcmode="lin" valueType="num">
                                      <p:cBhvr>
                                        <p:cTn id="53" dur="500" fill="hold"/>
                                        <p:tgtEl>
                                          <p:spTgt spid="15"/>
                                        </p:tgtEl>
                                        <p:attrNameLst>
                                          <p:attrName>ppt_y</p:attrName>
                                        </p:attrNameLst>
                                      </p:cBhvr>
                                      <p:tavLst>
                                        <p:tav tm="0">
                                          <p:val>
                                            <p:strVal val="#ppt_y+.06"/>
                                          </p:val>
                                        </p:tav>
                                        <p:tav tm="100000">
                                          <p:val>
                                            <p:strVal val="#ppt_y"/>
                                          </p:val>
                                        </p:tav>
                                      </p:tavLst>
                                    </p:anim>
                                    <p:animEffect transition="in" filter="fade">
                                      <p:cBhvr>
                                        <p:cTn id="54" dur="500"/>
                                        <p:tgtEl>
                                          <p:spTgt spid="15"/>
                                        </p:tgtEl>
                                      </p:cBhvr>
                                    </p:animEffect>
                                  </p:childTnLst>
                                </p:cTn>
                              </p:par>
                              <p:par>
                                <p:cTn id="55" presetID="22" presetClass="entr" presetSubtype="1" fill="hold" nodeType="withEffect">
                                  <p:stCondLst>
                                    <p:cond delay="3580"/>
                                  </p:stCondLst>
                                  <p:childTnLst>
                                    <p:set>
                                      <p:cBhvr>
                                        <p:cTn id="56" dur="1" fill="hold">
                                          <p:stCondLst>
                                            <p:cond delay="0"/>
                                          </p:stCondLst>
                                        </p:cTn>
                                        <p:tgtEl>
                                          <p:spTgt spid="18"/>
                                        </p:tgtEl>
                                        <p:attrNameLst>
                                          <p:attrName>style.visibility</p:attrName>
                                        </p:attrNameLst>
                                      </p:cBhvr>
                                      <p:to>
                                        <p:strVal val="visible"/>
                                      </p:to>
                                    </p:set>
                                    <p:animEffect transition="in" filter="wipe(down)">
                                      <p:cBhvr>
                                        <p:cTn id="57" dur="280"/>
                                        <p:tgtEl>
                                          <p:spTgt spid="18"/>
                                        </p:tgtEl>
                                      </p:cBhvr>
                                    </p:animEffect>
                                  </p:childTnLst>
                                </p:cTn>
                              </p:par>
                              <p:par>
                                <p:cTn id="58" presetID="42" presetClass="entr" presetSubtype="0" fill="hold" nodeType="withEffect">
                                  <p:stCondLst>
                                    <p:cond delay="3780"/>
                                  </p:stCondLst>
                                  <p:childTnLst>
                                    <p:set>
                                      <p:cBhvr>
                                        <p:cTn id="59" dur="1" fill="hold">
                                          <p:stCondLst>
                                            <p:cond delay="0"/>
                                          </p:stCondLst>
                                        </p:cTn>
                                        <p:tgtEl>
                                          <p:spTgt spid="17"/>
                                        </p:tgtEl>
                                        <p:attrNameLst>
                                          <p:attrName>style.visibility</p:attrName>
                                        </p:attrNameLst>
                                      </p:cBhvr>
                                      <p:to>
                                        <p:strVal val="visible"/>
                                      </p:to>
                                    </p:set>
                                    <p:anim calcmode="lin" valueType="num">
                                      <p:cBhvr>
                                        <p:cTn id="60" dur="500" fill="hold"/>
                                        <p:tgtEl>
                                          <p:spTgt spid="17"/>
                                        </p:tgtEl>
                                        <p:attrNameLst>
                                          <p:attrName>ppt_y</p:attrName>
                                        </p:attrNameLst>
                                      </p:cBhvr>
                                      <p:tavLst>
                                        <p:tav tm="0">
                                          <p:val>
                                            <p:strVal val="#ppt_y+.06"/>
                                          </p:val>
                                        </p:tav>
                                        <p:tav tm="100000">
                                          <p:val>
                                            <p:strVal val="#ppt_y"/>
                                          </p:val>
                                        </p:tav>
                                      </p:tavLst>
                                    </p:anim>
                                    <p:animEffect transition="in" filter="fade">
                                      <p:cBhvr>
                                        <p:cTn id="61" dur="500"/>
                                        <p:tgtEl>
                                          <p:spTgt spid="17"/>
                                        </p:tgtEl>
                                      </p:cBhvr>
                                    </p:animEffect>
                                  </p:childTnLst>
                                </p:cTn>
                              </p:par>
                              <p:par>
                                <p:cTn id="62" presetID="10" presetClass="entr" presetSubtype="0" fill="hold" nodeType="withEffect">
                                  <p:stCondLst>
                                    <p:cond delay="430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400"/>
                                        <p:tgtEl>
                                          <p:spTgt spid="19"/>
                                        </p:tgtEl>
                                      </p:cBhvr>
                                    </p:animEffect>
                                  </p:childTnLst>
                                </p:cTn>
                              </p:par>
                              <p:par>
                                <p:cTn id="65" presetID="42" presetClass="entr" presetSubtype="0" fill="hold" nodeType="withEffect">
                                  <p:stCondLst>
                                    <p:cond delay="4400"/>
                                  </p:stCondLst>
                                  <p:childTnLst>
                                    <p:set>
                                      <p:cBhvr>
                                        <p:cTn id="66" dur="1" fill="hold">
                                          <p:stCondLst>
                                            <p:cond delay="0"/>
                                          </p:stCondLst>
                                        </p:cTn>
                                        <p:tgtEl>
                                          <p:spTgt spid="20"/>
                                        </p:tgtEl>
                                        <p:attrNameLst>
                                          <p:attrName>style.visibility</p:attrName>
                                        </p:attrNameLst>
                                      </p:cBhvr>
                                      <p:to>
                                        <p:strVal val="visible"/>
                                      </p:to>
                                    </p:set>
                                    <p:anim calcmode="lin" valueType="num">
                                      <p:cBhvr>
                                        <p:cTn id="67" dur="500" fill="hold"/>
                                        <p:tgtEl>
                                          <p:spTgt spid="20"/>
                                        </p:tgtEl>
                                        <p:attrNameLst>
                                          <p:attrName>ppt_y</p:attrName>
                                        </p:attrNameLst>
                                      </p:cBhvr>
                                      <p:tavLst>
                                        <p:tav tm="0">
                                          <p:val>
                                            <p:strVal val="#ppt_y+.06"/>
                                          </p:val>
                                        </p:tav>
                                        <p:tav tm="100000">
                                          <p:val>
                                            <p:strVal val="#ppt_y"/>
                                          </p:val>
                                        </p:tav>
                                      </p:tavLst>
                                    </p:anim>
                                    <p:animEffect transition="in" filter="fade">
                                      <p:cBhvr>
                                        <p:cTn id="68" dur="500"/>
                                        <p:tgtEl>
                                          <p:spTgt spid="20"/>
                                        </p:tgtEl>
                                      </p:cBhvr>
                                    </p:animEffect>
                                  </p:childTnLst>
                                </p:cTn>
                              </p:par>
                              <p:par>
                                <p:cTn id="69" presetID="26" presetClass="emph" presetSubtype="0" fill="hold" nodeType="withEffect">
                                  <p:stCondLst>
                                    <p:cond delay="5100"/>
                                  </p:stCondLst>
                                  <p:childTnLst>
                                    <p:animScale>
                                      <p:cBhvr>
                                        <p:cTn id="70" dur="450" autoRev="1" fill="hold"/>
                                        <p:tgtEl>
                                          <p:spTgt spid="20"/>
                                        </p:tgtEl>
                                      </p:cBhvr>
                                      <p:by x="106000" y="106000"/>
                                    </p:animScale>
                                  </p:childTnLst>
                                </p:cTn>
                              </p:par>
                              <p:par>
                                <p:cTn id="71" presetID="10" presetClass="entr" presetSubtype="0" fill="hold" nodeType="withEffect">
                                  <p:stCondLst>
                                    <p:cond delay="530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par>
                                <p:cTn id="74" presetID="42" presetClass="entr" presetSubtype="0" fill="hold" nodeType="withEffect">
                                  <p:stCondLst>
                                    <p:cond delay="5600"/>
                                  </p:stCondLst>
                                  <p:childTnLst>
                                    <p:set>
                                      <p:cBhvr>
                                        <p:cTn id="75" dur="1" fill="hold">
                                          <p:stCondLst>
                                            <p:cond delay="0"/>
                                          </p:stCondLst>
                                        </p:cTn>
                                        <p:tgtEl>
                                          <p:spTgt spid="24"/>
                                        </p:tgtEl>
                                        <p:attrNameLst>
                                          <p:attrName>style.visibility</p:attrName>
                                        </p:attrNameLst>
                                      </p:cBhvr>
                                      <p:to>
                                        <p:strVal val="visible"/>
                                      </p:to>
                                    </p:set>
                                    <p:anim calcmode="lin" valueType="num">
                                      <p:cBhvr>
                                        <p:cTn id="76" dur="500" fill="hold"/>
                                        <p:tgtEl>
                                          <p:spTgt spid="24"/>
                                        </p:tgtEl>
                                        <p:attrNameLst>
                                          <p:attrName>ppt_y</p:attrName>
                                        </p:attrNameLst>
                                      </p:cBhvr>
                                      <p:tavLst>
                                        <p:tav tm="0">
                                          <p:val>
                                            <p:strVal val="#ppt_y+.06"/>
                                          </p:val>
                                        </p:tav>
                                        <p:tav tm="100000">
                                          <p:val>
                                            <p:strVal val="#ppt_y"/>
                                          </p:val>
                                        </p:tav>
                                      </p:tavLst>
                                    </p:anim>
                                    <p:animEffect transition="in" filter="fade">
                                      <p:cBhvr>
                                        <p:cTn id="7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6"/>
        </a:solidFill>
      </p:bgPr>
    </p:bg>
    <p:spTree>
      <p:nvGrpSpPr>
        <p:cNvPr id="1" name=""/>
        <p:cNvGrpSpPr/>
        <p:nvPr/>
      </p:nvGrpSpPr>
      <p:grpSpPr>
        <a:xfrm>
          <a:off x="0" y="0"/>
          <a:ext cx="0" cy="0"/>
          <a:chOff x="0" y="0"/>
          <a:chExt cx="0" cy="0"/>
        </a:xfrm>
      </p:grpSpPr>
      <p:sp>
        <p:nvSpPr>
          <p:cNvPr id="2" name="kicker"/>
          <p:cNvSpPr/>
          <p:nvPr/>
        </p:nvSpPr>
        <p:spPr>
          <a:xfrm>
            <a:off x="640080" y="457200"/>
            <a:ext cx="8229600" cy="274320"/>
          </a:xfrm>
          <a:prstGeom prst="rect">
            <a:avLst/>
          </a:prstGeom>
          <a:noFill/>
          <a:ln/>
        </p:spPr>
        <p:txBody>
          <a:bodyPr wrap="square" lIns="0" tIns="0" rIns="0" bIns="0" rtlCol="0" anchor="t"/>
          <a:lstStyle/>
          <a:p>
            <a:pPr algn="l" indent="0" marL="0">
              <a:buNone/>
            </a:pPr>
            <a:r>
              <a:rPr lang="en-US" sz="1050" b="1" spc="150" kern="0" dirty="0">
                <a:solidFill>
                  <a:srgbClr val="0F766E"/>
                </a:solidFill>
                <a:latin typeface="Consolas" pitchFamily="34" charset="0"/>
                <a:ea typeface="Consolas" pitchFamily="34" charset="-122"/>
                <a:cs typeface="Consolas" pitchFamily="34" charset="-120"/>
              </a:rPr>
              <a:t>IMPACT  ·  WHAT WE BUILT  ·  WHAT IT CANNOT DO YET</a:t>
            </a:r>
            <a:endParaRPr lang="en-US" sz="1050" dirty="0"/>
          </a:p>
        </p:txBody>
      </p:sp>
      <p:sp>
        <p:nvSpPr>
          <p:cNvPr id="3" name="title"/>
          <p:cNvSpPr/>
          <p:nvPr/>
        </p:nvSpPr>
        <p:spPr>
          <a:xfrm>
            <a:off x="640080" y="749808"/>
            <a:ext cx="10881360" cy="822960"/>
          </a:xfrm>
          <a:prstGeom prst="rect">
            <a:avLst/>
          </a:prstGeom>
          <a:noFill/>
          <a:ln/>
        </p:spPr>
        <p:txBody>
          <a:bodyPr wrap="square" lIns="0" tIns="0" rIns="0" bIns="0" rtlCol="0" anchor="t"/>
          <a:lstStyle/>
          <a:p>
            <a:pPr algn="l" indent="0" marL="0">
              <a:buNone/>
            </a:pPr>
            <a:r>
              <a:rPr lang="en-US" sz="3400" dirty="0">
                <a:solidFill>
                  <a:srgbClr val="0C1F1C"/>
                </a:solidFill>
                <a:latin typeface="Segoe UI Semibold" pitchFamily="34" charset="0"/>
                <a:ea typeface="Segoe UI Semibold" pitchFamily="34" charset="-122"/>
                <a:cs typeface="Segoe UI Semibold" pitchFamily="34" charset="-120"/>
              </a:rPr>
              <a:t>Built to help. </a:t>
            </a:r>
            <a:pPr algn="l" indent="0" marL="0">
              <a:buNone/>
            </a:pPr>
            <a:r>
              <a:rPr lang="en-US" sz="3400" dirty="0">
                <a:solidFill>
                  <a:srgbClr val="0F766E"/>
                </a:solidFill>
                <a:latin typeface="Segoe UI Semibold" pitchFamily="34" charset="0"/>
                <a:ea typeface="Segoe UI Semibold" pitchFamily="34" charset="-122"/>
                <a:cs typeface="Segoe UI Semibold" pitchFamily="34" charset="-120"/>
              </a:rPr>
              <a:t>Honest about its limits.</a:t>
            </a:r>
            <a:endParaRPr lang="en-US" sz="3400" dirty="0"/>
          </a:p>
        </p:txBody>
      </p:sp>
      <p:sp>
        <p:nvSpPr>
          <p:cNvPr id="4" name="foot-rule"/>
          <p:cNvSpPr/>
          <p:nvPr/>
        </p:nvSpPr>
        <p:spPr>
          <a:xfrm>
            <a:off x="640080" y="6400800"/>
            <a:ext cx="10911535" cy="0"/>
          </a:xfrm>
          <a:prstGeom prst="line">
            <a:avLst/>
          </a:prstGeom>
          <a:noFill/>
          <a:ln w="9525">
            <a:solidFill>
              <a:srgbClr val="D3E0DC"/>
            </a:solidFill>
            <a:prstDash val="solid"/>
          </a:ln>
        </p:spPr>
      </p:sp>
      <p:sp>
        <p:nvSpPr>
          <p:cNvPr id="5" name="foot-l"/>
          <p:cNvSpPr/>
          <p:nvPr/>
        </p:nvSpPr>
        <p:spPr>
          <a:xfrm>
            <a:off x="640080" y="6473952"/>
            <a:ext cx="7315200" cy="228600"/>
          </a:xfrm>
          <a:prstGeom prst="rect">
            <a:avLst/>
          </a:prstGeom>
          <a:noFill/>
          <a:ln/>
        </p:spPr>
        <p:txBody>
          <a:bodyPr wrap="square" lIns="0" tIns="0" rIns="0" bIns="0" rtlCol="0" anchor="t"/>
          <a:lstStyle/>
          <a:p>
            <a:pPr algn="l" indent="0" marL="0">
              <a:buNone/>
            </a:pPr>
            <a:r>
              <a:rPr lang="en-US" sz="850" spc="100" kern="0" dirty="0">
                <a:solidFill>
                  <a:srgbClr val="8DA09C"/>
                </a:solidFill>
                <a:latin typeface="Consolas" pitchFamily="34" charset="0"/>
                <a:ea typeface="Consolas" pitchFamily="34" charset="-122"/>
                <a:cs typeface="Consolas" pitchFamily="34" charset="-120"/>
              </a:rPr>
              <a:t>GALTI PAKAR  ·  AICON'26 BUILD WITH AI  ·  EDTECH &amp; WORKFORCE</a:t>
            </a:r>
            <a:endParaRPr lang="en-US" sz="850" dirty="0"/>
          </a:p>
        </p:txBody>
      </p:sp>
      <p:sp>
        <p:nvSpPr>
          <p:cNvPr id="6" name="foot-r"/>
          <p:cNvSpPr/>
          <p:nvPr/>
        </p:nvSpPr>
        <p:spPr>
          <a:xfrm>
            <a:off x="9722815" y="6473952"/>
            <a:ext cx="1828800" cy="228600"/>
          </a:xfrm>
          <a:prstGeom prst="rect">
            <a:avLst/>
          </a:prstGeom>
          <a:noFill/>
          <a:ln/>
        </p:spPr>
        <p:txBody>
          <a:bodyPr wrap="square" lIns="0" tIns="0" rIns="0" bIns="0" rtlCol="0" anchor="t"/>
          <a:lstStyle/>
          <a:p>
            <a:pPr algn="r" indent="0" marL="0">
              <a:buNone/>
            </a:pPr>
            <a:r>
              <a:rPr lang="en-US" sz="850" spc="100" kern="0" dirty="0">
                <a:solidFill>
                  <a:srgbClr val="8DA09C"/>
                </a:solidFill>
                <a:latin typeface="Consolas" pitchFamily="34" charset="0"/>
                <a:ea typeface="Consolas" pitchFamily="34" charset="-122"/>
                <a:cs typeface="Consolas" pitchFamily="34" charset="-120"/>
              </a:rPr>
              <a:t>5 / 5</a:t>
            </a:r>
            <a:endParaRPr lang="en-US" sz="850" dirty="0"/>
          </a:p>
        </p:txBody>
      </p:sp>
      <p:sp>
        <p:nvSpPr>
          <p:cNvPr id="7" name="col0-h"/>
          <p:cNvSpPr/>
          <p:nvPr/>
        </p:nvSpPr>
        <p:spPr>
          <a:xfrm>
            <a:off x="640080" y="1783080"/>
            <a:ext cx="3291840" cy="274320"/>
          </a:xfrm>
          <a:prstGeom prst="rect">
            <a:avLst/>
          </a:prstGeom>
          <a:noFill/>
          <a:ln/>
        </p:spPr>
        <p:txBody>
          <a:bodyPr wrap="square" lIns="0" tIns="0" rIns="0" bIns="0" rtlCol="0" anchor="t"/>
          <a:lstStyle/>
          <a:p>
            <a:pPr algn="l" indent="0" marL="0">
              <a:buNone/>
            </a:pPr>
            <a:r>
              <a:rPr lang="en-US" sz="1050" b="1" spc="150" kern="0" dirty="0">
                <a:solidFill>
                  <a:srgbClr val="0F766E"/>
                </a:solidFill>
                <a:latin typeface="Consolas" pitchFamily="34" charset="0"/>
                <a:ea typeface="Consolas" pitchFamily="34" charset="-122"/>
                <a:cs typeface="Consolas" pitchFamily="34" charset="-120"/>
              </a:rPr>
              <a:t>IMPACT</a:t>
            </a:r>
            <a:endParaRPr lang="en-US" sz="1050" dirty="0"/>
          </a:p>
        </p:txBody>
      </p:sp>
      <p:sp>
        <p:nvSpPr>
          <p:cNvPr id="8" name="col0-rule"/>
          <p:cNvSpPr/>
          <p:nvPr/>
        </p:nvSpPr>
        <p:spPr>
          <a:xfrm>
            <a:off x="640080" y="2103120"/>
            <a:ext cx="3337560" cy="0"/>
          </a:xfrm>
          <a:prstGeom prst="line">
            <a:avLst/>
          </a:prstGeom>
          <a:noFill/>
          <a:ln w="19050">
            <a:solidFill>
              <a:srgbClr val="0F766E"/>
            </a:solidFill>
            <a:prstDash val="solid"/>
          </a:ln>
        </p:spPr>
      </p:sp>
      <p:sp>
        <p:nvSpPr>
          <p:cNvPr id="9" name="col0-i0"/>
          <p:cNvSpPr/>
          <p:nvPr/>
        </p:nvSpPr>
        <p:spPr>
          <a:xfrm>
            <a:off x="640080" y="2286000"/>
            <a:ext cx="3337560" cy="731520"/>
          </a:xfrm>
          <a:prstGeom prst="rect">
            <a:avLst/>
          </a:prstGeom>
          <a:noFill/>
          <a:ln/>
        </p:spPr>
        <p:txBody>
          <a:bodyPr wrap="square" rtlCol="0" anchor="t"/>
          <a:lstStyle/>
          <a:p>
            <a:pPr indent="0" marL="0">
              <a:buNone/>
            </a:pPr>
            <a:r>
              <a:rPr lang="en-US" sz="1300" dirty="0">
                <a:solidFill>
                  <a:srgbClr val="0F766E"/>
                </a:solidFill>
                <a:latin typeface="Segoe UI Semibold" pitchFamily="34" charset="0"/>
                <a:ea typeface="Segoe UI Semibold" pitchFamily="34" charset="-122"/>
                <a:cs typeface="Segoe UI Semibold" pitchFamily="34" charset="-120"/>
              </a:rPr>
              <a:t>SDG 4   </a:t>
            </a:r>
            <a:pPr indent="0" marL="0">
              <a:buNone/>
            </a:pPr>
            <a:r>
              <a:rPr lang="en-US" sz="1250" dirty="0">
                <a:solidFill>
                  <a:srgbClr val="0C1F1C"/>
                </a:solidFill>
                <a:latin typeface="Segoe UI" pitchFamily="34" charset="0"/>
                <a:ea typeface="Segoe UI" pitchFamily="34" charset="-122"/>
                <a:cs typeface="Segoe UI" pitchFamily="34" charset="-120"/>
              </a:rPr>
              <a:t>Quality education: feedback on the exact skill examiners say is missing.</a:t>
            </a:r>
            <a:endParaRPr lang="en-US" sz="1300" dirty="0"/>
          </a:p>
        </p:txBody>
      </p:sp>
      <p:sp>
        <p:nvSpPr>
          <p:cNvPr id="10" name="col0-i1"/>
          <p:cNvSpPr/>
          <p:nvPr/>
        </p:nvSpPr>
        <p:spPr>
          <a:xfrm>
            <a:off x="640080" y="3072384"/>
            <a:ext cx="3337560" cy="731520"/>
          </a:xfrm>
          <a:prstGeom prst="rect">
            <a:avLst/>
          </a:prstGeom>
          <a:noFill/>
          <a:ln/>
        </p:spPr>
        <p:txBody>
          <a:bodyPr wrap="square" rtlCol="0" anchor="t"/>
          <a:lstStyle/>
          <a:p>
            <a:pPr indent="0" marL="0">
              <a:buNone/>
            </a:pPr>
            <a:r>
              <a:rPr lang="en-US" sz="1300" dirty="0">
                <a:solidFill>
                  <a:srgbClr val="0F766E"/>
                </a:solidFill>
                <a:latin typeface="Segoe UI Semibold" pitchFamily="34" charset="0"/>
                <a:ea typeface="Segoe UI Semibold" pitchFamily="34" charset="-122"/>
                <a:cs typeface="Segoe UI Semibold" pitchFamily="34" charset="-120"/>
              </a:rPr>
              <a:t>SDG 10   </a:t>
            </a:r>
            <a:pPr indent="0" marL="0">
              <a:buNone/>
            </a:pPr>
            <a:r>
              <a:rPr lang="en-US" sz="1250" dirty="0">
                <a:solidFill>
                  <a:srgbClr val="0C1F1C"/>
                </a:solidFill>
                <a:latin typeface="Segoe UI" pitchFamily="34" charset="0"/>
                <a:ea typeface="Segoe UI" pitchFamily="34" charset="-122"/>
                <a:cs typeface="Segoe UI" pitchFamily="34" charset="-120"/>
              </a:rPr>
              <a:t>Reduced inequalities: a phone photo, no academy, no fee.</a:t>
            </a:r>
            <a:endParaRPr lang="en-US" sz="1300" dirty="0"/>
          </a:p>
        </p:txBody>
      </p:sp>
      <p:sp>
        <p:nvSpPr>
          <p:cNvPr id="11" name="col0-i2"/>
          <p:cNvSpPr/>
          <p:nvPr/>
        </p:nvSpPr>
        <p:spPr>
          <a:xfrm>
            <a:off x="640080" y="3858768"/>
            <a:ext cx="3337560" cy="731520"/>
          </a:xfrm>
          <a:prstGeom prst="rect">
            <a:avLst/>
          </a:prstGeom>
          <a:noFill/>
          <a:ln/>
        </p:spPr>
        <p:txBody>
          <a:bodyPr wrap="square" rtlCol="0" anchor="t"/>
          <a:lstStyle/>
          <a:p>
            <a:pPr indent="0" marL="0">
              <a:buNone/>
            </a:pPr>
            <a:r>
              <a:rPr lang="en-US" sz="1300" dirty="0">
                <a:solidFill>
                  <a:srgbClr val="0F766E"/>
                </a:solidFill>
                <a:latin typeface="Segoe UI Semibold" pitchFamily="34" charset="0"/>
                <a:ea typeface="Segoe UI Semibold" pitchFamily="34" charset="-122"/>
                <a:cs typeface="Segoe UI Semibold" pitchFamily="34" charset="-120"/>
              </a:rPr>
              <a:t>SDG 16   </a:t>
            </a:r>
            <a:pPr indent="0" marL="0">
              <a:buNone/>
            </a:pPr>
            <a:r>
              <a:rPr lang="en-US" sz="1250" dirty="0">
                <a:solidFill>
                  <a:srgbClr val="0C1F1C"/>
                </a:solidFill>
                <a:latin typeface="Segoe UI" pitchFamily="34" charset="0"/>
                <a:ea typeface="Segoe UI" pitchFamily="34" charset="-122"/>
                <a:cs typeface="Segoe UI" pitchFamily="34" charset="-120"/>
              </a:rPr>
              <a:t>A fairer start for a merit-based civil service.</a:t>
            </a:r>
            <a:endParaRPr lang="en-US" sz="1300" dirty="0"/>
          </a:p>
        </p:txBody>
      </p:sp>
      <p:sp>
        <p:nvSpPr>
          <p:cNvPr id="12" name="col0-i3"/>
          <p:cNvSpPr/>
          <p:nvPr/>
        </p:nvSpPr>
        <p:spPr>
          <a:xfrm>
            <a:off x="640080" y="4645152"/>
            <a:ext cx="3337560" cy="731520"/>
          </a:xfrm>
          <a:prstGeom prst="rect">
            <a:avLst/>
          </a:prstGeom>
          <a:noFill/>
          <a:ln/>
        </p:spPr>
        <p:txBody>
          <a:bodyPr wrap="square" rtlCol="0" anchor="t"/>
          <a:lstStyle/>
          <a:p>
            <a:pPr indent="0" marL="0">
              <a:buNone/>
            </a:pPr>
            <a:r>
              <a:rPr lang="en-US" sz="1300" dirty="0">
                <a:solidFill>
                  <a:srgbClr val="0F766E"/>
                </a:solidFill>
                <a:latin typeface="Segoe UI Semibold" pitchFamily="34" charset="0"/>
                <a:ea typeface="Segoe UI Semibold" pitchFamily="34" charset="-122"/>
                <a:cs typeface="Segoe UI Semibold" pitchFamily="34" charset="-120"/>
              </a:rPr>
              <a:t>Cost   </a:t>
            </a:r>
            <a:pPr indent="0" marL="0">
              <a:buNone/>
            </a:pPr>
            <a:r>
              <a:rPr lang="en-US" sz="1250" dirty="0">
                <a:solidFill>
                  <a:srgbClr val="0C1F1C"/>
                </a:solidFill>
                <a:latin typeface="Segoe UI" pitchFamily="34" charset="0"/>
                <a:ea typeface="Segoe UI" pitchFamily="34" charset="-122"/>
                <a:cs typeface="Segoe UI" pitchFamily="34" charset="-120"/>
              </a:rPr>
              <a:t>Gemini calls and tokens are logged per run: cost per essay is measured.</a:t>
            </a:r>
            <a:endParaRPr lang="en-US" sz="1300" dirty="0"/>
          </a:p>
        </p:txBody>
      </p:sp>
      <p:sp>
        <p:nvSpPr>
          <p:cNvPr id="13" name="col1-h"/>
          <p:cNvSpPr/>
          <p:nvPr/>
        </p:nvSpPr>
        <p:spPr>
          <a:xfrm>
            <a:off x="4434840" y="1783080"/>
            <a:ext cx="3291840" cy="274320"/>
          </a:xfrm>
          <a:prstGeom prst="rect">
            <a:avLst/>
          </a:prstGeom>
          <a:noFill/>
          <a:ln/>
        </p:spPr>
        <p:txBody>
          <a:bodyPr wrap="square" lIns="0" tIns="0" rIns="0" bIns="0" rtlCol="0" anchor="t"/>
          <a:lstStyle/>
          <a:p>
            <a:pPr algn="l" indent="0" marL="0">
              <a:buNone/>
            </a:pPr>
            <a:r>
              <a:rPr lang="en-US" sz="1050" b="1" spc="150" kern="0" dirty="0">
                <a:solidFill>
                  <a:srgbClr val="0C1F1C"/>
                </a:solidFill>
                <a:latin typeface="Consolas" pitchFamily="34" charset="0"/>
                <a:ea typeface="Consolas" pitchFamily="34" charset="-122"/>
                <a:cs typeface="Consolas" pitchFamily="34" charset="-120"/>
              </a:rPr>
              <a:t>BUILT AT AICON'26</a:t>
            </a:r>
            <a:endParaRPr lang="en-US" sz="1050" dirty="0"/>
          </a:p>
        </p:txBody>
      </p:sp>
      <p:sp>
        <p:nvSpPr>
          <p:cNvPr id="14" name="col1-rule"/>
          <p:cNvSpPr/>
          <p:nvPr/>
        </p:nvSpPr>
        <p:spPr>
          <a:xfrm>
            <a:off x="4434840" y="2103120"/>
            <a:ext cx="3337560" cy="0"/>
          </a:xfrm>
          <a:prstGeom prst="line">
            <a:avLst/>
          </a:prstGeom>
          <a:noFill/>
          <a:ln w="19050">
            <a:solidFill>
              <a:srgbClr val="0C1F1C"/>
            </a:solidFill>
            <a:prstDash val="solid"/>
          </a:ln>
        </p:spPr>
      </p:sp>
      <p:sp>
        <p:nvSpPr>
          <p:cNvPr id="15" name="col1-i0"/>
          <p:cNvSpPr/>
          <p:nvPr/>
        </p:nvSpPr>
        <p:spPr>
          <a:xfrm>
            <a:off x="4434840" y="2286000"/>
            <a:ext cx="3337560" cy="731520"/>
          </a:xfrm>
          <a:prstGeom prst="rect">
            <a:avLst/>
          </a:prstGeom>
          <a:noFill/>
          <a:ln/>
        </p:spPr>
        <p:txBody>
          <a:bodyPr wrap="square" rtlCol="0" anchor="t"/>
          <a:lstStyle/>
          <a:p>
            <a:pPr indent="0" marL="0">
              <a:buNone/>
            </a:pPr>
            <a:r>
              <a:rPr lang="en-US" sz="1300" dirty="0">
                <a:solidFill>
                  <a:srgbClr val="0F766E"/>
                </a:solidFill>
                <a:latin typeface="Segoe UI Semibold" pitchFamily="34" charset="0"/>
                <a:ea typeface="Segoe UI Semibold" pitchFamily="34" charset="-122"/>
                <a:cs typeface="Segoe UI Semibold" pitchFamily="34" charset="-120"/>
              </a:rPr>
              <a:t>Pipeline   </a:t>
            </a:r>
            <a:pPr indent="0" marL="0">
              <a:buNone/>
            </a:pPr>
            <a:r>
              <a:rPr lang="en-US" sz="1250" dirty="0">
                <a:solidFill>
                  <a:srgbClr val="0C1F1C"/>
                </a:solidFill>
                <a:latin typeface="Segoe UI" pitchFamily="34" charset="0"/>
                <a:ea typeface="Segoe UI" pitchFamily="34" charset="-122"/>
                <a:cs typeface="Segoe UI" pitchFamily="34" charset="-120"/>
              </a:rPr>
              <a:t>Six AI steps, each with a code check, behind one API.</a:t>
            </a:r>
            <a:endParaRPr lang="en-US" sz="1300" dirty="0"/>
          </a:p>
        </p:txBody>
      </p:sp>
      <p:sp>
        <p:nvSpPr>
          <p:cNvPr id="16" name="col1-i1"/>
          <p:cNvSpPr/>
          <p:nvPr/>
        </p:nvSpPr>
        <p:spPr>
          <a:xfrm>
            <a:off x="4434840" y="3072384"/>
            <a:ext cx="3337560" cy="731520"/>
          </a:xfrm>
          <a:prstGeom prst="rect">
            <a:avLst/>
          </a:prstGeom>
          <a:noFill/>
          <a:ln/>
        </p:spPr>
        <p:txBody>
          <a:bodyPr wrap="square" rtlCol="0" anchor="t"/>
          <a:lstStyle/>
          <a:p>
            <a:pPr indent="0" marL="0">
              <a:buNone/>
            </a:pPr>
            <a:r>
              <a:rPr lang="en-US" sz="1300" dirty="0">
                <a:solidFill>
                  <a:srgbClr val="0F766E"/>
                </a:solidFill>
                <a:latin typeface="Segoe UI Semibold" pitchFamily="34" charset="0"/>
                <a:ea typeface="Segoe UI Semibold" pitchFamily="34" charset="-122"/>
                <a:cs typeface="Segoe UI Semibold" pitchFamily="34" charset="-120"/>
              </a:rPr>
              <a:t>Interface   </a:t>
            </a:r>
            <a:pPr indent="0" marL="0">
              <a:buNone/>
            </a:pPr>
            <a:r>
              <a:rPr lang="en-US" sz="1250" dirty="0">
                <a:solidFill>
                  <a:srgbClr val="0C1F1C"/>
                </a:solidFill>
                <a:latin typeface="Segoe UI" pitchFamily="34" charset="0"/>
                <a:ea typeface="Segoe UI" pitchFamily="34" charset="-122"/>
                <a:cs typeface="Segoe UI" pitchFamily="34" charset="-120"/>
              </a:rPr>
              <a:t>Every highlight explains itself. Works on a phone.</a:t>
            </a:r>
            <a:endParaRPr lang="en-US" sz="1300" dirty="0"/>
          </a:p>
        </p:txBody>
      </p:sp>
      <p:sp>
        <p:nvSpPr>
          <p:cNvPr id="17" name="col1-i2"/>
          <p:cNvSpPr/>
          <p:nvPr/>
        </p:nvSpPr>
        <p:spPr>
          <a:xfrm>
            <a:off x="4434840" y="3858768"/>
            <a:ext cx="3337560" cy="731520"/>
          </a:xfrm>
          <a:prstGeom prst="rect">
            <a:avLst/>
          </a:prstGeom>
          <a:noFill/>
          <a:ln/>
        </p:spPr>
        <p:txBody>
          <a:bodyPr wrap="square" rtlCol="0" anchor="t"/>
          <a:lstStyle/>
          <a:p>
            <a:pPr indent="0" marL="0">
              <a:buNone/>
            </a:pPr>
            <a:r>
              <a:rPr lang="en-US" sz="1300" dirty="0">
                <a:solidFill>
                  <a:srgbClr val="0F766E"/>
                </a:solidFill>
                <a:latin typeface="Segoe UI Semibold" pitchFamily="34" charset="0"/>
                <a:ea typeface="Segoe UI Semibold" pitchFamily="34" charset="-122"/>
                <a:cs typeface="Segoe UI Semibold" pitchFamily="34" charset="-120"/>
              </a:rPr>
              <a:t>Tests   </a:t>
            </a:r>
            <a:pPr indent="0" marL="0">
              <a:buNone/>
            </a:pPr>
            <a:r>
              <a:rPr lang="en-US" sz="1250" dirty="0">
                <a:solidFill>
                  <a:srgbClr val="0C1F1C"/>
                </a:solidFill>
                <a:latin typeface="Segoe UI" pitchFamily="34" charset="0"/>
                <a:ea typeface="Segoe UI" pitchFamily="34" charset="-122"/>
                <a:cs typeface="Segoe UI" pitchFamily="34" charset="-120"/>
              </a:rPr>
              <a:t>263 unit and 93 browser tests. None call the AI.</a:t>
            </a:r>
            <a:endParaRPr lang="en-US" sz="1300" dirty="0"/>
          </a:p>
        </p:txBody>
      </p:sp>
      <p:sp>
        <p:nvSpPr>
          <p:cNvPr id="18" name="col1-i3"/>
          <p:cNvSpPr/>
          <p:nvPr/>
        </p:nvSpPr>
        <p:spPr>
          <a:xfrm>
            <a:off x="4434840" y="4645152"/>
            <a:ext cx="3337560" cy="731520"/>
          </a:xfrm>
          <a:prstGeom prst="rect">
            <a:avLst/>
          </a:prstGeom>
          <a:noFill/>
          <a:ln/>
        </p:spPr>
        <p:txBody>
          <a:bodyPr wrap="square" rtlCol="0" anchor="t"/>
          <a:lstStyle/>
          <a:p>
            <a:pPr indent="0" marL="0">
              <a:buNone/>
            </a:pPr>
            <a:r>
              <a:rPr lang="en-US" sz="1300" dirty="0">
                <a:solidFill>
                  <a:srgbClr val="0F766E"/>
                </a:solidFill>
                <a:latin typeface="Segoe UI Semibold" pitchFamily="34" charset="0"/>
                <a:ea typeface="Segoe UI Semibold" pitchFamily="34" charset="-122"/>
                <a:cs typeface="Segoe UI Semibold" pitchFamily="34" charset="-120"/>
              </a:rPr>
              <a:t>Disclosed   </a:t>
            </a:r>
            <a:pPr indent="0" marL="0">
              <a:buNone/>
            </a:pPr>
            <a:r>
              <a:rPr lang="en-US" sz="1250" dirty="0">
                <a:solidFill>
                  <a:srgbClr val="0C1F1C"/>
                </a:solidFill>
                <a:latin typeface="Segoe UI" pitchFamily="34" charset="0"/>
                <a:ea typeface="Segoe UI" pitchFamily="34" charset="-122"/>
                <a:cs typeface="Segoe UI" pitchFamily="34" charset="-120"/>
              </a:rPr>
              <a:t>Design system from an earlier product (Verchek). Data is synthetic, and labelled.</a:t>
            </a:r>
            <a:endParaRPr lang="en-US" sz="1300" dirty="0"/>
          </a:p>
        </p:txBody>
      </p:sp>
      <p:sp>
        <p:nvSpPr>
          <p:cNvPr id="19" name="col2-h"/>
          <p:cNvSpPr/>
          <p:nvPr/>
        </p:nvSpPr>
        <p:spPr>
          <a:xfrm>
            <a:off x="8229600" y="1783080"/>
            <a:ext cx="3291840" cy="274320"/>
          </a:xfrm>
          <a:prstGeom prst="rect">
            <a:avLst/>
          </a:prstGeom>
          <a:noFill/>
          <a:ln/>
        </p:spPr>
        <p:txBody>
          <a:bodyPr wrap="square" lIns="0" tIns="0" rIns="0" bIns="0" rtlCol="0" anchor="t"/>
          <a:lstStyle/>
          <a:p>
            <a:pPr algn="l" indent="0" marL="0">
              <a:buNone/>
            </a:pPr>
            <a:r>
              <a:rPr lang="en-US" sz="1050" b="1" spc="150" kern="0" dirty="0">
                <a:solidFill>
                  <a:srgbClr val="D9930A"/>
                </a:solidFill>
                <a:latin typeface="Consolas" pitchFamily="34" charset="0"/>
                <a:ea typeface="Consolas" pitchFamily="34" charset="-122"/>
                <a:cs typeface="Consolas" pitchFamily="34" charset="-120"/>
              </a:rPr>
              <a:t>NOT YET</a:t>
            </a:r>
            <a:endParaRPr lang="en-US" sz="1050" dirty="0"/>
          </a:p>
        </p:txBody>
      </p:sp>
      <p:sp>
        <p:nvSpPr>
          <p:cNvPr id="20" name="col2-rule"/>
          <p:cNvSpPr/>
          <p:nvPr/>
        </p:nvSpPr>
        <p:spPr>
          <a:xfrm>
            <a:off x="8229600" y="2103120"/>
            <a:ext cx="3337560" cy="0"/>
          </a:xfrm>
          <a:prstGeom prst="line">
            <a:avLst/>
          </a:prstGeom>
          <a:noFill/>
          <a:ln w="19050">
            <a:solidFill>
              <a:srgbClr val="D9930A"/>
            </a:solidFill>
            <a:prstDash val="solid"/>
          </a:ln>
        </p:spPr>
      </p:sp>
      <p:sp>
        <p:nvSpPr>
          <p:cNvPr id="21" name="col2-i0"/>
          <p:cNvSpPr/>
          <p:nvPr/>
        </p:nvSpPr>
        <p:spPr>
          <a:xfrm>
            <a:off x="8229600" y="2286000"/>
            <a:ext cx="3337560" cy="731520"/>
          </a:xfrm>
          <a:prstGeom prst="rect">
            <a:avLst/>
          </a:prstGeom>
          <a:noFill/>
          <a:ln/>
        </p:spPr>
        <p:txBody>
          <a:bodyPr wrap="square" rtlCol="0" anchor="t"/>
          <a:lstStyle/>
          <a:p>
            <a:pPr indent="0" marL="0">
              <a:buNone/>
            </a:pPr>
            <a:r>
              <a:rPr lang="en-US" sz="1300" dirty="0">
                <a:solidFill>
                  <a:srgbClr val="7A5200"/>
                </a:solidFill>
                <a:latin typeface="Segoe UI Semibold" pitchFamily="34" charset="0"/>
                <a:ea typeface="Segoe UI Semibold" pitchFamily="34" charset="-122"/>
                <a:cs typeface="Segoe UI Semibold" pitchFamily="34" charset="-120"/>
              </a:rPr>
              <a:t>Scores   </a:t>
            </a:r>
            <a:pPr indent="0" marL="0">
              <a:buNone/>
            </a:pPr>
            <a:r>
              <a:rPr lang="en-US" sz="1250" dirty="0">
                <a:solidFill>
                  <a:srgbClr val="0C1F1C"/>
                </a:solidFill>
                <a:latin typeface="Segoe UI" pitchFamily="34" charset="0"/>
                <a:ea typeface="Segoe UI" pitchFamily="34" charset="-122"/>
                <a:cs typeface="Segoe UI" pitchFamily="34" charset="-120"/>
              </a:rPr>
              <a:t>Not calibrated against real FPSC marks.</a:t>
            </a:r>
            <a:endParaRPr lang="en-US" sz="1300" dirty="0"/>
          </a:p>
        </p:txBody>
      </p:sp>
      <p:sp>
        <p:nvSpPr>
          <p:cNvPr id="22" name="col2-i1"/>
          <p:cNvSpPr/>
          <p:nvPr/>
        </p:nvSpPr>
        <p:spPr>
          <a:xfrm>
            <a:off x="8229600" y="3072384"/>
            <a:ext cx="3337560" cy="731520"/>
          </a:xfrm>
          <a:prstGeom prst="rect">
            <a:avLst/>
          </a:prstGeom>
          <a:noFill/>
          <a:ln/>
        </p:spPr>
        <p:txBody>
          <a:bodyPr wrap="square" rtlCol="0" anchor="t"/>
          <a:lstStyle/>
          <a:p>
            <a:pPr indent="0" marL="0">
              <a:buNone/>
            </a:pPr>
            <a:r>
              <a:rPr lang="en-US" sz="1300" dirty="0">
                <a:solidFill>
                  <a:srgbClr val="7A5200"/>
                </a:solidFill>
                <a:latin typeface="Segoe UI Semibold" pitchFamily="34" charset="0"/>
                <a:ea typeface="Segoe UI Semibold" pitchFamily="34" charset="-122"/>
                <a:cs typeface="Segoe UI Semibold" pitchFamily="34" charset="-120"/>
              </a:rPr>
              <a:t>Data   </a:t>
            </a:r>
            <a:pPr indent="0" marL="0">
              <a:buNone/>
            </a:pPr>
            <a:r>
              <a:rPr lang="en-US" sz="1250" dirty="0">
                <a:solidFill>
                  <a:srgbClr val="0C1F1C"/>
                </a:solidFill>
                <a:latin typeface="Segoe UI" pitchFamily="34" charset="0"/>
                <a:ea typeface="Segoe UI" pitchFamily="34" charset="-122"/>
                <a:cs typeface="Segoe UI" pitchFamily="34" charset="-120"/>
              </a:rPr>
              <a:t>Our evaluations use synthetic sentences.</a:t>
            </a:r>
            <a:endParaRPr lang="en-US" sz="1300" dirty="0"/>
          </a:p>
        </p:txBody>
      </p:sp>
      <p:sp>
        <p:nvSpPr>
          <p:cNvPr id="23" name="col2-i2"/>
          <p:cNvSpPr/>
          <p:nvPr/>
        </p:nvSpPr>
        <p:spPr>
          <a:xfrm>
            <a:off x="8229600" y="3858768"/>
            <a:ext cx="3337560" cy="731520"/>
          </a:xfrm>
          <a:prstGeom prst="rect">
            <a:avLst/>
          </a:prstGeom>
          <a:noFill/>
          <a:ln/>
        </p:spPr>
        <p:txBody>
          <a:bodyPr wrap="square" rtlCol="0" anchor="t"/>
          <a:lstStyle/>
          <a:p>
            <a:pPr indent="0" marL="0">
              <a:buNone/>
            </a:pPr>
            <a:r>
              <a:rPr lang="en-US" sz="1300" dirty="0">
                <a:solidFill>
                  <a:srgbClr val="7A5200"/>
                </a:solidFill>
                <a:latin typeface="Segoe UI Semibold" pitchFamily="34" charset="0"/>
                <a:ea typeface="Segoe UI Semibold" pitchFamily="34" charset="-122"/>
                <a:cs typeface="Segoe UI Semibold" pitchFamily="34" charset="-120"/>
              </a:rPr>
              <a:t>Structure   </a:t>
            </a:r>
            <a:pPr indent="0" marL="0">
              <a:buNone/>
            </a:pPr>
            <a:r>
              <a:rPr lang="en-US" sz="1250" dirty="0">
                <a:solidFill>
                  <a:srgbClr val="0C1F1C"/>
                </a:solidFill>
                <a:latin typeface="Segoe UI" pitchFamily="34" charset="0"/>
                <a:ea typeface="Segoe UI" pitchFamily="34" charset="-122"/>
                <a:cs typeface="Segoe UI" pitchFamily="34" charset="-120"/>
              </a:rPr>
              <a:t>Gemini labels plus rules; no separate trained model.</a:t>
            </a:r>
            <a:endParaRPr lang="en-US" sz="1300" dirty="0"/>
          </a:p>
        </p:txBody>
      </p:sp>
      <p:sp>
        <p:nvSpPr>
          <p:cNvPr id="24" name="col2-i3"/>
          <p:cNvSpPr/>
          <p:nvPr/>
        </p:nvSpPr>
        <p:spPr>
          <a:xfrm>
            <a:off x="8229600" y="4645152"/>
            <a:ext cx="3337560" cy="731520"/>
          </a:xfrm>
          <a:prstGeom prst="rect">
            <a:avLst/>
          </a:prstGeom>
          <a:noFill/>
          <a:ln/>
        </p:spPr>
        <p:txBody>
          <a:bodyPr wrap="square" rtlCol="0" anchor="t"/>
          <a:lstStyle/>
          <a:p>
            <a:pPr indent="0" marL="0">
              <a:buNone/>
            </a:pPr>
            <a:r>
              <a:rPr lang="en-US" sz="1300" dirty="0">
                <a:solidFill>
                  <a:srgbClr val="7A5200"/>
                </a:solidFill>
                <a:latin typeface="Segoe UI Semibold" pitchFamily="34" charset="0"/>
                <a:ea typeface="Segoe UI Semibold" pitchFamily="34" charset="-122"/>
                <a:cs typeface="Segoe UI Semibold" pitchFamily="34" charset="-120"/>
              </a:rPr>
              <a:t>Quota   </a:t>
            </a:r>
            <a:pPr indent="0" marL="0">
              <a:buNone/>
            </a:pPr>
            <a:r>
              <a:rPr lang="en-US" sz="1250" dirty="0">
                <a:solidFill>
                  <a:srgbClr val="0C1F1C"/>
                </a:solidFill>
                <a:latin typeface="Segoe UI" pitchFamily="34" charset="0"/>
                <a:ea typeface="Segoe UI" pitchFamily="34" charset="-122"/>
                <a:cs typeface="Segoe UI" pitchFamily="34" charset="-120"/>
              </a:rPr>
              <a:t>The free tier allows few full runs a day.</a:t>
            </a:r>
            <a:endParaRPr lang="en-US" sz="1300" dirty="0"/>
          </a:p>
        </p:txBody>
      </p:sp>
      <p:sp>
        <p:nvSpPr>
          <p:cNvPr id="25" name="closing"/>
          <p:cNvSpPr/>
          <p:nvPr/>
        </p:nvSpPr>
        <p:spPr>
          <a:xfrm>
            <a:off x="640080" y="5532120"/>
            <a:ext cx="7680960" cy="566928"/>
          </a:xfrm>
          <a:prstGeom prst="roundRect">
            <a:avLst>
              <a:gd name="adj" fmla="val 50000"/>
            </a:avLst>
          </a:prstGeom>
          <a:solidFill>
            <a:srgbClr val="0F766E"/>
          </a:solidFill>
          <a:ln/>
        </p:spPr>
        <p:txBody>
          <a:bodyPr wrap="square" lIns="254000" tIns="254000" rIns="254000" bIns="254000" rtlCol="0" anchor="ctr"/>
          <a:lstStyle/>
          <a:p>
            <a:pPr indent="0" marL="0">
              <a:buNone/>
            </a:pPr>
            <a:r>
              <a:rPr lang="en-US" sz="2000" dirty="0">
                <a:solidFill>
                  <a:srgbClr val="FFFFFF"/>
                </a:solidFill>
                <a:latin typeface="Segoe UI Semibold" pitchFamily="34" charset="0"/>
                <a:ea typeface="Segoe UI Semibold" pitchFamily="34" charset="-122"/>
                <a:cs typeface="Segoe UI Semibold" pitchFamily="34" charset="-120"/>
              </a:rPr>
              <a:t>Measure first. Judge second. Verify everything.</a:t>
            </a:r>
            <a:endParaRPr lang="en-US" sz="2000" dirty="0"/>
          </a:p>
        </p:txBody>
      </p:sp>
      <p:sp>
        <p:nvSpPr>
          <p:cNvPr id="26" name="repo"/>
          <p:cNvSpPr/>
          <p:nvPr/>
        </p:nvSpPr>
        <p:spPr>
          <a:xfrm>
            <a:off x="8503920" y="5669280"/>
            <a:ext cx="3063240" cy="365760"/>
          </a:xfrm>
          <a:prstGeom prst="rect">
            <a:avLst/>
          </a:prstGeom>
          <a:noFill/>
          <a:ln/>
        </p:spPr>
        <p:txBody>
          <a:bodyPr wrap="square" lIns="0" tIns="0" rIns="0" bIns="0" rtlCol="0" anchor="t"/>
          <a:lstStyle/>
          <a:p>
            <a:pPr algn="r" indent="0" marL="0">
              <a:buNone/>
            </a:pPr>
            <a:r>
              <a:rPr lang="en-US" sz="900" dirty="0">
                <a:solidFill>
                  <a:srgbClr val="586C68"/>
                </a:solidFill>
                <a:latin typeface="Consolas" pitchFamily="34" charset="0"/>
                <a:ea typeface="Consolas" pitchFamily="34" charset="-122"/>
                <a:cs typeface="Consolas" pitchFamily="34" charset="-120"/>
              </a:rPr>
              <a:t>github.com/Abdullah-creator-alt/galti-pakar</a:t>
            </a:r>
            <a:endParaRPr lang="en-US" sz="9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50"/>
                                  </p:stCondLst>
                                  <p:childTnLst>
                                    <p:set>
                                      <p:cBhvr>
                                        <p:cTn id="6" dur="1" fill="hold">
                                          <p:stCondLst>
                                            <p:cond delay="0"/>
                                          </p:stCondLst>
                                        </p:cTn>
                                        <p:tgtEl>
                                          <p:spTgt spid="3"/>
                                        </p:tgtEl>
                                        <p:attrNameLst>
                                          <p:attrName>style.visibility</p:attrName>
                                        </p:attrNameLst>
                                      </p:cBhvr>
                                      <p:to>
                                        <p:strVal val="visible"/>
                                      </p:to>
                                    </p:set>
                                    <p:anim calcmode="lin" valueType="num">
                                      <p:cBhvr>
                                        <p:cTn id="7" dur="600" fill="hold"/>
                                        <p:tgtEl>
                                          <p:spTgt spid="3"/>
                                        </p:tgtEl>
                                        <p:attrNameLst>
                                          <p:attrName>ppt_y</p:attrName>
                                        </p:attrNameLst>
                                      </p:cBhvr>
                                      <p:tavLst>
                                        <p:tav tm="0">
                                          <p:val>
                                            <p:strVal val="#ppt_y+.06"/>
                                          </p:val>
                                        </p:tav>
                                        <p:tav tm="100000">
                                          <p:val>
                                            <p:strVal val="#ppt_y"/>
                                          </p:val>
                                        </p:tav>
                                      </p:tavLst>
                                    </p:anim>
                                    <p:animEffect transition="in" filter="fade">
                                      <p:cBhvr>
                                        <p:cTn id="8" dur="600"/>
                                        <p:tgtEl>
                                          <p:spTgt spid="3"/>
                                        </p:tgtEl>
                                      </p:cBhvr>
                                    </p:animEffect>
                                  </p:childTnLst>
                                </p:cTn>
                              </p:par>
                              <p:par>
                                <p:cTn id="9" presetID="10" presetClass="entr" presetSubtype="0" fill="hold" nodeType="withEffect">
                                  <p:stCondLst>
                                    <p:cond delay="6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22" presetClass="entr" presetSubtype="8" fill="hold" nodeType="withEffect">
                                  <p:stCondLst>
                                    <p:cond delay="700"/>
                                  </p:stCondLst>
                                  <p:childTnLst>
                                    <p:set>
                                      <p:cBhvr>
                                        <p:cTn id="13" dur="1" fill="hold">
                                          <p:stCondLst>
                                            <p:cond delay="0"/>
                                          </p:stCondLst>
                                        </p:cTn>
                                        <p:tgtEl>
                                          <p:spTgt spid="8"/>
                                        </p:tgtEl>
                                        <p:attrNameLst>
                                          <p:attrName>style.visibility</p:attrName>
                                        </p:attrNameLst>
                                      </p:cBhvr>
                                      <p:to>
                                        <p:strVal val="visible"/>
                                      </p:to>
                                    </p:set>
                                    <p:animEffect transition="in" filter="wipe(left)">
                                      <p:cBhvr>
                                        <p:cTn id="14" dur="500"/>
                                        <p:tgtEl>
                                          <p:spTgt spid="8"/>
                                        </p:tgtEl>
                                      </p:cBhvr>
                                    </p:animEffect>
                                  </p:childTnLst>
                                </p:cTn>
                              </p:par>
                              <p:par>
                                <p:cTn id="15" presetID="42" presetClass="entr" presetSubtype="0" fill="hold" nodeType="withEffect">
                                  <p:stCondLst>
                                    <p:cond delay="100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ppt_y</p:attrName>
                                        </p:attrNameLst>
                                      </p:cBhvr>
                                      <p:tavLst>
                                        <p:tav tm="0">
                                          <p:val>
                                            <p:strVal val="#ppt_y+.06"/>
                                          </p:val>
                                        </p:tav>
                                        <p:tav tm="100000">
                                          <p:val>
                                            <p:strVal val="#ppt_y"/>
                                          </p:val>
                                        </p:tav>
                                      </p:tavLst>
                                    </p:anim>
                                    <p:animEffect transition="in" filter="fade">
                                      <p:cBhvr>
                                        <p:cTn id="18" dur="500"/>
                                        <p:tgtEl>
                                          <p:spTgt spid="9"/>
                                        </p:tgtEl>
                                      </p:cBhvr>
                                    </p:animEffect>
                                  </p:childTnLst>
                                </p:cTn>
                              </p:par>
                              <p:par>
                                <p:cTn id="19" presetID="10" presetClass="entr" presetSubtype="0" fill="hold" nodeType="withEffect">
                                  <p:stCondLst>
                                    <p:cond delay="105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par>
                                <p:cTn id="22" presetID="22" presetClass="entr" presetSubtype="8" fill="hold" nodeType="withEffect">
                                  <p:stCondLst>
                                    <p:cond delay="1150"/>
                                  </p:stCondLst>
                                  <p:childTnLst>
                                    <p:set>
                                      <p:cBhvr>
                                        <p:cTn id="23" dur="1" fill="hold">
                                          <p:stCondLst>
                                            <p:cond delay="0"/>
                                          </p:stCondLst>
                                        </p:cTn>
                                        <p:tgtEl>
                                          <p:spTgt spid="14"/>
                                        </p:tgtEl>
                                        <p:attrNameLst>
                                          <p:attrName>style.visibility</p:attrName>
                                        </p:attrNameLst>
                                      </p:cBhvr>
                                      <p:to>
                                        <p:strVal val="visible"/>
                                      </p:to>
                                    </p:set>
                                    <p:animEffect transition="in" filter="wipe(left)">
                                      <p:cBhvr>
                                        <p:cTn id="24" dur="500"/>
                                        <p:tgtEl>
                                          <p:spTgt spid="14"/>
                                        </p:tgtEl>
                                      </p:cBhvr>
                                    </p:animEffect>
                                  </p:childTnLst>
                                </p:cTn>
                              </p:par>
                              <p:par>
                                <p:cTn id="25" presetID="42" presetClass="entr" presetSubtype="0" fill="hold" nodeType="withEffect">
                                  <p:stCondLst>
                                    <p:cond delay="138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ppt_y</p:attrName>
                                        </p:attrNameLst>
                                      </p:cBhvr>
                                      <p:tavLst>
                                        <p:tav tm="0">
                                          <p:val>
                                            <p:strVal val="#ppt_y+.06"/>
                                          </p:val>
                                        </p:tav>
                                        <p:tav tm="100000">
                                          <p:val>
                                            <p:strVal val="#ppt_y"/>
                                          </p:val>
                                        </p:tav>
                                      </p:tavLst>
                                    </p:anim>
                                    <p:animEffect transition="in" filter="fade">
                                      <p:cBhvr>
                                        <p:cTn id="28" dur="500"/>
                                        <p:tgtEl>
                                          <p:spTgt spid="10"/>
                                        </p:tgtEl>
                                      </p:cBhvr>
                                    </p:animEffect>
                                  </p:childTnLst>
                                </p:cTn>
                              </p:par>
                              <p:par>
                                <p:cTn id="29" presetID="42" presetClass="entr" presetSubtype="0" fill="hold" nodeType="withEffect">
                                  <p:stCondLst>
                                    <p:cond delay="1450"/>
                                  </p:stCondLst>
                                  <p:childTnLst>
                                    <p:set>
                                      <p:cBhvr>
                                        <p:cTn id="30" dur="1" fill="hold">
                                          <p:stCondLst>
                                            <p:cond delay="0"/>
                                          </p:stCondLst>
                                        </p:cTn>
                                        <p:tgtEl>
                                          <p:spTgt spid="15"/>
                                        </p:tgtEl>
                                        <p:attrNameLst>
                                          <p:attrName>style.visibility</p:attrName>
                                        </p:attrNameLst>
                                      </p:cBhvr>
                                      <p:to>
                                        <p:strVal val="visible"/>
                                      </p:to>
                                    </p:set>
                                    <p:anim calcmode="lin" valueType="num">
                                      <p:cBhvr>
                                        <p:cTn id="31" dur="500" fill="hold"/>
                                        <p:tgtEl>
                                          <p:spTgt spid="15"/>
                                        </p:tgtEl>
                                        <p:attrNameLst>
                                          <p:attrName>ppt_y</p:attrName>
                                        </p:attrNameLst>
                                      </p:cBhvr>
                                      <p:tavLst>
                                        <p:tav tm="0">
                                          <p:val>
                                            <p:strVal val="#ppt_y+.06"/>
                                          </p:val>
                                        </p:tav>
                                        <p:tav tm="100000">
                                          <p:val>
                                            <p:strVal val="#ppt_y"/>
                                          </p:val>
                                        </p:tav>
                                      </p:tavLst>
                                    </p:anim>
                                    <p:animEffect transition="in" filter="fade">
                                      <p:cBhvr>
                                        <p:cTn id="32" dur="500"/>
                                        <p:tgtEl>
                                          <p:spTgt spid="15"/>
                                        </p:tgtEl>
                                      </p:cBhvr>
                                    </p:animEffect>
                                  </p:childTnLst>
                                </p:cTn>
                              </p:par>
                              <p:par>
                                <p:cTn id="33" presetID="10" presetClass="entr" presetSubtype="0" fill="hold" nodeType="withEffect">
                                  <p:stCondLst>
                                    <p:cond delay="150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22" presetClass="entr" presetSubtype="8" fill="hold" nodeType="withEffect">
                                  <p:stCondLst>
                                    <p:cond delay="1600"/>
                                  </p:stCondLst>
                                  <p:childTnLst>
                                    <p:set>
                                      <p:cBhvr>
                                        <p:cTn id="37" dur="1" fill="hold">
                                          <p:stCondLst>
                                            <p:cond delay="0"/>
                                          </p:stCondLst>
                                        </p:cTn>
                                        <p:tgtEl>
                                          <p:spTgt spid="20"/>
                                        </p:tgtEl>
                                        <p:attrNameLst>
                                          <p:attrName>style.visibility</p:attrName>
                                        </p:attrNameLst>
                                      </p:cBhvr>
                                      <p:to>
                                        <p:strVal val="visible"/>
                                      </p:to>
                                    </p:set>
                                    <p:animEffect transition="in" filter="wipe(left)">
                                      <p:cBhvr>
                                        <p:cTn id="38" dur="500"/>
                                        <p:tgtEl>
                                          <p:spTgt spid="20"/>
                                        </p:tgtEl>
                                      </p:cBhvr>
                                    </p:animEffect>
                                  </p:childTnLst>
                                </p:cTn>
                              </p:par>
                              <p:par>
                                <p:cTn id="39" presetID="42" presetClass="entr" presetSubtype="0" fill="hold" nodeType="withEffect">
                                  <p:stCondLst>
                                    <p:cond delay="1760"/>
                                  </p:stCondLst>
                                  <p:childTnLst>
                                    <p:set>
                                      <p:cBhvr>
                                        <p:cTn id="40" dur="1" fill="hold">
                                          <p:stCondLst>
                                            <p:cond delay="0"/>
                                          </p:stCondLst>
                                        </p:cTn>
                                        <p:tgtEl>
                                          <p:spTgt spid="11"/>
                                        </p:tgtEl>
                                        <p:attrNameLst>
                                          <p:attrName>style.visibility</p:attrName>
                                        </p:attrNameLst>
                                      </p:cBhvr>
                                      <p:to>
                                        <p:strVal val="visible"/>
                                      </p:to>
                                    </p:set>
                                    <p:anim calcmode="lin" valueType="num">
                                      <p:cBhvr>
                                        <p:cTn id="41" dur="500" fill="hold"/>
                                        <p:tgtEl>
                                          <p:spTgt spid="11"/>
                                        </p:tgtEl>
                                        <p:attrNameLst>
                                          <p:attrName>ppt_y</p:attrName>
                                        </p:attrNameLst>
                                      </p:cBhvr>
                                      <p:tavLst>
                                        <p:tav tm="0">
                                          <p:val>
                                            <p:strVal val="#ppt_y+.06"/>
                                          </p:val>
                                        </p:tav>
                                        <p:tav tm="100000">
                                          <p:val>
                                            <p:strVal val="#ppt_y"/>
                                          </p:val>
                                        </p:tav>
                                      </p:tavLst>
                                    </p:anim>
                                    <p:animEffect transition="in" filter="fade">
                                      <p:cBhvr>
                                        <p:cTn id="42" dur="500"/>
                                        <p:tgtEl>
                                          <p:spTgt spid="11"/>
                                        </p:tgtEl>
                                      </p:cBhvr>
                                    </p:animEffect>
                                  </p:childTnLst>
                                </p:cTn>
                              </p:par>
                              <p:par>
                                <p:cTn id="43" presetID="42" presetClass="entr" presetSubtype="0" fill="hold" nodeType="withEffect">
                                  <p:stCondLst>
                                    <p:cond delay="1830"/>
                                  </p:stCondLst>
                                  <p:childTnLst>
                                    <p:set>
                                      <p:cBhvr>
                                        <p:cTn id="44" dur="1" fill="hold">
                                          <p:stCondLst>
                                            <p:cond delay="0"/>
                                          </p:stCondLst>
                                        </p:cTn>
                                        <p:tgtEl>
                                          <p:spTgt spid="16"/>
                                        </p:tgtEl>
                                        <p:attrNameLst>
                                          <p:attrName>style.visibility</p:attrName>
                                        </p:attrNameLst>
                                      </p:cBhvr>
                                      <p:to>
                                        <p:strVal val="visible"/>
                                      </p:to>
                                    </p:set>
                                    <p:anim calcmode="lin" valueType="num">
                                      <p:cBhvr>
                                        <p:cTn id="45" dur="500" fill="hold"/>
                                        <p:tgtEl>
                                          <p:spTgt spid="16"/>
                                        </p:tgtEl>
                                        <p:attrNameLst>
                                          <p:attrName>ppt_y</p:attrName>
                                        </p:attrNameLst>
                                      </p:cBhvr>
                                      <p:tavLst>
                                        <p:tav tm="0">
                                          <p:val>
                                            <p:strVal val="#ppt_y+.06"/>
                                          </p:val>
                                        </p:tav>
                                        <p:tav tm="100000">
                                          <p:val>
                                            <p:strVal val="#ppt_y"/>
                                          </p:val>
                                        </p:tav>
                                      </p:tavLst>
                                    </p:anim>
                                    <p:animEffect transition="in" filter="fade">
                                      <p:cBhvr>
                                        <p:cTn id="46" dur="500"/>
                                        <p:tgtEl>
                                          <p:spTgt spid="16"/>
                                        </p:tgtEl>
                                      </p:cBhvr>
                                    </p:animEffect>
                                  </p:childTnLst>
                                </p:cTn>
                              </p:par>
                              <p:par>
                                <p:cTn id="47" presetID="42" presetClass="entr" presetSubtype="0" fill="hold" nodeType="withEffect">
                                  <p:stCondLst>
                                    <p:cond delay="1900"/>
                                  </p:stCondLst>
                                  <p:childTnLst>
                                    <p:set>
                                      <p:cBhvr>
                                        <p:cTn id="48" dur="1" fill="hold">
                                          <p:stCondLst>
                                            <p:cond delay="0"/>
                                          </p:stCondLst>
                                        </p:cTn>
                                        <p:tgtEl>
                                          <p:spTgt spid="21"/>
                                        </p:tgtEl>
                                        <p:attrNameLst>
                                          <p:attrName>style.visibility</p:attrName>
                                        </p:attrNameLst>
                                      </p:cBhvr>
                                      <p:to>
                                        <p:strVal val="visible"/>
                                      </p:to>
                                    </p:set>
                                    <p:anim calcmode="lin" valueType="num">
                                      <p:cBhvr>
                                        <p:cTn id="49" dur="500" fill="hold"/>
                                        <p:tgtEl>
                                          <p:spTgt spid="21"/>
                                        </p:tgtEl>
                                        <p:attrNameLst>
                                          <p:attrName>ppt_y</p:attrName>
                                        </p:attrNameLst>
                                      </p:cBhvr>
                                      <p:tavLst>
                                        <p:tav tm="0">
                                          <p:val>
                                            <p:strVal val="#ppt_y+.06"/>
                                          </p:val>
                                        </p:tav>
                                        <p:tav tm="100000">
                                          <p:val>
                                            <p:strVal val="#ppt_y"/>
                                          </p:val>
                                        </p:tav>
                                      </p:tavLst>
                                    </p:anim>
                                    <p:animEffect transition="in" filter="fade">
                                      <p:cBhvr>
                                        <p:cTn id="50" dur="500"/>
                                        <p:tgtEl>
                                          <p:spTgt spid="21"/>
                                        </p:tgtEl>
                                      </p:cBhvr>
                                    </p:animEffect>
                                  </p:childTnLst>
                                </p:cTn>
                              </p:par>
                              <p:par>
                                <p:cTn id="51" presetID="42" presetClass="entr" presetSubtype="0" fill="hold" nodeType="withEffect">
                                  <p:stCondLst>
                                    <p:cond delay="2140"/>
                                  </p:stCondLst>
                                  <p:childTnLst>
                                    <p:set>
                                      <p:cBhvr>
                                        <p:cTn id="52" dur="1" fill="hold">
                                          <p:stCondLst>
                                            <p:cond delay="0"/>
                                          </p:stCondLst>
                                        </p:cTn>
                                        <p:tgtEl>
                                          <p:spTgt spid="12"/>
                                        </p:tgtEl>
                                        <p:attrNameLst>
                                          <p:attrName>style.visibility</p:attrName>
                                        </p:attrNameLst>
                                      </p:cBhvr>
                                      <p:to>
                                        <p:strVal val="visible"/>
                                      </p:to>
                                    </p:set>
                                    <p:anim calcmode="lin" valueType="num">
                                      <p:cBhvr>
                                        <p:cTn id="53" dur="500" fill="hold"/>
                                        <p:tgtEl>
                                          <p:spTgt spid="12"/>
                                        </p:tgtEl>
                                        <p:attrNameLst>
                                          <p:attrName>ppt_y</p:attrName>
                                        </p:attrNameLst>
                                      </p:cBhvr>
                                      <p:tavLst>
                                        <p:tav tm="0">
                                          <p:val>
                                            <p:strVal val="#ppt_y+.06"/>
                                          </p:val>
                                        </p:tav>
                                        <p:tav tm="100000">
                                          <p:val>
                                            <p:strVal val="#ppt_y"/>
                                          </p:val>
                                        </p:tav>
                                      </p:tavLst>
                                    </p:anim>
                                    <p:animEffect transition="in" filter="fade">
                                      <p:cBhvr>
                                        <p:cTn id="54" dur="500"/>
                                        <p:tgtEl>
                                          <p:spTgt spid="12"/>
                                        </p:tgtEl>
                                      </p:cBhvr>
                                    </p:animEffect>
                                  </p:childTnLst>
                                </p:cTn>
                              </p:par>
                              <p:par>
                                <p:cTn id="55" presetID="42" presetClass="entr" presetSubtype="0" fill="hold" nodeType="withEffect">
                                  <p:stCondLst>
                                    <p:cond delay="2210"/>
                                  </p:stCondLst>
                                  <p:childTnLst>
                                    <p:set>
                                      <p:cBhvr>
                                        <p:cTn id="56" dur="1" fill="hold">
                                          <p:stCondLst>
                                            <p:cond delay="0"/>
                                          </p:stCondLst>
                                        </p:cTn>
                                        <p:tgtEl>
                                          <p:spTgt spid="17"/>
                                        </p:tgtEl>
                                        <p:attrNameLst>
                                          <p:attrName>style.visibility</p:attrName>
                                        </p:attrNameLst>
                                      </p:cBhvr>
                                      <p:to>
                                        <p:strVal val="visible"/>
                                      </p:to>
                                    </p:set>
                                    <p:anim calcmode="lin" valueType="num">
                                      <p:cBhvr>
                                        <p:cTn id="57" dur="500" fill="hold"/>
                                        <p:tgtEl>
                                          <p:spTgt spid="17"/>
                                        </p:tgtEl>
                                        <p:attrNameLst>
                                          <p:attrName>ppt_y</p:attrName>
                                        </p:attrNameLst>
                                      </p:cBhvr>
                                      <p:tavLst>
                                        <p:tav tm="0">
                                          <p:val>
                                            <p:strVal val="#ppt_y+.06"/>
                                          </p:val>
                                        </p:tav>
                                        <p:tav tm="100000">
                                          <p:val>
                                            <p:strVal val="#ppt_y"/>
                                          </p:val>
                                        </p:tav>
                                      </p:tavLst>
                                    </p:anim>
                                    <p:animEffect transition="in" filter="fade">
                                      <p:cBhvr>
                                        <p:cTn id="58" dur="500"/>
                                        <p:tgtEl>
                                          <p:spTgt spid="17"/>
                                        </p:tgtEl>
                                      </p:cBhvr>
                                    </p:animEffect>
                                  </p:childTnLst>
                                </p:cTn>
                              </p:par>
                              <p:par>
                                <p:cTn id="59" presetID="42" presetClass="entr" presetSubtype="0" fill="hold" nodeType="withEffect">
                                  <p:stCondLst>
                                    <p:cond delay="2280"/>
                                  </p:stCondLst>
                                  <p:childTnLst>
                                    <p:set>
                                      <p:cBhvr>
                                        <p:cTn id="60" dur="1" fill="hold">
                                          <p:stCondLst>
                                            <p:cond delay="0"/>
                                          </p:stCondLst>
                                        </p:cTn>
                                        <p:tgtEl>
                                          <p:spTgt spid="22"/>
                                        </p:tgtEl>
                                        <p:attrNameLst>
                                          <p:attrName>style.visibility</p:attrName>
                                        </p:attrNameLst>
                                      </p:cBhvr>
                                      <p:to>
                                        <p:strVal val="visible"/>
                                      </p:to>
                                    </p:set>
                                    <p:anim calcmode="lin" valueType="num">
                                      <p:cBhvr>
                                        <p:cTn id="61" dur="500" fill="hold"/>
                                        <p:tgtEl>
                                          <p:spTgt spid="22"/>
                                        </p:tgtEl>
                                        <p:attrNameLst>
                                          <p:attrName>ppt_y</p:attrName>
                                        </p:attrNameLst>
                                      </p:cBhvr>
                                      <p:tavLst>
                                        <p:tav tm="0">
                                          <p:val>
                                            <p:strVal val="#ppt_y+.06"/>
                                          </p:val>
                                        </p:tav>
                                        <p:tav tm="100000">
                                          <p:val>
                                            <p:strVal val="#ppt_y"/>
                                          </p:val>
                                        </p:tav>
                                      </p:tavLst>
                                    </p:anim>
                                    <p:animEffect transition="in" filter="fade">
                                      <p:cBhvr>
                                        <p:cTn id="62" dur="500"/>
                                        <p:tgtEl>
                                          <p:spTgt spid="22"/>
                                        </p:tgtEl>
                                      </p:cBhvr>
                                    </p:animEffect>
                                  </p:childTnLst>
                                </p:cTn>
                              </p:par>
                              <p:par>
                                <p:cTn id="63" presetID="42" presetClass="entr" presetSubtype="0" fill="hold" nodeType="withEffect">
                                  <p:stCondLst>
                                    <p:cond delay="2590"/>
                                  </p:stCondLst>
                                  <p:childTnLst>
                                    <p:set>
                                      <p:cBhvr>
                                        <p:cTn id="64" dur="1" fill="hold">
                                          <p:stCondLst>
                                            <p:cond delay="0"/>
                                          </p:stCondLst>
                                        </p:cTn>
                                        <p:tgtEl>
                                          <p:spTgt spid="18"/>
                                        </p:tgtEl>
                                        <p:attrNameLst>
                                          <p:attrName>style.visibility</p:attrName>
                                        </p:attrNameLst>
                                      </p:cBhvr>
                                      <p:to>
                                        <p:strVal val="visible"/>
                                      </p:to>
                                    </p:set>
                                    <p:anim calcmode="lin" valueType="num">
                                      <p:cBhvr>
                                        <p:cTn id="65" dur="500" fill="hold"/>
                                        <p:tgtEl>
                                          <p:spTgt spid="18"/>
                                        </p:tgtEl>
                                        <p:attrNameLst>
                                          <p:attrName>ppt_y</p:attrName>
                                        </p:attrNameLst>
                                      </p:cBhvr>
                                      <p:tavLst>
                                        <p:tav tm="0">
                                          <p:val>
                                            <p:strVal val="#ppt_y+.06"/>
                                          </p:val>
                                        </p:tav>
                                        <p:tav tm="100000">
                                          <p:val>
                                            <p:strVal val="#ppt_y"/>
                                          </p:val>
                                        </p:tav>
                                      </p:tavLst>
                                    </p:anim>
                                    <p:animEffect transition="in" filter="fade">
                                      <p:cBhvr>
                                        <p:cTn id="66" dur="500"/>
                                        <p:tgtEl>
                                          <p:spTgt spid="18"/>
                                        </p:tgtEl>
                                      </p:cBhvr>
                                    </p:animEffect>
                                  </p:childTnLst>
                                </p:cTn>
                              </p:par>
                              <p:par>
                                <p:cTn id="67" presetID="42" presetClass="entr" presetSubtype="0" fill="hold" nodeType="withEffect">
                                  <p:stCondLst>
                                    <p:cond delay="2660"/>
                                  </p:stCondLst>
                                  <p:childTnLst>
                                    <p:set>
                                      <p:cBhvr>
                                        <p:cTn id="68" dur="1" fill="hold">
                                          <p:stCondLst>
                                            <p:cond delay="0"/>
                                          </p:stCondLst>
                                        </p:cTn>
                                        <p:tgtEl>
                                          <p:spTgt spid="23"/>
                                        </p:tgtEl>
                                        <p:attrNameLst>
                                          <p:attrName>style.visibility</p:attrName>
                                        </p:attrNameLst>
                                      </p:cBhvr>
                                      <p:to>
                                        <p:strVal val="visible"/>
                                      </p:to>
                                    </p:set>
                                    <p:anim calcmode="lin" valueType="num">
                                      <p:cBhvr>
                                        <p:cTn id="69" dur="500" fill="hold"/>
                                        <p:tgtEl>
                                          <p:spTgt spid="23"/>
                                        </p:tgtEl>
                                        <p:attrNameLst>
                                          <p:attrName>ppt_y</p:attrName>
                                        </p:attrNameLst>
                                      </p:cBhvr>
                                      <p:tavLst>
                                        <p:tav tm="0">
                                          <p:val>
                                            <p:strVal val="#ppt_y+.06"/>
                                          </p:val>
                                        </p:tav>
                                        <p:tav tm="100000">
                                          <p:val>
                                            <p:strVal val="#ppt_y"/>
                                          </p:val>
                                        </p:tav>
                                      </p:tavLst>
                                    </p:anim>
                                    <p:animEffect transition="in" filter="fade">
                                      <p:cBhvr>
                                        <p:cTn id="70" dur="500"/>
                                        <p:tgtEl>
                                          <p:spTgt spid="23"/>
                                        </p:tgtEl>
                                      </p:cBhvr>
                                    </p:animEffect>
                                  </p:childTnLst>
                                </p:cTn>
                              </p:par>
                              <p:par>
                                <p:cTn id="71" presetID="42" presetClass="entr" presetSubtype="0" fill="hold" nodeType="withEffect">
                                  <p:stCondLst>
                                    <p:cond delay="3040"/>
                                  </p:stCondLst>
                                  <p:childTnLst>
                                    <p:set>
                                      <p:cBhvr>
                                        <p:cTn id="72" dur="1" fill="hold">
                                          <p:stCondLst>
                                            <p:cond delay="0"/>
                                          </p:stCondLst>
                                        </p:cTn>
                                        <p:tgtEl>
                                          <p:spTgt spid="24"/>
                                        </p:tgtEl>
                                        <p:attrNameLst>
                                          <p:attrName>style.visibility</p:attrName>
                                        </p:attrNameLst>
                                      </p:cBhvr>
                                      <p:to>
                                        <p:strVal val="visible"/>
                                      </p:to>
                                    </p:set>
                                    <p:anim calcmode="lin" valueType="num">
                                      <p:cBhvr>
                                        <p:cTn id="73" dur="500" fill="hold"/>
                                        <p:tgtEl>
                                          <p:spTgt spid="24"/>
                                        </p:tgtEl>
                                        <p:attrNameLst>
                                          <p:attrName>ppt_y</p:attrName>
                                        </p:attrNameLst>
                                      </p:cBhvr>
                                      <p:tavLst>
                                        <p:tav tm="0">
                                          <p:val>
                                            <p:strVal val="#ppt_y+.06"/>
                                          </p:val>
                                        </p:tav>
                                        <p:tav tm="100000">
                                          <p:val>
                                            <p:strVal val="#ppt_y"/>
                                          </p:val>
                                        </p:tav>
                                      </p:tavLst>
                                    </p:anim>
                                    <p:animEffect transition="in" filter="fade">
                                      <p:cBhvr>
                                        <p:cTn id="74" dur="500"/>
                                        <p:tgtEl>
                                          <p:spTgt spid="24"/>
                                        </p:tgtEl>
                                      </p:cBhvr>
                                    </p:animEffect>
                                  </p:childTnLst>
                                </p:cTn>
                              </p:par>
                              <p:par>
                                <p:cTn id="75" presetID="22" presetClass="entr" presetSubtype="8" fill="hold" nodeType="withEffect">
                                  <p:stCondLst>
                                    <p:cond delay="4600"/>
                                  </p:stCondLst>
                                  <p:childTnLst>
                                    <p:set>
                                      <p:cBhvr>
                                        <p:cTn id="76" dur="1" fill="hold">
                                          <p:stCondLst>
                                            <p:cond delay="0"/>
                                          </p:stCondLst>
                                        </p:cTn>
                                        <p:tgtEl>
                                          <p:spTgt spid="25"/>
                                        </p:tgtEl>
                                        <p:attrNameLst>
                                          <p:attrName>style.visibility</p:attrName>
                                        </p:attrNameLst>
                                      </p:cBhvr>
                                      <p:to>
                                        <p:strVal val="visible"/>
                                      </p:to>
                                    </p:set>
                                    <p:animEffect transition="in" filter="wipe(left)">
                                      <p:cBhvr>
                                        <p:cTn id="77" dur="800"/>
                                        <p:tgtEl>
                                          <p:spTgt spid="25"/>
                                        </p:tgtEl>
                                      </p:cBhvr>
                                    </p:animEffect>
                                  </p:childTnLst>
                                </p:cTn>
                              </p:par>
                              <p:par>
                                <p:cTn id="78" presetID="10" presetClass="entr" presetSubtype="0" fill="hold" nodeType="withEffect">
                                  <p:stCondLst>
                                    <p:cond delay="540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500"/>
                                        <p:tgtEl>
                                          <p:spTgt spid="26"/>
                                        </p:tgtEl>
                                      </p:cBhvr>
                                    </p:animEffect>
                                  </p:childTnLst>
                                </p:cTn>
                              </p:par>
                              <p:par>
                                <p:cTn id="81" presetID="26" presetClass="emph" presetSubtype="0" fill="hold" nodeType="withEffect">
                                  <p:stCondLst>
                                    <p:cond delay="5600"/>
                                  </p:stCondLst>
                                  <p:childTnLst>
                                    <p:animScale>
                                      <p:cBhvr>
                                        <p:cTn id="82" dur="450" autoRev="1" fill="hold"/>
                                        <p:tgtEl>
                                          <p:spTgt spid="25"/>
                                        </p:tgtEl>
                                      </p:cBhvr>
                                      <p:by x="106000" y="106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Galti Pakar: AICON'26 Build With AI</dc:title>
  <dc:subject>PptxGenJS Presentation</dc:subject>
  <dc:creator>Galti Pakar</dc:creator>
  <cp:lastModifiedBy>Galti Pakar</cp:lastModifiedBy>
  <cp:revision>1</cp:revision>
  <dcterms:created xsi:type="dcterms:W3CDTF">2026-10-10T17:44:09Z</dcterms:created>
  <dcterms:modified xsi:type="dcterms:W3CDTF">2026-10-10T17:44:09Z</dcterms:modified>
</cp:coreProperties>
</file>